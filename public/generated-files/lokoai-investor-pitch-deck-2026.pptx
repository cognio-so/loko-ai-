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LokoAI as a focused infrastructure and workflow company, not another generic chatbot. The headline is that AI spend and adoption are now massive, but enterprises and creators still need a trusted way to turn prompts into production-grade software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establish the overall investment logic. The market has scale, the pain is acute, and recent competitor growth validates demand. LokoAI's wedge is reliability and production readiness for teams that need more than 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not that AI cannot generate. The problem is that AI generation is often unaccountable. Position LokoAI as solving the gap between first draft and production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investors through the hierarchy. Infrastructure is huge, but application-layer software is where workflows and margins sit. LokoAI starts in the app-development wedge and expands into the broader AI software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why a trust-centered platform can win. The market is past awareness but not yet past operational maturity. LokoAI should sell outcomes around governance, memory, repeatability, and measurable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claim competitors are weak. The category is clearly validated. LokoAI should compete where first-draft tools hit limits: traceability, evaluation, memory, secure deployment, and business-ready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product in terms of a customer journey. LokoAI is not just a chat interface; it is a workspace where ideas become executable, inspectable, shareable, and improvable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Investors will want to know whether LokoAI is model-dependent. This architecture keeps the company model-flexible while building defensibility in orchestration, memory, context, workflows, and customer-specific usage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simple: three tiers, each with a clear buyer and expansion path. The early wedge is self-serve adoption; the long-term revenue pool is teams and enterprise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mix should be presented as the target revenue composition by year three. It balances simplicity with upside: subscription for predictability, credits for heavy users, enterprise add-ons for larger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is intentionally familiar to buyers in the category, while creating enterprise upside. Emphasize that usage limits protect margin while the product still feels accessible to creators.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personas show that LokoAI has a broad market but can still focus. Start with founders and agencies because they buy quickly, then use proof points to move upmarket.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Investors will care whether acquisition is efficient. Anchor the GTM in product-led community and templates, then show how the product naturally creates team and enterprise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funnel to describe operating discipline. LokoAI should manage activation and retention as core growth metrics, because builders only pay when generation turns into useful shipped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that these are planning assumptions, not historicals. The model is intentionally realistic for a seed-stage company: strong ARR growth, improving margins, and delayed profitability as product and GTM investment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investor diligence slide for margins. The key point is that AI infrastructure costs are real, so LokoAI must use model routing, usage metering, templates, and team expansion to keep healthy software economics.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balanced here. A credible SWOT acknowledges that the category is competitive and fast-moving. The plan is to win by narrowing the launch wedge and building trust as the core product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risks as managed priorities, not surprises. Reliability, security, and cost control should be framed as product requirements that become competitive advantages when executed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roadmap shows a credible sequencing from near-term self-serve polish to team and enterprise capabilities. It also tells investors how the requested funding turns into product milestones.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team slide practical. Investors want to see that funding will not be spread thinly. The first hires should map directly to product velocity, trust, and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ask slide. The numbers are designed to support a 24-month runway and show what milestones investors should expect before the next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disciplined allocation. The largest spend goes to product and engineering because reliability is the moat; GTM spend supports community and design partners without overbuilding sales too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ambition. LokoAI can become more than a builder if it owns the workflow layer, the governance graph, and the marketplace around AI-generated digital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confidence and restraint. The final message is that LokoAI sits at the convergence of massive AI budgets, validated app-builder demand, and a still-unsolved trust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appendix if asked about data. Make clear which numbers are sourced and which are management planning assumptions. The financial model is directional and should be updated with actual LokoAI operating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www.gartner.com/en/newsroom/press-releases/2026-05-19-gartner-forecasts-worldwide-ai-spending-to-grow-47-percent-in-2026" TargetMode="External"/><Relationship Id="rId2" Type="http://schemas.openxmlformats.org/officeDocument/2006/relationships/hyperlink" Target="https://www.gartner.com/en/newsroom/press-releases/2025-03-31-gartner-forecasts-worldwide-genai-spending-to-reach-644-billion-in-2025" TargetMode="External"/><Relationship Id="rId3" Type="http://schemas.openxmlformats.org/officeDocument/2006/relationships/hyperlink" Target="https://www.mckinsey.com/capabilities/quantumblack/our-insights/the-state-of-ai" TargetMode="External"/><Relationship Id="rId4" Type="http://schemas.openxmlformats.org/officeDocument/2006/relationships/hyperlink" Target="https://survey.stackoverflow.co/2025/ai" TargetMode="External"/><Relationship Id="rId5" Type="http://schemas.openxmlformats.org/officeDocument/2006/relationships/hyperlink" Target="https://techcrunch.com/2025/12/18/vibe-coding-startup-lovable-raises-330m-at-a-6-6b-valuation/" TargetMode="External"/><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solidFill>
            <a:prstDash val="solid"/>
          </a:ln>
        </p:spPr>
      </p:sp>
      <p:sp>
        <p:nvSpPr>
          <p:cNvPr id="3" name="Shape 1"/>
          <p:cNvSpPr/>
          <p:nvPr/>
        </p:nvSpPr>
        <p:spPr>
          <a:xfrm>
            <a:off x="0" y="0"/>
            <a:ext cx="4206240" cy="6858000"/>
          </a:xfrm>
          <a:prstGeom prst="rect">
            <a:avLst/>
          </a:prstGeom>
          <a:solidFill>
            <a:srgbClr val="101B31"/>
          </a:solidFill>
          <a:ln w="12700">
            <a:solidFill>
              <a:srgbClr val="101B31"/>
            </a:solidFill>
            <a:prstDash val="solid"/>
          </a:ln>
        </p:spPr>
      </p:sp>
      <p:sp>
        <p:nvSpPr>
          <p:cNvPr id="4" name="Shape 2"/>
          <p:cNvSpPr/>
          <p:nvPr/>
        </p:nvSpPr>
        <p:spPr>
          <a:xfrm>
            <a:off x="7132320" y="-914400"/>
            <a:ext cx="5303520" cy="5303520"/>
          </a:xfrm>
          <a:prstGeom prst="arc">
            <a:avLst/>
          </a:prstGeom>
          <a:noFill/>
          <a:ln w="25400">
            <a:solidFill>
              <a:srgbClr val="1E5BFF">
                <a:alpha val="85000"/>
              </a:srgbClr>
            </a:solidFill>
            <a:prstDash val="solid"/>
          </a:ln>
        </p:spPr>
      </p:sp>
      <p:sp>
        <p:nvSpPr>
          <p:cNvPr id="5" name="Shape 3"/>
          <p:cNvSpPr/>
          <p:nvPr/>
        </p:nvSpPr>
        <p:spPr>
          <a:xfrm>
            <a:off x="7818120" y="-228600"/>
            <a:ext cx="3931920" cy="3931920"/>
          </a:xfrm>
          <a:prstGeom prst="arc">
            <a:avLst/>
          </a:prstGeom>
          <a:noFill/>
          <a:ln w="17780">
            <a:solidFill>
              <a:srgbClr val="16B8C7">
                <a:alpha val="80000"/>
              </a:srgbClr>
            </a:solidFill>
            <a:prstDash val="solid"/>
          </a:ln>
        </p:spPr>
      </p:sp>
      <p:sp>
        <p:nvSpPr>
          <p:cNvPr id="6" name="Shape 4"/>
          <p:cNvSpPr/>
          <p:nvPr/>
        </p:nvSpPr>
        <p:spPr>
          <a:xfrm>
            <a:off x="475488" y="347472"/>
            <a:ext cx="201168" cy="201168"/>
          </a:xfrm>
          <a:prstGeom prst="rect">
            <a:avLst/>
          </a:prstGeom>
          <a:solidFill>
            <a:srgbClr val="1E5BFF"/>
          </a:solidFill>
          <a:ln w="12700">
            <a:solidFill>
              <a:srgbClr val="1E5BFF"/>
            </a:solidFill>
            <a:prstDash val="solid"/>
          </a:ln>
        </p:spPr>
      </p:sp>
      <p:sp>
        <p:nvSpPr>
          <p:cNvPr id="7" name="Shape 5"/>
          <p:cNvSpPr/>
          <p:nvPr/>
        </p:nvSpPr>
        <p:spPr>
          <a:xfrm>
            <a:off x="713232" y="347472"/>
            <a:ext cx="201168" cy="201168"/>
          </a:xfrm>
          <a:prstGeom prst="rect">
            <a:avLst/>
          </a:prstGeom>
          <a:solidFill>
            <a:srgbClr val="16B8C7"/>
          </a:solidFill>
          <a:ln w="12700">
            <a:solidFill>
              <a:srgbClr val="16B8C7"/>
            </a:solidFill>
            <a:prstDash val="solid"/>
          </a:ln>
        </p:spPr>
      </p:sp>
      <p:sp>
        <p:nvSpPr>
          <p:cNvPr id="8" name="Text 6"/>
          <p:cNvSpPr/>
          <p:nvPr/>
        </p:nvSpPr>
        <p:spPr>
          <a:xfrm>
            <a:off x="987552" y="310896"/>
            <a:ext cx="1097280" cy="228600"/>
          </a:xfrm>
          <a:prstGeom prst="rect">
            <a:avLst/>
          </a:prstGeom>
          <a:noFill/>
          <a:ln/>
        </p:spPr>
        <p:txBody>
          <a:bodyPr wrap="square" lIns="0" tIns="0" rIns="0" bIns="0" rtlCol="0" anchor="ctr"/>
          <a:lstStyle/>
          <a:p>
            <a:pPr indent="0" marL="0">
              <a:buNone/>
            </a:pPr>
            <a:r>
              <a:rPr lang="en-US" sz="1000" b="1" dirty="0">
                <a:solidFill>
                  <a:srgbClr val="FFFFFF"/>
                </a:solidFill>
              </a:rPr>
              <a:t>LokoAI</a:t>
            </a:r>
            <a:endParaRPr lang="en-US" sz="1000" dirty="0"/>
          </a:p>
        </p:txBody>
      </p:sp>
      <p:sp>
        <p:nvSpPr>
          <p:cNvPr id="9" name="Text 7"/>
          <p:cNvSpPr/>
          <p:nvPr/>
        </p:nvSpPr>
        <p:spPr>
          <a:xfrm>
            <a:off x="658368" y="1261872"/>
            <a:ext cx="2743200" cy="201168"/>
          </a:xfrm>
          <a:prstGeom prst="rect">
            <a:avLst/>
          </a:prstGeom>
          <a:noFill/>
          <a:ln/>
        </p:spPr>
        <p:txBody>
          <a:bodyPr wrap="square" lIns="0" tIns="0" rIns="0" bIns="0" rtlCol="0" anchor="ctr"/>
          <a:lstStyle/>
          <a:p>
            <a:pPr indent="0" marL="0">
              <a:buNone/>
            </a:pPr>
            <a:r>
              <a:rPr lang="en-US" sz="900" b="1" dirty="0">
                <a:solidFill>
                  <a:srgbClr val="8EA3C7"/>
                </a:solidFill>
              </a:rPr>
              <a:t>Investor Pitch Deck</a:t>
            </a:r>
            <a:endParaRPr lang="en-US" sz="900" dirty="0"/>
          </a:p>
        </p:txBody>
      </p:sp>
      <p:sp>
        <p:nvSpPr>
          <p:cNvPr id="10" name="Text 8"/>
          <p:cNvSpPr/>
          <p:nvPr/>
        </p:nvSpPr>
        <p:spPr>
          <a:xfrm>
            <a:off x="658368" y="1737360"/>
            <a:ext cx="4937760" cy="749808"/>
          </a:xfrm>
          <a:prstGeom prst="rect">
            <a:avLst/>
          </a:prstGeom>
          <a:noFill/>
          <a:ln/>
        </p:spPr>
        <p:txBody>
          <a:bodyPr wrap="square" lIns="0" tIns="0" rIns="0" bIns="0" rtlCol="0" anchor="ctr"/>
          <a:lstStyle/>
          <a:p>
            <a:pPr indent="0" marL="0">
              <a:buNone/>
            </a:pPr>
            <a:r>
              <a:rPr lang="en-US" sz="4200" b="1" dirty="0">
                <a:solidFill>
                  <a:srgbClr val="FFFFFF"/>
                </a:solidFill>
              </a:rPr>
              <a:t>LokoAI</a:t>
            </a:r>
            <a:endParaRPr lang="en-US" sz="4200" dirty="0"/>
          </a:p>
        </p:txBody>
      </p:sp>
      <p:sp>
        <p:nvSpPr>
          <p:cNvPr id="11" name="Text 9"/>
          <p:cNvSpPr/>
          <p:nvPr/>
        </p:nvSpPr>
        <p:spPr>
          <a:xfrm>
            <a:off x="713232" y="2697480"/>
            <a:ext cx="5852160" cy="621792"/>
          </a:xfrm>
          <a:prstGeom prst="rect">
            <a:avLst/>
          </a:prstGeom>
          <a:noFill/>
          <a:ln/>
        </p:spPr>
        <p:txBody>
          <a:bodyPr wrap="square" lIns="0" tIns="0" rIns="0" bIns="0" rtlCol="0" anchor="ctr">
            <a:normAutofit/>
          </a:bodyPr>
          <a:lstStyle/>
          <a:p>
            <a:pPr indent="0" marL="0">
              <a:buNone/>
            </a:pPr>
            <a:r>
              <a:rPr lang="en-US" sz="1700" dirty="0">
                <a:solidFill>
                  <a:srgbClr val="C9D5EA"/>
                </a:solidFill>
              </a:rPr>
              <a:t>AI operating system for building, shipping, and governing software from natural language.</a:t>
            </a:r>
            <a:endParaRPr lang="en-US" sz="1700" dirty="0"/>
          </a:p>
        </p:txBody>
      </p:sp>
      <p:sp>
        <p:nvSpPr>
          <p:cNvPr id="12" name="Shape 10"/>
          <p:cNvSpPr/>
          <p:nvPr/>
        </p:nvSpPr>
        <p:spPr>
          <a:xfrm>
            <a:off x="713232" y="4114800"/>
            <a:ext cx="2103120" cy="1115568"/>
          </a:xfrm>
          <a:prstGeom prst="rect">
            <a:avLst/>
          </a:prstGeom>
          <a:solidFill>
            <a:srgbClr val="FFFFFF"/>
          </a:solidFill>
          <a:ln w="12700">
            <a:solidFill>
              <a:srgbClr val="D7DEE8">
                <a:alpha val="80000"/>
              </a:srgbClr>
            </a:solidFill>
            <a:prstDash val="solid"/>
          </a:ln>
        </p:spPr>
      </p:sp>
      <p:sp>
        <p:nvSpPr>
          <p:cNvPr id="13" name="Text 11"/>
          <p:cNvSpPr/>
          <p:nvPr/>
        </p:nvSpPr>
        <p:spPr>
          <a:xfrm>
            <a:off x="914400" y="4315968"/>
            <a:ext cx="1700784" cy="475488"/>
          </a:xfrm>
          <a:prstGeom prst="rect">
            <a:avLst/>
          </a:prstGeom>
          <a:noFill/>
          <a:ln/>
        </p:spPr>
        <p:txBody>
          <a:bodyPr wrap="square" lIns="0" tIns="0" rIns="0" bIns="0" rtlCol="0" anchor="ctr">
            <a:normAutofit/>
          </a:bodyPr>
          <a:lstStyle/>
          <a:p>
            <a:pPr indent="0" marL="0">
              <a:buNone/>
            </a:pPr>
            <a:r>
              <a:rPr lang="en-US" sz="2600" b="1" dirty="0">
                <a:solidFill>
                  <a:srgbClr val="16B8C7"/>
                </a:solidFill>
              </a:rPr>
              <a:t>$2.59T</a:t>
            </a:r>
            <a:endParaRPr lang="en-US" sz="2600" dirty="0"/>
          </a:p>
        </p:txBody>
      </p:sp>
      <p:sp>
        <p:nvSpPr>
          <p:cNvPr id="14" name="Text 12"/>
          <p:cNvSpPr/>
          <p:nvPr/>
        </p:nvSpPr>
        <p:spPr>
          <a:xfrm>
            <a:off x="914400" y="4937760"/>
            <a:ext cx="1700784" cy="201168"/>
          </a:xfrm>
          <a:prstGeom prst="rect">
            <a:avLst/>
          </a:prstGeom>
          <a:noFill/>
          <a:ln/>
        </p:spPr>
        <p:txBody>
          <a:bodyPr wrap="square" lIns="0" tIns="0" rIns="0" bIns="0" rtlCol="0" anchor="ctr">
            <a:normAutofit/>
          </a:bodyPr>
          <a:lstStyle/>
          <a:p>
            <a:pPr indent="0" marL="0">
              <a:buNone/>
            </a:pPr>
            <a:r>
              <a:rPr lang="en-US" sz="1050" dirty="0">
                <a:solidFill>
                  <a:srgbClr val="4B5563"/>
                </a:solidFill>
              </a:rPr>
              <a:t>Gartner forecast for worldwide AI spending in 2026</a:t>
            </a:r>
            <a:endParaRPr lang="en-US" sz="1050" dirty="0"/>
          </a:p>
        </p:txBody>
      </p:sp>
      <p:sp>
        <p:nvSpPr>
          <p:cNvPr id="15" name="Shape 13"/>
          <p:cNvSpPr/>
          <p:nvPr/>
        </p:nvSpPr>
        <p:spPr>
          <a:xfrm>
            <a:off x="3035808" y="4114800"/>
            <a:ext cx="2103120" cy="1115568"/>
          </a:xfrm>
          <a:prstGeom prst="rect">
            <a:avLst/>
          </a:prstGeom>
          <a:solidFill>
            <a:srgbClr val="FFFFFF"/>
          </a:solidFill>
          <a:ln w="12700">
            <a:solidFill>
              <a:srgbClr val="D7DEE8">
                <a:alpha val="80000"/>
              </a:srgbClr>
            </a:solidFill>
            <a:prstDash val="solid"/>
          </a:ln>
        </p:spPr>
      </p:sp>
      <p:sp>
        <p:nvSpPr>
          <p:cNvPr id="16" name="Text 14"/>
          <p:cNvSpPr/>
          <p:nvPr/>
        </p:nvSpPr>
        <p:spPr>
          <a:xfrm>
            <a:off x="3236976" y="4315968"/>
            <a:ext cx="1700784" cy="475488"/>
          </a:xfrm>
          <a:prstGeom prst="rect">
            <a:avLst/>
          </a:prstGeom>
          <a:noFill/>
          <a:ln/>
        </p:spPr>
        <p:txBody>
          <a:bodyPr wrap="square" lIns="0" tIns="0" rIns="0" bIns="0" rtlCol="0" anchor="ctr">
            <a:normAutofit/>
          </a:bodyPr>
          <a:lstStyle/>
          <a:p>
            <a:pPr indent="0" marL="0">
              <a:buNone/>
            </a:pPr>
            <a:r>
              <a:rPr lang="en-US" sz="2600" b="1" dirty="0">
                <a:solidFill>
                  <a:srgbClr val="10A37F"/>
                </a:solidFill>
              </a:rPr>
              <a:t>88%</a:t>
            </a:r>
            <a:endParaRPr lang="en-US" sz="2600" dirty="0"/>
          </a:p>
        </p:txBody>
      </p:sp>
      <p:sp>
        <p:nvSpPr>
          <p:cNvPr id="17" name="Text 15"/>
          <p:cNvSpPr/>
          <p:nvPr/>
        </p:nvSpPr>
        <p:spPr>
          <a:xfrm>
            <a:off x="3236976" y="4937760"/>
            <a:ext cx="1700784" cy="201168"/>
          </a:xfrm>
          <a:prstGeom prst="rect">
            <a:avLst/>
          </a:prstGeom>
          <a:noFill/>
          <a:ln/>
        </p:spPr>
        <p:txBody>
          <a:bodyPr wrap="square" lIns="0" tIns="0" rIns="0" bIns="0" rtlCol="0" anchor="ctr">
            <a:normAutofit/>
          </a:bodyPr>
          <a:lstStyle/>
          <a:p>
            <a:pPr indent="0" marL="0">
              <a:buNone/>
            </a:pPr>
            <a:r>
              <a:rPr lang="en-US" sz="1050" dirty="0">
                <a:solidFill>
                  <a:srgbClr val="4B5563"/>
                </a:solidFill>
              </a:rPr>
              <a:t>Organizations using AI in at least one business function</a:t>
            </a:r>
            <a:endParaRPr lang="en-US" sz="1050" dirty="0"/>
          </a:p>
        </p:txBody>
      </p:sp>
      <p:sp>
        <p:nvSpPr>
          <p:cNvPr id="18" name="Shape 16"/>
          <p:cNvSpPr/>
          <p:nvPr/>
        </p:nvSpPr>
        <p:spPr>
          <a:xfrm>
            <a:off x="5358384" y="4114800"/>
            <a:ext cx="2103120" cy="1115568"/>
          </a:xfrm>
          <a:prstGeom prst="rect">
            <a:avLst/>
          </a:prstGeom>
          <a:solidFill>
            <a:srgbClr val="FFFFFF"/>
          </a:solidFill>
          <a:ln w="12700">
            <a:solidFill>
              <a:srgbClr val="D7DEE8">
                <a:alpha val="80000"/>
              </a:srgbClr>
            </a:solidFill>
            <a:prstDash val="solid"/>
          </a:ln>
        </p:spPr>
      </p:sp>
      <p:sp>
        <p:nvSpPr>
          <p:cNvPr id="19" name="Text 17"/>
          <p:cNvSpPr/>
          <p:nvPr/>
        </p:nvSpPr>
        <p:spPr>
          <a:xfrm>
            <a:off x="5559552" y="4315968"/>
            <a:ext cx="1700784" cy="475488"/>
          </a:xfrm>
          <a:prstGeom prst="rect">
            <a:avLst/>
          </a:prstGeom>
          <a:noFill/>
          <a:ln/>
        </p:spPr>
        <p:txBody>
          <a:bodyPr wrap="square" lIns="0" tIns="0" rIns="0" bIns="0" rtlCol="0" anchor="ctr">
            <a:normAutofit/>
          </a:bodyPr>
          <a:lstStyle/>
          <a:p>
            <a:pPr indent="0" marL="0">
              <a:buNone/>
            </a:pPr>
            <a:r>
              <a:rPr lang="en-US" sz="2600" b="1" dirty="0">
                <a:solidFill>
                  <a:srgbClr val="F59E0B"/>
                </a:solidFill>
              </a:rPr>
              <a:t>84%</a:t>
            </a:r>
            <a:endParaRPr lang="en-US" sz="2600" dirty="0"/>
          </a:p>
        </p:txBody>
      </p:sp>
      <p:sp>
        <p:nvSpPr>
          <p:cNvPr id="20" name="Text 18"/>
          <p:cNvSpPr/>
          <p:nvPr/>
        </p:nvSpPr>
        <p:spPr>
          <a:xfrm>
            <a:off x="5559552" y="4937760"/>
            <a:ext cx="1700784" cy="201168"/>
          </a:xfrm>
          <a:prstGeom prst="rect">
            <a:avLst/>
          </a:prstGeom>
          <a:noFill/>
          <a:ln/>
        </p:spPr>
        <p:txBody>
          <a:bodyPr wrap="square" lIns="0" tIns="0" rIns="0" bIns="0" rtlCol="0" anchor="ctr">
            <a:normAutofit/>
          </a:bodyPr>
          <a:lstStyle/>
          <a:p>
            <a:pPr indent="0" marL="0">
              <a:buNone/>
            </a:pPr>
            <a:r>
              <a:rPr lang="en-US" sz="1050" dirty="0">
                <a:solidFill>
                  <a:srgbClr val="4B5563"/>
                </a:solidFill>
              </a:rPr>
              <a:t>Developers using or planning to use AI tools</a:t>
            </a:r>
            <a:endParaRPr lang="en-US" sz="1050" dirty="0"/>
          </a:p>
        </p:txBody>
      </p:sp>
      <p:sp>
        <p:nvSpPr>
          <p:cNvPr id="21" name="Text 19"/>
          <p:cNvSpPr/>
          <p:nvPr/>
        </p:nvSpPr>
        <p:spPr>
          <a:xfrm>
            <a:off x="713232" y="6199632"/>
            <a:ext cx="2926080" cy="201168"/>
          </a:xfrm>
          <a:prstGeom prst="rect">
            <a:avLst/>
          </a:prstGeom>
          <a:noFill/>
          <a:ln/>
        </p:spPr>
        <p:txBody>
          <a:bodyPr wrap="square" lIns="0" tIns="0" rIns="0" bIns="0" rtlCol="0" anchor="ctr"/>
          <a:lstStyle/>
          <a:p>
            <a:pPr indent="0" marL="0">
              <a:buNone/>
            </a:pPr>
            <a:r>
              <a:rPr lang="en-US" sz="900" dirty="0">
                <a:solidFill>
                  <a:srgbClr val="90A0BD"/>
                </a:solidFill>
              </a:rPr>
              <a:t>June 2026 | Confidential</a:t>
            </a:r>
            <a:endParaRPr lang="en-US" sz="900" dirty="0"/>
          </a:p>
        </p:txBody>
      </p:sp>
      <p:sp>
        <p:nvSpPr>
          <p:cNvPr id="22" name="Text 20"/>
          <p:cNvSpPr/>
          <p:nvPr/>
        </p:nvSpPr>
        <p:spPr>
          <a:xfrm>
            <a:off x="475488" y="6473952"/>
            <a:ext cx="2011680" cy="164592"/>
          </a:xfrm>
          <a:prstGeom prst="rect">
            <a:avLst/>
          </a:prstGeom>
          <a:noFill/>
          <a:ln/>
        </p:spPr>
        <p:txBody>
          <a:bodyPr wrap="square" lIns="0" tIns="0" rIns="0" bIns="0" rtlCol="0" anchor="ctr"/>
          <a:lstStyle/>
          <a:p>
            <a:pPr indent="0" marL="0">
              <a:buNone/>
            </a:pPr>
            <a:r>
              <a:rPr lang="en-US" sz="700" dirty="0">
                <a:solidFill>
                  <a:srgbClr val="64748B"/>
                </a:solidFill>
              </a:rPr>
              <a:t>LokoAI confidential</a:t>
            </a:r>
            <a:endParaRPr lang="en-US" sz="700" dirty="0"/>
          </a:p>
        </p:txBody>
      </p:sp>
      <p:sp>
        <p:nvSpPr>
          <p:cNvPr id="23" name="Text 21"/>
          <p:cNvSpPr/>
          <p:nvPr/>
        </p:nvSpPr>
        <p:spPr>
          <a:xfrm>
            <a:off x="11201400" y="6446520"/>
            <a:ext cx="640080" cy="201168"/>
          </a:xfrm>
          <a:prstGeom prst="rect">
            <a:avLst/>
          </a:prstGeom>
          <a:noFill/>
          <a:ln/>
        </p:spPr>
        <p:txBody>
          <a:bodyPr wrap="square" lIns="0" tIns="0" rIns="0" bIns="0" rtlCol="0" anchor="ctr"/>
          <a:lstStyle/>
          <a:p>
            <a:pPr algn="r" indent="0" marL="0">
              <a:buNone/>
            </a:pPr>
            <a:r>
              <a:rPr lang="en-US" sz="800" b="1" dirty="0">
                <a:solidFill>
                  <a:srgbClr val="64748B"/>
                </a:solidFill>
              </a:rPr>
              <a:t>01</a:t>
            </a:r>
            <a:endParaRPr lang="en-US" sz="800" dirty="0"/>
          </a:p>
        </p:txBody>
      </p:sp>
      <p:sp>
        <p:nvSpPr>
          <p:cNvPr id="24" name="Text 22"/>
          <p:cNvSpPr/>
          <p:nvPr/>
        </p:nvSpPr>
        <p:spPr>
          <a:xfrm>
            <a:off x="2743200" y="6446520"/>
            <a:ext cx="6217920" cy="164592"/>
          </a:xfrm>
          <a:prstGeom prst="rect">
            <a:avLst/>
          </a:prstGeom>
          <a:noFill/>
          <a:ln/>
        </p:spPr>
        <p:txBody>
          <a:bodyPr wrap="square" lIns="0" tIns="0" rIns="0" bIns="0" rtlCol="0" anchor="ctr">
            <a:normAutofit/>
          </a:bodyPr>
          <a:lstStyle/>
          <a:p>
            <a:pPr algn="ctr" indent="0" marL="0">
              <a:buNone/>
            </a:pPr>
            <a:r>
              <a:rPr lang="en-US" sz="670" dirty="0">
                <a:solidFill>
                  <a:srgbClr val="7A8494"/>
                </a:solidFill>
              </a:rPr>
              <a:t>Source: Gartner, McKinsey, Stack Overflow</a:t>
            </a:r>
            <a:endParaRPr lang="en-US" sz="6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75488" y="347472"/>
            <a:ext cx="201168" cy="201168"/>
          </a:xfrm>
          <a:prstGeom prst="rect">
            <a:avLst/>
          </a:prstGeom>
          <a:solidFill>
            <a:srgbClr val="1E5BFF"/>
          </a:solidFill>
          <a:ln w="12700">
            <a:solidFill>
              <a:srgbClr val="1E5BFF"/>
            </a:solidFill>
            <a:prstDash val="solid"/>
          </a:ln>
        </p:spPr>
      </p:sp>
      <p:sp>
        <p:nvSpPr>
          <p:cNvPr id="3" name="Shape 1"/>
          <p:cNvSpPr/>
          <p:nvPr/>
        </p:nvSpPr>
        <p:spPr>
          <a:xfrm>
            <a:off x="713232" y="347472"/>
            <a:ext cx="201168" cy="201168"/>
          </a:xfrm>
          <a:prstGeom prst="rect">
            <a:avLst/>
          </a:prstGeom>
          <a:solidFill>
            <a:srgbClr val="16B8C7"/>
          </a:solidFill>
          <a:ln w="12700">
            <a:solidFill>
              <a:srgbClr val="16B8C7"/>
            </a:solidFill>
            <a:prstDash val="solid"/>
          </a:ln>
        </p:spPr>
      </p:sp>
      <p:sp>
        <p:nvSpPr>
          <p:cNvPr id="4" name="Text 2"/>
          <p:cNvSpPr/>
          <p:nvPr/>
        </p:nvSpPr>
        <p:spPr>
          <a:xfrm>
            <a:off x="987552" y="310896"/>
            <a:ext cx="1097280" cy="228600"/>
          </a:xfrm>
          <a:prstGeom prst="rect">
            <a:avLst/>
          </a:prstGeom>
          <a:noFill/>
          <a:ln/>
        </p:spPr>
        <p:txBody>
          <a:bodyPr wrap="square" lIns="0" tIns="0" rIns="0" bIns="0" rtlCol="0" anchor="ctr"/>
          <a:lstStyle/>
          <a:p>
            <a:pPr indent="0" marL="0">
              <a:buNone/>
            </a:pPr>
            <a:r>
              <a:rPr lang="en-US" sz="1000" b="1" dirty="0">
                <a:solidFill>
                  <a:srgbClr val="111827"/>
                </a:solidFill>
              </a:rPr>
              <a:t>LokoAI</a:t>
            </a:r>
            <a:endParaRPr lang="en-US" sz="1000" dirty="0"/>
          </a:p>
        </p:txBody>
      </p:sp>
      <p:sp>
        <p:nvSpPr>
          <p:cNvPr id="5" name="Text 3"/>
          <p:cNvSpPr/>
          <p:nvPr/>
        </p:nvSpPr>
        <p:spPr>
          <a:xfrm>
            <a:off x="658368" y="713232"/>
            <a:ext cx="2651760" cy="164592"/>
          </a:xfrm>
          <a:prstGeom prst="rect">
            <a:avLst/>
          </a:prstGeom>
          <a:noFill/>
          <a:ln/>
        </p:spPr>
        <p:txBody>
          <a:bodyPr wrap="square" lIns="0" tIns="0" rIns="0" bIns="0" rtlCol="0" anchor="ctr"/>
          <a:lstStyle/>
          <a:p>
            <a:pPr indent="0" marL="0">
              <a:buNone/>
            </a:pPr>
            <a:r>
              <a:rPr lang="en-US" sz="750" b="1" dirty="0">
                <a:solidFill>
                  <a:srgbClr val="1E5BFF"/>
                </a:solidFill>
              </a:rPr>
              <a:t>EXECUTIVE NARRATIVE</a:t>
            </a:r>
            <a:endParaRPr lang="en-US" sz="750" dirty="0"/>
          </a:p>
        </p:txBody>
      </p:sp>
      <p:sp>
        <p:nvSpPr>
          <p:cNvPr id="6" name="Text 4"/>
          <p:cNvSpPr/>
          <p:nvPr/>
        </p:nvSpPr>
        <p:spPr>
          <a:xfrm>
            <a:off x="658368" y="932688"/>
            <a:ext cx="10789920" cy="530352"/>
          </a:xfrm>
          <a:prstGeom prst="rect">
            <a:avLst/>
          </a:prstGeom>
          <a:noFill/>
          <a:ln/>
        </p:spPr>
        <p:txBody>
          <a:bodyPr wrap="square" lIns="0" tIns="0" rIns="0" bIns="0" rtlCol="0" anchor="ctr">
            <a:normAutofit/>
          </a:bodyPr>
          <a:lstStyle/>
          <a:p>
            <a:pPr indent="0" marL="0">
              <a:buNone/>
            </a:pPr>
            <a:r>
              <a:rPr lang="en-US" sz="2500" b="1" dirty="0">
                <a:solidFill>
                  <a:srgbClr val="111827"/>
                </a:solidFill>
                <a:latin typeface="Aptos Display" pitchFamily="34" charset="0"/>
                <a:ea typeface="Aptos Display" pitchFamily="34" charset="-122"/>
                <a:cs typeface="Aptos Display" pitchFamily="34" charset="-120"/>
              </a:rPr>
              <a:t>Investment thesis: the AI software factory will be rebuilt around agents</a:t>
            </a:r>
            <a:endParaRPr lang="en-US" sz="2500" dirty="0"/>
          </a:p>
        </p:txBody>
      </p:sp>
      <p:sp>
        <p:nvSpPr>
          <p:cNvPr id="7" name="Shape 5"/>
          <p:cNvSpPr/>
          <p:nvPr/>
        </p:nvSpPr>
        <p:spPr>
          <a:xfrm>
            <a:off x="658368" y="1572768"/>
            <a:ext cx="1143000" cy="0"/>
          </a:xfrm>
          <a:prstGeom prst="line">
            <a:avLst/>
          </a:prstGeom>
          <a:noFill/>
          <a:ln w="25400">
            <a:solidFill>
              <a:srgbClr val="1E5BFF"/>
            </a:solidFill>
            <a:prstDash val="solid"/>
          </a:ln>
        </p:spPr>
      </p:sp>
      <p:sp>
        <p:nvSpPr>
          <p:cNvPr id="8" name="Text 6"/>
          <p:cNvSpPr/>
          <p:nvPr/>
        </p:nvSpPr>
        <p:spPr>
          <a:xfrm>
            <a:off x="475488" y="6473952"/>
            <a:ext cx="2011680" cy="164592"/>
          </a:xfrm>
          <a:prstGeom prst="rect">
            <a:avLst/>
          </a:prstGeom>
          <a:noFill/>
          <a:ln/>
        </p:spPr>
        <p:txBody>
          <a:bodyPr wrap="square" lIns="0" tIns="0" rIns="0" bIns="0" rtlCol="0" anchor="ctr"/>
          <a:lstStyle/>
          <a:p>
            <a:pPr indent="0" marL="0">
              <a:buNone/>
            </a:pPr>
            <a:r>
              <a:rPr lang="en-US" sz="700" dirty="0">
                <a:solidFill>
                  <a:srgbClr val="64748B"/>
                </a:solidFill>
              </a:rPr>
              <a:t>LokoAI confidential</a:t>
            </a:r>
            <a:endParaRPr lang="en-US" sz="700" dirty="0"/>
          </a:p>
        </p:txBody>
      </p:sp>
      <p:sp>
        <p:nvSpPr>
          <p:cNvPr id="9" name="Text 7"/>
          <p:cNvSpPr/>
          <p:nvPr/>
        </p:nvSpPr>
        <p:spPr>
          <a:xfrm>
            <a:off x="11201400" y="6446520"/>
            <a:ext cx="640080" cy="201168"/>
          </a:xfrm>
          <a:prstGeom prst="rect">
            <a:avLst/>
          </a:prstGeom>
          <a:noFill/>
          <a:ln/>
        </p:spPr>
        <p:txBody>
          <a:bodyPr wrap="square" lIns="0" tIns="0" rIns="0" bIns="0" rtlCol="0" anchor="ctr"/>
          <a:lstStyle/>
          <a:p>
            <a:pPr algn="r" indent="0" marL="0">
              <a:buNone/>
            </a:pPr>
            <a:r>
              <a:rPr lang="en-US" sz="800" b="1" dirty="0">
                <a:solidFill>
                  <a:srgbClr val="64748B"/>
                </a:solidFill>
              </a:rPr>
              <a:t>02</a:t>
            </a:r>
            <a:endParaRPr lang="en-US" sz="800" dirty="0"/>
          </a:p>
        </p:txBody>
      </p:sp>
      <p:sp>
        <p:nvSpPr>
          <p:cNvPr id="10" name="Text 8"/>
          <p:cNvSpPr/>
          <p:nvPr/>
        </p:nvSpPr>
        <p:spPr>
          <a:xfrm>
            <a:off x="2743200" y="6446520"/>
            <a:ext cx="6217920" cy="164592"/>
          </a:xfrm>
          <a:prstGeom prst="rect">
            <a:avLst/>
          </a:prstGeom>
          <a:noFill/>
          <a:ln/>
        </p:spPr>
        <p:txBody>
          <a:bodyPr wrap="square" lIns="0" tIns="0" rIns="0" bIns="0" rtlCol="0" anchor="ctr">
            <a:normAutofit/>
          </a:bodyPr>
          <a:lstStyle/>
          <a:p>
            <a:pPr algn="ctr" indent="0" marL="0">
              <a:buNone/>
            </a:pPr>
            <a:r>
              <a:rPr lang="en-US" sz="670" dirty="0">
                <a:solidFill>
                  <a:srgbClr val="7A8494"/>
                </a:solidFill>
              </a:rPr>
              <a:t>Source: Gartner, McKinsey, Stack Overflow, TechCrunch</a:t>
            </a:r>
            <a:endParaRPr lang="en-US" sz="670" dirty="0"/>
          </a:p>
        </p:txBody>
      </p:sp>
      <p:sp>
        <p:nvSpPr>
          <p:cNvPr id="11" name="Shape 9"/>
          <p:cNvSpPr/>
          <p:nvPr/>
        </p:nvSpPr>
        <p:spPr>
          <a:xfrm>
            <a:off x="749808" y="1828800"/>
            <a:ext cx="2331720" cy="1325880"/>
          </a:xfrm>
          <a:prstGeom prst="rect">
            <a:avLst/>
          </a:prstGeom>
          <a:solidFill>
            <a:srgbClr val="FFFFFF"/>
          </a:solidFill>
          <a:ln w="12700">
            <a:solidFill>
              <a:srgbClr val="D7DEE8">
                <a:alpha val="80000"/>
              </a:srgbClr>
            </a:solidFill>
            <a:prstDash val="solid"/>
          </a:ln>
        </p:spPr>
      </p:sp>
      <p:sp>
        <p:nvSpPr>
          <p:cNvPr id="12" name="Text 10"/>
          <p:cNvSpPr/>
          <p:nvPr/>
        </p:nvSpPr>
        <p:spPr>
          <a:xfrm>
            <a:off x="950976" y="2029968"/>
            <a:ext cx="1929384" cy="475488"/>
          </a:xfrm>
          <a:prstGeom prst="rect">
            <a:avLst/>
          </a:prstGeom>
          <a:noFill/>
          <a:ln/>
        </p:spPr>
        <p:txBody>
          <a:bodyPr wrap="square" lIns="0" tIns="0" rIns="0" bIns="0" rtlCol="0" anchor="ctr">
            <a:normAutofit/>
          </a:bodyPr>
          <a:lstStyle/>
          <a:p>
            <a:pPr indent="0" marL="0">
              <a:buNone/>
            </a:pPr>
            <a:r>
              <a:rPr lang="en-US" sz="2600" b="1" dirty="0">
                <a:solidFill>
                  <a:srgbClr val="1E5BFF"/>
                </a:solidFill>
              </a:rPr>
              <a:t>$453B</a:t>
            </a:r>
            <a:endParaRPr lang="en-US" sz="2600" dirty="0"/>
          </a:p>
        </p:txBody>
      </p:sp>
      <p:sp>
        <p:nvSpPr>
          <p:cNvPr id="13" name="Text 11"/>
          <p:cNvSpPr/>
          <p:nvPr/>
        </p:nvSpPr>
        <p:spPr>
          <a:xfrm>
            <a:off x="950976" y="2651760"/>
            <a:ext cx="1929384" cy="411480"/>
          </a:xfrm>
          <a:prstGeom prst="rect">
            <a:avLst/>
          </a:prstGeom>
          <a:noFill/>
          <a:ln/>
        </p:spPr>
        <p:txBody>
          <a:bodyPr wrap="square" lIns="0" tIns="0" rIns="0" bIns="0" rtlCol="0" anchor="ctr">
            <a:normAutofit/>
          </a:bodyPr>
          <a:lstStyle/>
          <a:p>
            <a:pPr indent="0" marL="0">
              <a:buNone/>
            </a:pPr>
            <a:r>
              <a:rPr lang="en-US" sz="1050" dirty="0">
                <a:solidFill>
                  <a:srgbClr val="4B5563"/>
                </a:solidFill>
              </a:rPr>
              <a:t>AI software spending forecast in 2026</a:t>
            </a:r>
            <a:endParaRPr lang="en-US" sz="1050" dirty="0"/>
          </a:p>
        </p:txBody>
      </p:sp>
      <p:sp>
        <p:nvSpPr>
          <p:cNvPr id="14" name="Shape 12"/>
          <p:cNvSpPr/>
          <p:nvPr/>
        </p:nvSpPr>
        <p:spPr>
          <a:xfrm>
            <a:off x="3337560" y="1828800"/>
            <a:ext cx="2331720" cy="1325880"/>
          </a:xfrm>
          <a:prstGeom prst="rect">
            <a:avLst/>
          </a:prstGeom>
          <a:solidFill>
            <a:srgbClr val="FFFFFF"/>
          </a:solidFill>
          <a:ln w="12700">
            <a:solidFill>
              <a:srgbClr val="D7DEE8">
                <a:alpha val="80000"/>
              </a:srgbClr>
            </a:solidFill>
            <a:prstDash val="solid"/>
          </a:ln>
        </p:spPr>
      </p:sp>
      <p:sp>
        <p:nvSpPr>
          <p:cNvPr id="15" name="Text 13"/>
          <p:cNvSpPr/>
          <p:nvPr/>
        </p:nvSpPr>
        <p:spPr>
          <a:xfrm>
            <a:off x="3538728" y="2029968"/>
            <a:ext cx="1929384" cy="475488"/>
          </a:xfrm>
          <a:prstGeom prst="rect">
            <a:avLst/>
          </a:prstGeom>
          <a:noFill/>
          <a:ln/>
        </p:spPr>
        <p:txBody>
          <a:bodyPr wrap="square" lIns="0" tIns="0" rIns="0" bIns="0" rtlCol="0" anchor="ctr">
            <a:normAutofit/>
          </a:bodyPr>
          <a:lstStyle/>
          <a:p>
            <a:pPr indent="0" marL="0">
              <a:buNone/>
            </a:pPr>
            <a:r>
              <a:rPr lang="en-US" sz="2600" b="1" dirty="0">
                <a:solidFill>
                  <a:srgbClr val="16B8C7"/>
                </a:solidFill>
              </a:rPr>
              <a:t>62%</a:t>
            </a:r>
            <a:endParaRPr lang="en-US" sz="2600" dirty="0"/>
          </a:p>
        </p:txBody>
      </p:sp>
      <p:sp>
        <p:nvSpPr>
          <p:cNvPr id="16" name="Text 14"/>
          <p:cNvSpPr/>
          <p:nvPr/>
        </p:nvSpPr>
        <p:spPr>
          <a:xfrm>
            <a:off x="3538728" y="2651760"/>
            <a:ext cx="1929384" cy="411480"/>
          </a:xfrm>
          <a:prstGeom prst="rect">
            <a:avLst/>
          </a:prstGeom>
          <a:noFill/>
          <a:ln/>
        </p:spPr>
        <p:txBody>
          <a:bodyPr wrap="square" lIns="0" tIns="0" rIns="0" bIns="0" rtlCol="0" anchor="ctr">
            <a:normAutofit/>
          </a:bodyPr>
          <a:lstStyle/>
          <a:p>
            <a:pPr indent="0" marL="0">
              <a:buNone/>
            </a:pPr>
            <a:r>
              <a:rPr lang="en-US" sz="1050" dirty="0">
                <a:solidFill>
                  <a:srgbClr val="4B5563"/>
                </a:solidFill>
              </a:rPr>
              <a:t>Organizations scaling or experimenting with agents</a:t>
            </a:r>
            <a:endParaRPr lang="en-US" sz="1050" dirty="0"/>
          </a:p>
        </p:txBody>
      </p:sp>
      <p:sp>
        <p:nvSpPr>
          <p:cNvPr id="17" name="Shape 15"/>
          <p:cNvSpPr/>
          <p:nvPr/>
        </p:nvSpPr>
        <p:spPr>
          <a:xfrm>
            <a:off x="5925312" y="1828800"/>
            <a:ext cx="2331720" cy="1325880"/>
          </a:xfrm>
          <a:prstGeom prst="rect">
            <a:avLst/>
          </a:prstGeom>
          <a:solidFill>
            <a:srgbClr val="FFFFFF"/>
          </a:solidFill>
          <a:ln w="12700">
            <a:solidFill>
              <a:srgbClr val="D7DEE8">
                <a:alpha val="80000"/>
              </a:srgbClr>
            </a:solidFill>
            <a:prstDash val="solid"/>
          </a:ln>
        </p:spPr>
      </p:sp>
      <p:sp>
        <p:nvSpPr>
          <p:cNvPr id="18" name="Text 16"/>
          <p:cNvSpPr/>
          <p:nvPr/>
        </p:nvSpPr>
        <p:spPr>
          <a:xfrm>
            <a:off x="6126480" y="2029968"/>
            <a:ext cx="1929384" cy="475488"/>
          </a:xfrm>
          <a:prstGeom prst="rect">
            <a:avLst/>
          </a:prstGeom>
          <a:noFill/>
          <a:ln/>
        </p:spPr>
        <p:txBody>
          <a:bodyPr wrap="square" lIns="0" tIns="0" rIns="0" bIns="0" rtlCol="0" anchor="ctr">
            <a:normAutofit/>
          </a:bodyPr>
          <a:lstStyle/>
          <a:p>
            <a:pPr indent="0" marL="0">
              <a:buNone/>
            </a:pPr>
            <a:r>
              <a:rPr lang="en-US" sz="2600" b="1" dirty="0">
                <a:solidFill>
                  <a:srgbClr val="E11D48"/>
                </a:solidFill>
              </a:rPr>
              <a:t>46%</a:t>
            </a:r>
            <a:endParaRPr lang="en-US" sz="2600" dirty="0"/>
          </a:p>
        </p:txBody>
      </p:sp>
      <p:sp>
        <p:nvSpPr>
          <p:cNvPr id="19" name="Text 17"/>
          <p:cNvSpPr/>
          <p:nvPr/>
        </p:nvSpPr>
        <p:spPr>
          <a:xfrm>
            <a:off x="6126480" y="2651760"/>
            <a:ext cx="1929384" cy="411480"/>
          </a:xfrm>
          <a:prstGeom prst="rect">
            <a:avLst/>
          </a:prstGeom>
          <a:noFill/>
          <a:ln/>
        </p:spPr>
        <p:txBody>
          <a:bodyPr wrap="square" lIns="0" tIns="0" rIns="0" bIns="0" rtlCol="0" anchor="ctr">
            <a:normAutofit/>
          </a:bodyPr>
          <a:lstStyle/>
          <a:p>
            <a:pPr indent="0" marL="0">
              <a:buNone/>
            </a:pPr>
            <a:r>
              <a:rPr lang="en-US" sz="1050" dirty="0">
                <a:solidFill>
                  <a:srgbClr val="4B5563"/>
                </a:solidFill>
              </a:rPr>
              <a:t>Developers distrust AI output accuracy</a:t>
            </a:r>
            <a:endParaRPr lang="en-US" sz="1050" dirty="0"/>
          </a:p>
        </p:txBody>
      </p:sp>
      <p:sp>
        <p:nvSpPr>
          <p:cNvPr id="20" name="Shape 18"/>
          <p:cNvSpPr/>
          <p:nvPr/>
        </p:nvSpPr>
        <p:spPr>
          <a:xfrm>
            <a:off x="8513064" y="1828800"/>
            <a:ext cx="2331720" cy="1325880"/>
          </a:xfrm>
          <a:prstGeom prst="rect">
            <a:avLst/>
          </a:prstGeom>
          <a:solidFill>
            <a:srgbClr val="FFFFFF"/>
          </a:solidFill>
          <a:ln w="12700">
            <a:solidFill>
              <a:srgbClr val="D7DEE8">
                <a:alpha val="80000"/>
              </a:srgbClr>
            </a:solidFill>
            <a:prstDash val="solid"/>
          </a:ln>
        </p:spPr>
      </p:sp>
      <p:sp>
        <p:nvSpPr>
          <p:cNvPr id="21" name="Text 19"/>
          <p:cNvSpPr/>
          <p:nvPr/>
        </p:nvSpPr>
        <p:spPr>
          <a:xfrm>
            <a:off x="8714232" y="2029968"/>
            <a:ext cx="1929384" cy="475488"/>
          </a:xfrm>
          <a:prstGeom prst="rect">
            <a:avLst/>
          </a:prstGeom>
          <a:noFill/>
          <a:ln/>
        </p:spPr>
        <p:txBody>
          <a:bodyPr wrap="square" lIns="0" tIns="0" rIns="0" bIns="0" rtlCol="0" anchor="ctr">
            <a:normAutofit/>
          </a:bodyPr>
          <a:lstStyle/>
          <a:p>
            <a:pPr indent="0" marL="0">
              <a:buNone/>
            </a:pPr>
            <a:r>
              <a:rPr lang="en-US" sz="2600" b="1" dirty="0">
                <a:solidFill>
                  <a:srgbClr val="10A37F"/>
                </a:solidFill>
              </a:rPr>
              <a:t>$200M+</a:t>
            </a:r>
            <a:endParaRPr lang="en-US" sz="2600" dirty="0"/>
          </a:p>
        </p:txBody>
      </p:sp>
      <p:sp>
        <p:nvSpPr>
          <p:cNvPr id="22" name="Text 20"/>
          <p:cNvSpPr/>
          <p:nvPr/>
        </p:nvSpPr>
        <p:spPr>
          <a:xfrm>
            <a:off x="8714232" y="2651760"/>
            <a:ext cx="1929384" cy="411480"/>
          </a:xfrm>
          <a:prstGeom prst="rect">
            <a:avLst/>
          </a:prstGeom>
          <a:noFill/>
          <a:ln/>
        </p:spPr>
        <p:txBody>
          <a:bodyPr wrap="square" lIns="0" tIns="0" rIns="0" bIns="0" rtlCol="0" anchor="ctr">
            <a:normAutofit/>
          </a:bodyPr>
          <a:lstStyle/>
          <a:p>
            <a:pPr indent="0" marL="0">
              <a:buNone/>
            </a:pPr>
            <a:r>
              <a:rPr lang="en-US" sz="1050" dirty="0">
                <a:solidFill>
                  <a:srgbClr val="4B5563"/>
                </a:solidFill>
              </a:rPr>
              <a:t>ARR reported by Lovable after rapid category expansion</a:t>
            </a:r>
            <a:endParaRPr lang="en-US" sz="1050" dirty="0"/>
          </a:p>
        </p:txBody>
      </p:sp>
      <p:sp>
        <p:nvSpPr>
          <p:cNvPr id="23" name="Shape 21"/>
          <p:cNvSpPr/>
          <p:nvPr/>
        </p:nvSpPr>
        <p:spPr>
          <a:xfrm>
            <a:off x="749808" y="3886200"/>
            <a:ext cx="3429000" cy="1234440"/>
          </a:xfrm>
          <a:prstGeom prst="rect">
            <a:avLst/>
          </a:prstGeom>
          <a:solidFill>
            <a:srgbClr val="FFFFFF"/>
          </a:solidFill>
          <a:ln w="12700">
            <a:solidFill>
              <a:srgbClr val="D7DEE8">
                <a:alpha val="80000"/>
              </a:srgbClr>
            </a:solidFill>
            <a:prstDash val="solid"/>
          </a:ln>
        </p:spPr>
      </p:sp>
      <p:sp>
        <p:nvSpPr>
          <p:cNvPr id="24" name="Shape 22"/>
          <p:cNvSpPr/>
          <p:nvPr/>
        </p:nvSpPr>
        <p:spPr>
          <a:xfrm>
            <a:off x="749808" y="3886200"/>
            <a:ext cx="73152" cy="1234440"/>
          </a:xfrm>
          <a:prstGeom prst="rect">
            <a:avLst/>
          </a:prstGeom>
          <a:solidFill>
            <a:srgbClr val="1E5BFF"/>
          </a:solidFill>
          <a:ln w="12700">
            <a:solidFill>
              <a:srgbClr val="1E5BFF"/>
            </a:solidFill>
            <a:prstDash val="solid"/>
          </a:ln>
        </p:spPr>
      </p:sp>
      <p:sp>
        <p:nvSpPr>
          <p:cNvPr id="25" name="Text 23"/>
          <p:cNvSpPr/>
          <p:nvPr/>
        </p:nvSpPr>
        <p:spPr>
          <a:xfrm>
            <a:off x="978408" y="4050792"/>
            <a:ext cx="3063240" cy="256032"/>
          </a:xfrm>
          <a:prstGeom prst="rect">
            <a:avLst/>
          </a:prstGeom>
          <a:noFill/>
          <a:ln/>
        </p:spPr>
        <p:txBody>
          <a:bodyPr wrap="square" lIns="0" tIns="0" rIns="0" bIns="0" rtlCol="0" anchor="ctr"/>
          <a:lstStyle/>
          <a:p>
            <a:pPr indent="0" marL="0">
              <a:buNone/>
            </a:pPr>
            <a:r>
              <a:rPr lang="en-US" sz="1150" b="1" dirty="0">
                <a:solidFill>
                  <a:srgbClr val="111827"/>
                </a:solidFill>
              </a:rPr>
              <a:t>Why now</a:t>
            </a:r>
            <a:endParaRPr lang="en-US" sz="1150" dirty="0"/>
          </a:p>
        </p:txBody>
      </p:sp>
      <p:sp>
        <p:nvSpPr>
          <p:cNvPr id="26" name="Text 24"/>
          <p:cNvSpPr/>
          <p:nvPr/>
        </p:nvSpPr>
        <p:spPr>
          <a:xfrm>
            <a:off x="978408" y="4416552"/>
            <a:ext cx="3063240" cy="594360"/>
          </a:xfrm>
          <a:prstGeom prst="rect">
            <a:avLst/>
          </a:prstGeom>
          <a:noFill/>
          <a:ln/>
        </p:spPr>
        <p:txBody>
          <a:bodyPr wrap="square" lIns="0" tIns="0" rIns="0" bIns="0" rtlCol="0" anchor="ctr">
            <a:normAutofit/>
          </a:bodyPr>
          <a:lstStyle/>
          <a:p>
            <a:pPr indent="0" marL="0">
              <a:buNone/>
            </a:pPr>
            <a:r>
              <a:rPr lang="en-US" sz="870" dirty="0">
                <a:solidFill>
                  <a:srgbClr val="4B5563"/>
                </a:solidFill>
              </a:rPr>
              <a:t>AI adoption has crossed the mainstream threshold; the bottleneck has moved from model access to workflow reliability, governance, and deployment.</a:t>
            </a:r>
            <a:endParaRPr lang="en-US" sz="870" dirty="0"/>
          </a:p>
        </p:txBody>
      </p:sp>
      <p:sp>
        <p:nvSpPr>
          <p:cNvPr id="27" name="Shape 25"/>
          <p:cNvSpPr/>
          <p:nvPr/>
        </p:nvSpPr>
        <p:spPr>
          <a:xfrm>
            <a:off x="4407408" y="3886200"/>
            <a:ext cx="3429000" cy="1234440"/>
          </a:xfrm>
          <a:prstGeom prst="rect">
            <a:avLst/>
          </a:prstGeom>
          <a:solidFill>
            <a:srgbClr val="FFFFFF"/>
          </a:solidFill>
          <a:ln w="12700">
            <a:solidFill>
              <a:srgbClr val="D7DEE8">
                <a:alpha val="80000"/>
              </a:srgbClr>
            </a:solidFill>
            <a:prstDash val="solid"/>
          </a:ln>
        </p:spPr>
      </p:sp>
      <p:sp>
        <p:nvSpPr>
          <p:cNvPr id="28" name="Shape 26"/>
          <p:cNvSpPr/>
          <p:nvPr/>
        </p:nvSpPr>
        <p:spPr>
          <a:xfrm>
            <a:off x="4407408" y="3886200"/>
            <a:ext cx="73152" cy="1234440"/>
          </a:xfrm>
          <a:prstGeom prst="rect">
            <a:avLst/>
          </a:prstGeom>
          <a:solidFill>
            <a:srgbClr val="16B8C7"/>
          </a:solidFill>
          <a:ln w="12700">
            <a:solidFill>
              <a:srgbClr val="16B8C7"/>
            </a:solidFill>
            <a:prstDash val="solid"/>
          </a:ln>
        </p:spPr>
      </p:sp>
      <p:sp>
        <p:nvSpPr>
          <p:cNvPr id="29" name="Text 27"/>
          <p:cNvSpPr/>
          <p:nvPr/>
        </p:nvSpPr>
        <p:spPr>
          <a:xfrm>
            <a:off x="4636008" y="4050792"/>
            <a:ext cx="3063240" cy="256032"/>
          </a:xfrm>
          <a:prstGeom prst="rect">
            <a:avLst/>
          </a:prstGeom>
          <a:noFill/>
          <a:ln/>
        </p:spPr>
        <p:txBody>
          <a:bodyPr wrap="square" lIns="0" tIns="0" rIns="0" bIns="0" rtlCol="0" anchor="ctr"/>
          <a:lstStyle/>
          <a:p>
            <a:pPr indent="0" marL="0">
              <a:buNone/>
            </a:pPr>
            <a:r>
              <a:rPr lang="en-US" sz="1150" b="1" dirty="0">
                <a:solidFill>
                  <a:srgbClr val="111827"/>
                </a:solidFill>
              </a:rPr>
              <a:t>Why LokoAI</a:t>
            </a:r>
            <a:endParaRPr lang="en-US" sz="1150" dirty="0"/>
          </a:p>
        </p:txBody>
      </p:sp>
      <p:sp>
        <p:nvSpPr>
          <p:cNvPr id="30" name="Text 28"/>
          <p:cNvSpPr/>
          <p:nvPr/>
        </p:nvSpPr>
        <p:spPr>
          <a:xfrm>
            <a:off x="4636008" y="4416552"/>
            <a:ext cx="3063240" cy="594360"/>
          </a:xfrm>
          <a:prstGeom prst="rect">
            <a:avLst/>
          </a:prstGeom>
          <a:noFill/>
          <a:ln/>
        </p:spPr>
        <p:txBody>
          <a:bodyPr wrap="square" lIns="0" tIns="0" rIns="0" bIns="0" rtlCol="0" anchor="ctr">
            <a:normAutofit/>
          </a:bodyPr>
          <a:lstStyle/>
          <a:p>
            <a:pPr indent="0" marL="0">
              <a:buNone/>
            </a:pPr>
            <a:r>
              <a:rPr lang="en-US" sz="870" dirty="0">
                <a:solidFill>
                  <a:srgbClr val="4B5563"/>
                </a:solidFill>
              </a:rPr>
              <a:t>A prompt-to-product workspace that combines agentic generation, code execution, memory, review, and launch workflows in one accountable system.</a:t>
            </a:r>
            <a:endParaRPr lang="en-US" sz="870" dirty="0"/>
          </a:p>
        </p:txBody>
      </p:sp>
      <p:sp>
        <p:nvSpPr>
          <p:cNvPr id="31" name="Shape 29"/>
          <p:cNvSpPr/>
          <p:nvPr/>
        </p:nvSpPr>
        <p:spPr>
          <a:xfrm>
            <a:off x="8065008" y="3886200"/>
            <a:ext cx="3429000" cy="1234440"/>
          </a:xfrm>
          <a:prstGeom prst="rect">
            <a:avLst/>
          </a:prstGeom>
          <a:solidFill>
            <a:srgbClr val="FFFFFF"/>
          </a:solidFill>
          <a:ln w="12700">
            <a:solidFill>
              <a:srgbClr val="D7DEE8">
                <a:alpha val="80000"/>
              </a:srgbClr>
            </a:solidFill>
            <a:prstDash val="solid"/>
          </a:ln>
        </p:spPr>
      </p:sp>
      <p:sp>
        <p:nvSpPr>
          <p:cNvPr id="32" name="Shape 30"/>
          <p:cNvSpPr/>
          <p:nvPr/>
        </p:nvSpPr>
        <p:spPr>
          <a:xfrm>
            <a:off x="8065008" y="3886200"/>
            <a:ext cx="73152" cy="1234440"/>
          </a:xfrm>
          <a:prstGeom prst="rect">
            <a:avLst/>
          </a:prstGeom>
          <a:solidFill>
            <a:srgbClr val="10A37F"/>
          </a:solidFill>
          <a:ln w="12700">
            <a:solidFill>
              <a:srgbClr val="10A37F"/>
            </a:solidFill>
            <a:prstDash val="solid"/>
          </a:ln>
        </p:spPr>
      </p:sp>
      <p:sp>
        <p:nvSpPr>
          <p:cNvPr id="33" name="Text 31"/>
          <p:cNvSpPr/>
          <p:nvPr/>
        </p:nvSpPr>
        <p:spPr>
          <a:xfrm>
            <a:off x="8293608" y="4050792"/>
            <a:ext cx="3063240" cy="256032"/>
          </a:xfrm>
          <a:prstGeom prst="rect">
            <a:avLst/>
          </a:prstGeom>
          <a:noFill/>
          <a:ln/>
        </p:spPr>
        <p:txBody>
          <a:bodyPr wrap="square" lIns="0" tIns="0" rIns="0" bIns="0" rtlCol="0" anchor="ctr"/>
          <a:lstStyle/>
          <a:p>
            <a:pPr indent="0" marL="0">
              <a:buNone/>
            </a:pPr>
            <a:r>
              <a:rPr lang="en-US" sz="1150" b="1" dirty="0">
                <a:solidFill>
                  <a:srgbClr val="111827"/>
                </a:solidFill>
              </a:rPr>
              <a:t>Why venture-scale</a:t>
            </a:r>
            <a:endParaRPr lang="en-US" sz="1150" dirty="0"/>
          </a:p>
        </p:txBody>
      </p:sp>
      <p:sp>
        <p:nvSpPr>
          <p:cNvPr id="34" name="Text 32"/>
          <p:cNvSpPr/>
          <p:nvPr/>
        </p:nvSpPr>
        <p:spPr>
          <a:xfrm>
            <a:off x="8293608" y="4416552"/>
            <a:ext cx="3063240" cy="594360"/>
          </a:xfrm>
          <a:prstGeom prst="rect">
            <a:avLst/>
          </a:prstGeom>
          <a:noFill/>
          <a:ln/>
        </p:spPr>
        <p:txBody>
          <a:bodyPr wrap="square" lIns="0" tIns="0" rIns="0" bIns="0" rtlCol="0" anchor="ctr">
            <a:normAutofit/>
          </a:bodyPr>
          <a:lstStyle/>
          <a:p>
            <a:pPr indent="0" marL="0">
              <a:buNone/>
            </a:pPr>
            <a:r>
              <a:rPr lang="en-US" sz="870" dirty="0">
                <a:solidFill>
                  <a:srgbClr val="4B5563"/>
                </a:solidFill>
              </a:rPr>
              <a:t>Vibe coding, AI app builders, and agent workspaces are compressing software labor across founders, agencies, SMBs, and enterprise innovation teams.</a:t>
            </a:r>
            <a:endParaRPr lang="en-US" sz="8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75488" y="347472"/>
            <a:ext cx="201168" cy="201168"/>
          </a:xfrm>
          <a:prstGeom prst="rect">
            <a:avLst/>
          </a:prstGeom>
          <a:solidFill>
            <a:srgbClr val="1E5BFF"/>
          </a:solidFill>
          <a:ln w="12700">
            <a:solidFill>
              <a:srgbClr val="1E5BFF"/>
            </a:solidFill>
            <a:prstDash val="solid"/>
          </a:ln>
        </p:spPr>
      </p:sp>
      <p:sp>
        <p:nvSpPr>
          <p:cNvPr id="3" name="Shape 1"/>
          <p:cNvSpPr/>
          <p:nvPr/>
        </p:nvSpPr>
        <p:spPr>
          <a:xfrm>
            <a:off x="713232" y="347472"/>
            <a:ext cx="201168" cy="201168"/>
          </a:xfrm>
          <a:prstGeom prst="rect">
            <a:avLst/>
          </a:prstGeom>
          <a:solidFill>
            <a:srgbClr val="16B8C7"/>
          </a:solidFill>
          <a:ln w="12700">
            <a:solidFill>
              <a:srgbClr val="16B8C7"/>
            </a:solidFill>
            <a:prstDash val="solid"/>
          </a:ln>
        </p:spPr>
      </p:sp>
      <p:sp>
        <p:nvSpPr>
          <p:cNvPr id="4" name="Text 2"/>
          <p:cNvSpPr/>
          <p:nvPr/>
        </p:nvSpPr>
        <p:spPr>
          <a:xfrm>
            <a:off x="987552" y="310896"/>
            <a:ext cx="1097280" cy="228600"/>
          </a:xfrm>
          <a:prstGeom prst="rect">
            <a:avLst/>
          </a:prstGeom>
          <a:noFill/>
          <a:ln/>
        </p:spPr>
        <p:txBody>
          <a:bodyPr wrap="square" lIns="0" tIns="0" rIns="0" bIns="0" rtlCol="0" anchor="ctr"/>
          <a:lstStyle/>
          <a:p>
            <a:pPr indent="0" marL="0">
              <a:buNone/>
            </a:pPr>
            <a:r>
              <a:rPr lang="en-US" sz="1000" b="1" dirty="0">
                <a:solidFill>
                  <a:srgbClr val="111827"/>
                </a:solidFill>
              </a:rPr>
              <a:t>LokoAI</a:t>
            </a:r>
            <a:endParaRPr lang="en-US" sz="1000" dirty="0"/>
          </a:p>
        </p:txBody>
      </p:sp>
      <p:sp>
        <p:nvSpPr>
          <p:cNvPr id="5" name="Text 3"/>
          <p:cNvSpPr/>
          <p:nvPr/>
        </p:nvSpPr>
        <p:spPr>
          <a:xfrm>
            <a:off x="658368" y="713232"/>
            <a:ext cx="2651760" cy="164592"/>
          </a:xfrm>
          <a:prstGeom prst="rect">
            <a:avLst/>
          </a:prstGeom>
          <a:noFill/>
          <a:ln/>
        </p:spPr>
        <p:txBody>
          <a:bodyPr wrap="square" lIns="0" tIns="0" rIns="0" bIns="0" rtlCol="0" anchor="ctr"/>
          <a:lstStyle/>
          <a:p>
            <a:pPr indent="0" marL="0">
              <a:buNone/>
            </a:pPr>
            <a:r>
              <a:rPr lang="en-US" sz="750" b="1" dirty="0">
                <a:solidFill>
                  <a:srgbClr val="1E5BFF"/>
                </a:solidFill>
              </a:rPr>
              <a:t>PROBLEM</a:t>
            </a:r>
            <a:endParaRPr lang="en-US" sz="750" dirty="0"/>
          </a:p>
        </p:txBody>
      </p:sp>
      <p:sp>
        <p:nvSpPr>
          <p:cNvPr id="6" name="Text 4"/>
          <p:cNvSpPr/>
          <p:nvPr/>
        </p:nvSpPr>
        <p:spPr>
          <a:xfrm>
            <a:off x="658368" y="932688"/>
            <a:ext cx="10789920" cy="530352"/>
          </a:xfrm>
          <a:prstGeom prst="rect">
            <a:avLst/>
          </a:prstGeom>
          <a:noFill/>
          <a:ln/>
        </p:spPr>
        <p:txBody>
          <a:bodyPr wrap="square" lIns="0" tIns="0" rIns="0" bIns="0" rtlCol="0" anchor="ctr">
            <a:normAutofit/>
          </a:bodyPr>
          <a:lstStyle/>
          <a:p>
            <a:pPr indent="0" marL="0">
              <a:buNone/>
            </a:pPr>
            <a:r>
              <a:rPr lang="en-US" sz="2500" b="1" dirty="0">
                <a:solidFill>
                  <a:srgbClr val="111827"/>
                </a:solidFill>
                <a:latin typeface="Aptos Display" pitchFamily="34" charset="0"/>
                <a:ea typeface="Aptos Display" pitchFamily="34" charset="-122"/>
                <a:cs typeface="Aptos Display" pitchFamily="34" charset="-120"/>
              </a:rPr>
              <a:t>Problem statement: AI can draft code, but teams still cannot trust the path to production</a:t>
            </a:r>
            <a:endParaRPr lang="en-US" sz="2500" dirty="0"/>
          </a:p>
        </p:txBody>
      </p:sp>
      <p:sp>
        <p:nvSpPr>
          <p:cNvPr id="7" name="Shape 5"/>
          <p:cNvSpPr/>
          <p:nvPr/>
        </p:nvSpPr>
        <p:spPr>
          <a:xfrm>
            <a:off x="658368" y="1572768"/>
            <a:ext cx="1143000" cy="0"/>
          </a:xfrm>
          <a:prstGeom prst="line">
            <a:avLst/>
          </a:prstGeom>
          <a:noFill/>
          <a:ln w="25400">
            <a:solidFill>
              <a:srgbClr val="1E5BFF"/>
            </a:solidFill>
            <a:prstDash val="solid"/>
          </a:ln>
        </p:spPr>
      </p:sp>
      <p:sp>
        <p:nvSpPr>
          <p:cNvPr id="8" name="Text 6"/>
          <p:cNvSpPr/>
          <p:nvPr/>
        </p:nvSpPr>
        <p:spPr>
          <a:xfrm>
            <a:off x="475488" y="6473952"/>
            <a:ext cx="2011680" cy="164592"/>
          </a:xfrm>
          <a:prstGeom prst="rect">
            <a:avLst/>
          </a:prstGeom>
          <a:noFill/>
          <a:ln/>
        </p:spPr>
        <p:txBody>
          <a:bodyPr wrap="square" lIns="0" tIns="0" rIns="0" bIns="0" rtlCol="0" anchor="ctr"/>
          <a:lstStyle/>
          <a:p>
            <a:pPr indent="0" marL="0">
              <a:buNone/>
            </a:pPr>
            <a:r>
              <a:rPr lang="en-US" sz="700" dirty="0">
                <a:solidFill>
                  <a:srgbClr val="64748B"/>
                </a:solidFill>
              </a:rPr>
              <a:t>LokoAI confidential</a:t>
            </a:r>
            <a:endParaRPr lang="en-US" sz="700" dirty="0"/>
          </a:p>
        </p:txBody>
      </p:sp>
      <p:sp>
        <p:nvSpPr>
          <p:cNvPr id="9" name="Text 7"/>
          <p:cNvSpPr/>
          <p:nvPr/>
        </p:nvSpPr>
        <p:spPr>
          <a:xfrm>
            <a:off x="11201400" y="6446520"/>
            <a:ext cx="640080" cy="201168"/>
          </a:xfrm>
          <a:prstGeom prst="rect">
            <a:avLst/>
          </a:prstGeom>
          <a:noFill/>
          <a:ln/>
        </p:spPr>
        <p:txBody>
          <a:bodyPr wrap="square" lIns="0" tIns="0" rIns="0" bIns="0" rtlCol="0" anchor="ctr"/>
          <a:lstStyle/>
          <a:p>
            <a:pPr algn="r" indent="0" marL="0">
              <a:buNone/>
            </a:pPr>
            <a:r>
              <a:rPr lang="en-US" sz="800" b="1" dirty="0">
                <a:solidFill>
                  <a:srgbClr val="64748B"/>
                </a:solidFill>
              </a:rPr>
              <a:t>03</a:t>
            </a:r>
            <a:endParaRPr lang="en-US" sz="800" dirty="0"/>
          </a:p>
        </p:txBody>
      </p:sp>
      <p:sp>
        <p:nvSpPr>
          <p:cNvPr id="10" name="Text 8"/>
          <p:cNvSpPr/>
          <p:nvPr/>
        </p:nvSpPr>
        <p:spPr>
          <a:xfrm>
            <a:off x="2743200" y="6446520"/>
            <a:ext cx="6217920" cy="164592"/>
          </a:xfrm>
          <a:prstGeom prst="rect">
            <a:avLst/>
          </a:prstGeom>
          <a:noFill/>
          <a:ln/>
        </p:spPr>
        <p:txBody>
          <a:bodyPr wrap="square" lIns="0" tIns="0" rIns="0" bIns="0" rtlCol="0" anchor="ctr">
            <a:normAutofit/>
          </a:bodyPr>
          <a:lstStyle/>
          <a:p>
            <a:pPr algn="ctr" indent="0" marL="0">
              <a:buNone/>
            </a:pPr>
            <a:r>
              <a:rPr lang="en-US" sz="670" dirty="0">
                <a:solidFill>
                  <a:srgbClr val="7A8494"/>
                </a:solidFill>
              </a:rPr>
              <a:t>Source: Stack Overflow Developer Survey 2025; Gartner</a:t>
            </a:r>
            <a:endParaRPr lang="en-US" sz="670" dirty="0"/>
          </a:p>
        </p:txBody>
      </p:sp>
      <p:sp>
        <p:nvSpPr>
          <p:cNvPr id="11" name="Shape 9"/>
          <p:cNvSpPr/>
          <p:nvPr/>
        </p:nvSpPr>
        <p:spPr>
          <a:xfrm>
            <a:off x="749808" y="1874520"/>
            <a:ext cx="3474720" cy="1234440"/>
          </a:xfrm>
          <a:prstGeom prst="rect">
            <a:avLst/>
          </a:prstGeom>
          <a:solidFill>
            <a:srgbClr val="FFFFFF"/>
          </a:solidFill>
          <a:ln w="12700">
            <a:solidFill>
              <a:srgbClr val="D7DEE8">
                <a:alpha val="80000"/>
              </a:srgbClr>
            </a:solidFill>
            <a:prstDash val="solid"/>
          </a:ln>
        </p:spPr>
      </p:sp>
      <p:sp>
        <p:nvSpPr>
          <p:cNvPr id="12" name="Shape 10"/>
          <p:cNvSpPr/>
          <p:nvPr/>
        </p:nvSpPr>
        <p:spPr>
          <a:xfrm>
            <a:off x="749808" y="1874520"/>
            <a:ext cx="73152" cy="1234440"/>
          </a:xfrm>
          <a:prstGeom prst="rect">
            <a:avLst/>
          </a:prstGeom>
          <a:solidFill>
            <a:srgbClr val="1E5BFF"/>
          </a:solidFill>
          <a:ln w="12700">
            <a:solidFill>
              <a:srgbClr val="1E5BFF"/>
            </a:solidFill>
            <a:prstDash val="solid"/>
          </a:ln>
        </p:spPr>
      </p:sp>
      <p:sp>
        <p:nvSpPr>
          <p:cNvPr id="13" name="Text 11"/>
          <p:cNvSpPr/>
          <p:nvPr/>
        </p:nvSpPr>
        <p:spPr>
          <a:xfrm>
            <a:off x="978408" y="2039112"/>
            <a:ext cx="3108960" cy="256032"/>
          </a:xfrm>
          <a:prstGeom prst="rect">
            <a:avLst/>
          </a:prstGeom>
          <a:noFill/>
          <a:ln/>
        </p:spPr>
        <p:txBody>
          <a:bodyPr wrap="square" lIns="0" tIns="0" rIns="0" bIns="0" rtlCol="0" anchor="ctr"/>
          <a:lstStyle/>
          <a:p>
            <a:pPr indent="0" marL="0">
              <a:buNone/>
            </a:pPr>
            <a:r>
              <a:rPr lang="en-US" sz="1150" b="1" dirty="0">
                <a:solidFill>
                  <a:srgbClr val="111827"/>
                </a:solidFill>
              </a:rPr>
              <a:t>Fragmented workflow</a:t>
            </a:r>
            <a:endParaRPr lang="en-US" sz="1150" dirty="0"/>
          </a:p>
        </p:txBody>
      </p:sp>
      <p:sp>
        <p:nvSpPr>
          <p:cNvPr id="14" name="Text 12"/>
          <p:cNvSpPr/>
          <p:nvPr/>
        </p:nvSpPr>
        <p:spPr>
          <a:xfrm>
            <a:off x="978408" y="2404872"/>
            <a:ext cx="3108960" cy="594360"/>
          </a:xfrm>
          <a:prstGeom prst="rect">
            <a:avLst/>
          </a:prstGeom>
          <a:noFill/>
          <a:ln/>
        </p:spPr>
        <p:txBody>
          <a:bodyPr wrap="square" lIns="0" tIns="0" rIns="0" bIns="0" rtlCol="0" anchor="ctr">
            <a:normAutofit/>
          </a:bodyPr>
          <a:lstStyle/>
          <a:p>
            <a:pPr indent="0" marL="0">
              <a:buNone/>
            </a:pPr>
            <a:r>
              <a:rPr lang="en-US" sz="870" dirty="0">
                <a:solidFill>
                  <a:srgbClr val="4B5563"/>
                </a:solidFill>
              </a:rPr>
              <a:t>Prompting, coding, previewing, testing, file generation, deployment, and support are split across disconnected tools.</a:t>
            </a:r>
            <a:endParaRPr lang="en-US" sz="870" dirty="0"/>
          </a:p>
        </p:txBody>
      </p:sp>
      <p:sp>
        <p:nvSpPr>
          <p:cNvPr id="15" name="Shape 13"/>
          <p:cNvSpPr/>
          <p:nvPr/>
        </p:nvSpPr>
        <p:spPr>
          <a:xfrm>
            <a:off x="4462272" y="1874520"/>
            <a:ext cx="3474720" cy="1234440"/>
          </a:xfrm>
          <a:prstGeom prst="rect">
            <a:avLst/>
          </a:prstGeom>
          <a:solidFill>
            <a:srgbClr val="FFFFFF"/>
          </a:solidFill>
          <a:ln w="12700">
            <a:solidFill>
              <a:srgbClr val="D7DEE8">
                <a:alpha val="80000"/>
              </a:srgbClr>
            </a:solidFill>
            <a:prstDash val="solid"/>
          </a:ln>
        </p:spPr>
      </p:sp>
      <p:sp>
        <p:nvSpPr>
          <p:cNvPr id="16" name="Shape 14"/>
          <p:cNvSpPr/>
          <p:nvPr/>
        </p:nvSpPr>
        <p:spPr>
          <a:xfrm>
            <a:off x="4462272" y="1874520"/>
            <a:ext cx="73152" cy="1234440"/>
          </a:xfrm>
          <a:prstGeom prst="rect">
            <a:avLst/>
          </a:prstGeom>
          <a:solidFill>
            <a:srgbClr val="E11D48"/>
          </a:solidFill>
          <a:ln w="12700">
            <a:solidFill>
              <a:srgbClr val="E11D48"/>
            </a:solidFill>
            <a:prstDash val="solid"/>
          </a:ln>
        </p:spPr>
      </p:sp>
      <p:sp>
        <p:nvSpPr>
          <p:cNvPr id="17" name="Text 15"/>
          <p:cNvSpPr/>
          <p:nvPr/>
        </p:nvSpPr>
        <p:spPr>
          <a:xfrm>
            <a:off x="4690872" y="2039112"/>
            <a:ext cx="3108960" cy="256032"/>
          </a:xfrm>
          <a:prstGeom prst="rect">
            <a:avLst/>
          </a:prstGeom>
          <a:noFill/>
          <a:ln/>
        </p:spPr>
        <p:txBody>
          <a:bodyPr wrap="square" lIns="0" tIns="0" rIns="0" bIns="0" rtlCol="0" anchor="ctr"/>
          <a:lstStyle/>
          <a:p>
            <a:pPr indent="0" marL="0">
              <a:buNone/>
            </a:pPr>
            <a:r>
              <a:rPr lang="en-US" sz="1150" b="1" dirty="0">
                <a:solidFill>
                  <a:srgbClr val="111827"/>
                </a:solidFill>
              </a:rPr>
              <a:t>Low trust</a:t>
            </a:r>
            <a:endParaRPr lang="en-US" sz="1150" dirty="0"/>
          </a:p>
        </p:txBody>
      </p:sp>
      <p:sp>
        <p:nvSpPr>
          <p:cNvPr id="18" name="Text 16"/>
          <p:cNvSpPr/>
          <p:nvPr/>
        </p:nvSpPr>
        <p:spPr>
          <a:xfrm>
            <a:off x="4690872" y="2404872"/>
            <a:ext cx="3108960" cy="594360"/>
          </a:xfrm>
          <a:prstGeom prst="rect">
            <a:avLst/>
          </a:prstGeom>
          <a:noFill/>
          <a:ln/>
        </p:spPr>
        <p:txBody>
          <a:bodyPr wrap="square" lIns="0" tIns="0" rIns="0" bIns="0" rtlCol="0" anchor="ctr">
            <a:normAutofit/>
          </a:bodyPr>
          <a:lstStyle/>
          <a:p>
            <a:pPr indent="0" marL="0">
              <a:buNone/>
            </a:pPr>
            <a:r>
              <a:rPr lang="en-US" sz="870" dirty="0">
                <a:solidFill>
                  <a:srgbClr val="4B5563"/>
                </a:solidFill>
              </a:rPr>
              <a:t>Stack Overflow found more developers distrust AI output accuracy than trust it, creating review drag and adoption hesitation.</a:t>
            </a:r>
            <a:endParaRPr lang="en-US" sz="870" dirty="0"/>
          </a:p>
        </p:txBody>
      </p:sp>
      <p:sp>
        <p:nvSpPr>
          <p:cNvPr id="19" name="Shape 17"/>
          <p:cNvSpPr/>
          <p:nvPr/>
        </p:nvSpPr>
        <p:spPr>
          <a:xfrm>
            <a:off x="8174736" y="1874520"/>
            <a:ext cx="3474720" cy="1234440"/>
          </a:xfrm>
          <a:prstGeom prst="rect">
            <a:avLst/>
          </a:prstGeom>
          <a:solidFill>
            <a:srgbClr val="FFFFFF"/>
          </a:solidFill>
          <a:ln w="12700">
            <a:solidFill>
              <a:srgbClr val="D7DEE8">
                <a:alpha val="80000"/>
              </a:srgbClr>
            </a:solidFill>
            <a:prstDash val="solid"/>
          </a:ln>
        </p:spPr>
      </p:sp>
      <p:sp>
        <p:nvSpPr>
          <p:cNvPr id="20" name="Shape 18"/>
          <p:cNvSpPr/>
          <p:nvPr/>
        </p:nvSpPr>
        <p:spPr>
          <a:xfrm>
            <a:off x="8174736" y="1874520"/>
            <a:ext cx="73152" cy="1234440"/>
          </a:xfrm>
          <a:prstGeom prst="rect">
            <a:avLst/>
          </a:prstGeom>
          <a:solidFill>
            <a:srgbClr val="F59E0B"/>
          </a:solidFill>
          <a:ln w="12700">
            <a:solidFill>
              <a:srgbClr val="F59E0B"/>
            </a:solidFill>
            <a:prstDash val="solid"/>
          </a:ln>
        </p:spPr>
      </p:sp>
      <p:sp>
        <p:nvSpPr>
          <p:cNvPr id="21" name="Text 19"/>
          <p:cNvSpPr/>
          <p:nvPr/>
        </p:nvSpPr>
        <p:spPr>
          <a:xfrm>
            <a:off x="8403336" y="2039112"/>
            <a:ext cx="3108960" cy="256032"/>
          </a:xfrm>
          <a:prstGeom prst="rect">
            <a:avLst/>
          </a:prstGeom>
          <a:noFill/>
          <a:ln/>
        </p:spPr>
        <p:txBody>
          <a:bodyPr wrap="square" lIns="0" tIns="0" rIns="0" bIns="0" rtlCol="0" anchor="ctr"/>
          <a:lstStyle/>
          <a:p>
            <a:pPr indent="0" marL="0">
              <a:buNone/>
            </a:pPr>
            <a:r>
              <a:rPr lang="en-US" sz="1150" b="1" dirty="0">
                <a:solidFill>
                  <a:srgbClr val="111827"/>
                </a:solidFill>
              </a:rPr>
              <a:t>Pilot purgatory</a:t>
            </a:r>
            <a:endParaRPr lang="en-US" sz="1150" dirty="0"/>
          </a:p>
        </p:txBody>
      </p:sp>
      <p:sp>
        <p:nvSpPr>
          <p:cNvPr id="22" name="Text 20"/>
          <p:cNvSpPr/>
          <p:nvPr/>
        </p:nvSpPr>
        <p:spPr>
          <a:xfrm>
            <a:off x="8403336" y="2404872"/>
            <a:ext cx="3108960" cy="594360"/>
          </a:xfrm>
          <a:prstGeom prst="rect">
            <a:avLst/>
          </a:prstGeom>
          <a:noFill/>
          <a:ln/>
        </p:spPr>
        <p:txBody>
          <a:bodyPr wrap="square" lIns="0" tIns="0" rIns="0" bIns="0" rtlCol="0" anchor="ctr">
            <a:normAutofit/>
          </a:bodyPr>
          <a:lstStyle/>
          <a:p>
            <a:pPr indent="0" marL="0">
              <a:buNone/>
            </a:pPr>
            <a:r>
              <a:rPr lang="en-US" sz="870" dirty="0">
                <a:solidFill>
                  <a:srgbClr val="4B5563"/>
                </a:solidFill>
              </a:rPr>
              <a:t>McKinsey reports broad adoption but only about one-third of companies have begun to scale AI programs.</a:t>
            </a:r>
            <a:endParaRPr lang="en-US" sz="870" dirty="0"/>
          </a:p>
        </p:txBody>
      </p:sp>
      <p:sp>
        <p:nvSpPr>
          <p:cNvPr id="23" name="Text 21"/>
          <p:cNvSpPr/>
          <p:nvPr/>
        </p:nvSpPr>
        <p:spPr>
          <a:xfrm>
            <a:off x="914400" y="3794760"/>
            <a:ext cx="9966960" cy="1298448"/>
          </a:xfrm>
          <a:prstGeom prst="rect">
            <a:avLst/>
          </a:prstGeom>
          <a:noFill/>
          <a:ln/>
        </p:spPr>
        <p:txBody>
          <a:bodyPr wrap="square" lIns="254" tIns="254" rIns="254" bIns="254" rtlCol="0" anchor="t">
            <a:normAutofit/>
          </a:bodyPr>
          <a:lstStyle/>
          <a:p>
            <a:pPr marL="152400" indent="-152400">
              <a:spcAft>
                <a:spcPts val="800"/>
              </a:spcAft>
              <a:buSzPct val="100000"/>
              <a:buChar char="•"/>
            </a:pPr>
            <a:r>
              <a:rPr lang="en-US" sz="1250" dirty="0">
                <a:solidFill>
                  <a:srgbClr val="4B5563"/>
                </a:solidFill>
              </a:rPr>
              <a:t>Non-technical builders get prototypes but struggle with auth, data, payments, security, and maintainability.</a:t>
            </a:r>
            <a:endParaRPr lang="en-US" sz="1250" dirty="0"/>
          </a:p>
          <a:p>
            <a:pPr marL="152400" indent="-152400">
              <a:spcAft>
                <a:spcPts val="800"/>
              </a:spcAft>
              <a:buSzPct val="100000"/>
              <a:buChar char="•"/>
            </a:pPr>
            <a:r>
              <a:rPr lang="en-US" sz="1250" dirty="0">
                <a:solidFill>
                  <a:srgbClr val="4B5563"/>
                </a:solidFill>
              </a:rPr>
              <a:t>Technical teams gain speed in small tasks but lose time debugging opaque agent decisions.</a:t>
            </a:r>
            <a:endParaRPr lang="en-US" sz="1250" dirty="0"/>
          </a:p>
          <a:p>
            <a:pPr marL="152400" indent="-152400">
              <a:spcAft>
                <a:spcPts val="800"/>
              </a:spcAft>
              <a:buSzPct val="100000"/>
              <a:buChar char="•"/>
            </a:pPr>
            <a:r>
              <a:rPr lang="en-US" sz="1250" dirty="0">
                <a:solidFill>
                  <a:srgbClr val="4B5563"/>
                </a:solidFill>
              </a:rPr>
              <a:t>Enterprises need compliance, observability, and governance before agent-generated work can scale.</a:t>
            </a:r>
            <a:endParaRPr lang="en-US" sz="1250" dirty="0"/>
          </a:p>
          <a:p>
            <a:pPr marL="152400" indent="-152400">
              <a:spcAft>
                <a:spcPts val="800"/>
              </a:spcAft>
              <a:buSzPct val="100000"/>
              <a:buChar char="•"/>
            </a:pPr>
            <a:r>
              <a:rPr lang="en-US" sz="1250" dirty="0">
                <a:solidFill>
                  <a:srgbClr val="4B5563"/>
                </a:solidFill>
              </a:rPr>
              <a:t>Current builders optimize for first draft speed; customers increasingly need launch-ready systems.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75488" y="347472"/>
            <a:ext cx="201168" cy="201168"/>
          </a:xfrm>
          <a:prstGeom prst="rect">
            <a:avLst/>
          </a:prstGeom>
          <a:solidFill>
            <a:srgbClr val="1E5BFF"/>
          </a:solidFill>
          <a:ln w="12700">
            <a:solidFill>
              <a:srgbClr val="1E5BFF"/>
            </a:solidFill>
            <a:prstDash val="solid"/>
          </a:ln>
        </p:spPr>
      </p:sp>
      <p:sp>
        <p:nvSpPr>
          <p:cNvPr id="3" name="Shape 1"/>
          <p:cNvSpPr/>
          <p:nvPr/>
        </p:nvSpPr>
        <p:spPr>
          <a:xfrm>
            <a:off x="713232" y="347472"/>
            <a:ext cx="201168" cy="201168"/>
          </a:xfrm>
          <a:prstGeom prst="rect">
            <a:avLst/>
          </a:prstGeom>
          <a:solidFill>
            <a:srgbClr val="16B8C7"/>
          </a:solidFill>
          <a:ln w="12700">
            <a:solidFill>
              <a:srgbClr val="16B8C7"/>
            </a:solidFill>
            <a:prstDash val="solid"/>
          </a:ln>
        </p:spPr>
      </p:sp>
      <p:sp>
        <p:nvSpPr>
          <p:cNvPr id="4" name="Text 2"/>
          <p:cNvSpPr/>
          <p:nvPr/>
        </p:nvSpPr>
        <p:spPr>
          <a:xfrm>
            <a:off x="987552" y="310896"/>
            <a:ext cx="1097280" cy="228600"/>
          </a:xfrm>
          <a:prstGeom prst="rect">
            <a:avLst/>
          </a:prstGeom>
          <a:noFill/>
          <a:ln/>
        </p:spPr>
        <p:txBody>
          <a:bodyPr wrap="square" lIns="0" tIns="0" rIns="0" bIns="0" rtlCol="0" anchor="ctr"/>
          <a:lstStyle/>
          <a:p>
            <a:pPr indent="0" marL="0">
              <a:buNone/>
            </a:pPr>
            <a:r>
              <a:rPr lang="en-US" sz="1000" b="1" dirty="0">
                <a:solidFill>
                  <a:srgbClr val="111827"/>
                </a:solidFill>
              </a:rPr>
              <a:t>LokoAI</a:t>
            </a:r>
            <a:endParaRPr lang="en-US" sz="1000" dirty="0"/>
          </a:p>
        </p:txBody>
      </p:sp>
      <p:sp>
        <p:nvSpPr>
          <p:cNvPr id="5" name="Text 3"/>
          <p:cNvSpPr/>
          <p:nvPr/>
        </p:nvSpPr>
        <p:spPr>
          <a:xfrm>
            <a:off x="658368" y="713232"/>
            <a:ext cx="2651760" cy="164592"/>
          </a:xfrm>
          <a:prstGeom prst="rect">
            <a:avLst/>
          </a:prstGeom>
          <a:noFill/>
          <a:ln/>
        </p:spPr>
        <p:txBody>
          <a:bodyPr wrap="square" lIns="0" tIns="0" rIns="0" bIns="0" rtlCol="0" anchor="ctr"/>
          <a:lstStyle/>
          <a:p>
            <a:pPr indent="0" marL="0">
              <a:buNone/>
            </a:pPr>
            <a:r>
              <a:rPr lang="en-US" sz="750" b="1" dirty="0">
                <a:solidFill>
                  <a:srgbClr val="1E5BFF"/>
                </a:solidFill>
              </a:rPr>
              <a:t>MARKET</a:t>
            </a:r>
            <a:endParaRPr lang="en-US" sz="750" dirty="0"/>
          </a:p>
        </p:txBody>
      </p:sp>
      <p:sp>
        <p:nvSpPr>
          <p:cNvPr id="6" name="Text 4"/>
          <p:cNvSpPr/>
          <p:nvPr/>
        </p:nvSpPr>
        <p:spPr>
          <a:xfrm>
            <a:off x="658368" y="932688"/>
            <a:ext cx="10789920" cy="530352"/>
          </a:xfrm>
          <a:prstGeom prst="rect">
            <a:avLst/>
          </a:prstGeom>
          <a:noFill/>
          <a:ln/>
        </p:spPr>
        <p:txBody>
          <a:bodyPr wrap="square" lIns="0" tIns="0" rIns="0" bIns="0" rtlCol="0" anchor="ctr">
            <a:normAutofit/>
          </a:bodyPr>
          <a:lstStyle/>
          <a:p>
            <a:pPr indent="0" marL="0">
              <a:buNone/>
            </a:pPr>
            <a:r>
              <a:rPr lang="en-US" sz="2500" b="1" dirty="0">
                <a:solidFill>
                  <a:srgbClr val="111827"/>
                </a:solidFill>
                <a:latin typeface="Aptos Display" pitchFamily="34" charset="0"/>
                <a:ea typeface="Aptos Display" pitchFamily="34" charset="-122"/>
                <a:cs typeface="Aptos Display" pitchFamily="34" charset="-120"/>
              </a:rPr>
              <a:t>Market opportunity: AI software and application development platforms are expanding rapidly</a:t>
            </a:r>
            <a:endParaRPr lang="en-US" sz="2500" dirty="0"/>
          </a:p>
        </p:txBody>
      </p:sp>
      <p:sp>
        <p:nvSpPr>
          <p:cNvPr id="7" name="Shape 5"/>
          <p:cNvSpPr/>
          <p:nvPr/>
        </p:nvSpPr>
        <p:spPr>
          <a:xfrm>
            <a:off x="658368" y="1572768"/>
            <a:ext cx="1143000" cy="0"/>
          </a:xfrm>
          <a:prstGeom prst="line">
            <a:avLst/>
          </a:prstGeom>
          <a:noFill/>
          <a:ln w="25400">
            <a:solidFill>
              <a:srgbClr val="1E5BFF"/>
            </a:solidFill>
            <a:prstDash val="solid"/>
          </a:ln>
        </p:spPr>
      </p:sp>
      <p:sp>
        <p:nvSpPr>
          <p:cNvPr id="8" name="Text 6"/>
          <p:cNvSpPr/>
          <p:nvPr/>
        </p:nvSpPr>
        <p:spPr>
          <a:xfrm>
            <a:off x="475488" y="6473952"/>
            <a:ext cx="2011680" cy="164592"/>
          </a:xfrm>
          <a:prstGeom prst="rect">
            <a:avLst/>
          </a:prstGeom>
          <a:noFill/>
          <a:ln/>
        </p:spPr>
        <p:txBody>
          <a:bodyPr wrap="square" lIns="0" tIns="0" rIns="0" bIns="0" rtlCol="0" anchor="ctr"/>
          <a:lstStyle/>
          <a:p>
            <a:pPr indent="0" marL="0">
              <a:buNone/>
            </a:pPr>
            <a:r>
              <a:rPr lang="en-US" sz="700" dirty="0">
                <a:solidFill>
                  <a:srgbClr val="64748B"/>
                </a:solidFill>
              </a:rPr>
              <a:t>LokoAI confidential</a:t>
            </a:r>
            <a:endParaRPr lang="en-US" sz="700" dirty="0"/>
          </a:p>
        </p:txBody>
      </p:sp>
      <p:sp>
        <p:nvSpPr>
          <p:cNvPr id="9" name="Text 7"/>
          <p:cNvSpPr/>
          <p:nvPr/>
        </p:nvSpPr>
        <p:spPr>
          <a:xfrm>
            <a:off x="11201400" y="6446520"/>
            <a:ext cx="640080" cy="201168"/>
          </a:xfrm>
          <a:prstGeom prst="rect">
            <a:avLst/>
          </a:prstGeom>
          <a:noFill/>
          <a:ln/>
        </p:spPr>
        <p:txBody>
          <a:bodyPr wrap="square" lIns="0" tIns="0" rIns="0" bIns="0" rtlCol="0" anchor="ctr"/>
          <a:lstStyle/>
          <a:p>
            <a:pPr algn="r" indent="0" marL="0">
              <a:buNone/>
            </a:pPr>
            <a:r>
              <a:rPr lang="en-US" sz="800" b="1" dirty="0">
                <a:solidFill>
                  <a:srgbClr val="64748B"/>
                </a:solidFill>
              </a:rPr>
              <a:t>04</a:t>
            </a:r>
            <a:endParaRPr lang="en-US" sz="800" dirty="0"/>
          </a:p>
        </p:txBody>
      </p:sp>
      <p:sp>
        <p:nvSpPr>
          <p:cNvPr id="10" name="Text 8"/>
          <p:cNvSpPr/>
          <p:nvPr/>
        </p:nvSpPr>
        <p:spPr>
          <a:xfrm>
            <a:off x="2743200" y="6446520"/>
            <a:ext cx="6217920" cy="164592"/>
          </a:xfrm>
          <a:prstGeom prst="rect">
            <a:avLst/>
          </a:prstGeom>
          <a:noFill/>
          <a:ln/>
        </p:spPr>
        <p:txBody>
          <a:bodyPr wrap="square" lIns="0" tIns="0" rIns="0" bIns="0" rtlCol="0" anchor="ctr">
            <a:normAutofit/>
          </a:bodyPr>
          <a:lstStyle/>
          <a:p>
            <a:pPr algn="ctr" indent="0" marL="0">
              <a:buNone/>
            </a:pPr>
            <a:r>
              <a:rPr lang="en-US" sz="670" dirty="0">
                <a:solidFill>
                  <a:srgbClr val="7A8494"/>
                </a:solidFill>
              </a:rPr>
              <a:t>Source: Gartner AI Spending Forecast, May 2026</a:t>
            </a:r>
            <a:endParaRPr lang="en-US" sz="670" dirty="0"/>
          </a:p>
        </p:txBody>
      </p:sp>
      <p:sp>
        <p:nvSpPr>
          <p:cNvPr id="11" name="Shape 9"/>
          <p:cNvSpPr/>
          <p:nvPr/>
        </p:nvSpPr>
        <p:spPr>
          <a:xfrm>
            <a:off x="932688" y="3647182"/>
            <a:ext cx="1127760" cy="1016258"/>
          </a:xfrm>
          <a:prstGeom prst="rect">
            <a:avLst/>
          </a:prstGeom>
          <a:solidFill>
            <a:srgbClr val="1E5BFF"/>
          </a:solidFill>
          <a:ln w="12700">
            <a:solidFill>
              <a:srgbClr val="1E5BFF"/>
            </a:solidFill>
            <a:prstDash val="solid"/>
          </a:ln>
        </p:spPr>
      </p:sp>
      <p:sp>
        <p:nvSpPr>
          <p:cNvPr id="12" name="Text 10"/>
          <p:cNvSpPr/>
          <p:nvPr/>
        </p:nvSpPr>
        <p:spPr>
          <a:xfrm>
            <a:off x="886968" y="4754880"/>
            <a:ext cx="1310640" cy="164592"/>
          </a:xfrm>
          <a:prstGeom prst="rect">
            <a:avLst/>
          </a:prstGeom>
          <a:noFill/>
          <a:ln/>
        </p:spPr>
        <p:txBody>
          <a:bodyPr wrap="square" lIns="0" tIns="0" rIns="0" bIns="0" rtlCol="0" anchor="ctr"/>
          <a:lstStyle/>
          <a:p>
            <a:pPr algn="ctr" indent="0" marL="0">
              <a:buNone/>
            </a:pPr>
            <a:r>
              <a:rPr lang="en-US" sz="700" dirty="0">
                <a:solidFill>
                  <a:srgbClr val="4B5563"/>
                </a:solidFill>
              </a:rPr>
              <a:t>2025</a:t>
            </a:r>
            <a:endParaRPr lang="en-US" sz="700" dirty="0"/>
          </a:p>
        </p:txBody>
      </p:sp>
      <p:sp>
        <p:nvSpPr>
          <p:cNvPr id="13" name="Text 11"/>
          <p:cNvSpPr/>
          <p:nvPr/>
        </p:nvSpPr>
        <p:spPr>
          <a:xfrm>
            <a:off x="886968" y="3391150"/>
            <a:ext cx="1310640" cy="164592"/>
          </a:xfrm>
          <a:prstGeom prst="rect">
            <a:avLst/>
          </a:prstGeom>
          <a:noFill/>
          <a:ln/>
        </p:spPr>
        <p:txBody>
          <a:bodyPr wrap="square" lIns="0" tIns="0" rIns="0" bIns="0" rtlCol="0" anchor="ctr"/>
          <a:lstStyle/>
          <a:p>
            <a:pPr algn="ctr" indent="0" marL="0">
              <a:buNone/>
            </a:pPr>
            <a:r>
              <a:rPr lang="en-US" sz="700" b="1" dirty="0">
                <a:solidFill>
                  <a:srgbClr val="111827"/>
                </a:solidFill>
              </a:rPr>
              <a:t>$283B</a:t>
            </a:r>
            <a:endParaRPr lang="en-US" sz="700" dirty="0"/>
          </a:p>
        </p:txBody>
      </p:sp>
      <p:sp>
        <p:nvSpPr>
          <p:cNvPr id="14" name="Shape 12"/>
          <p:cNvSpPr/>
          <p:nvPr/>
        </p:nvSpPr>
        <p:spPr>
          <a:xfrm>
            <a:off x="2243328" y="3035416"/>
            <a:ext cx="1127760" cy="1628024"/>
          </a:xfrm>
          <a:prstGeom prst="rect">
            <a:avLst/>
          </a:prstGeom>
          <a:solidFill>
            <a:srgbClr val="16B8C7"/>
          </a:solidFill>
          <a:ln w="12700">
            <a:solidFill>
              <a:srgbClr val="16B8C7"/>
            </a:solidFill>
            <a:prstDash val="solid"/>
          </a:ln>
        </p:spPr>
      </p:sp>
      <p:sp>
        <p:nvSpPr>
          <p:cNvPr id="15" name="Text 13"/>
          <p:cNvSpPr/>
          <p:nvPr/>
        </p:nvSpPr>
        <p:spPr>
          <a:xfrm>
            <a:off x="2197608" y="4754880"/>
            <a:ext cx="1310640" cy="164592"/>
          </a:xfrm>
          <a:prstGeom prst="rect">
            <a:avLst/>
          </a:prstGeom>
          <a:noFill/>
          <a:ln/>
        </p:spPr>
        <p:txBody>
          <a:bodyPr wrap="square" lIns="0" tIns="0" rIns="0" bIns="0" rtlCol="0" anchor="ctr"/>
          <a:lstStyle/>
          <a:p>
            <a:pPr algn="ctr" indent="0" marL="0">
              <a:buNone/>
            </a:pPr>
            <a:r>
              <a:rPr lang="en-US" sz="700" dirty="0">
                <a:solidFill>
                  <a:srgbClr val="4B5563"/>
                </a:solidFill>
              </a:rPr>
              <a:t>2026</a:t>
            </a:r>
            <a:endParaRPr lang="en-US" sz="700" dirty="0"/>
          </a:p>
        </p:txBody>
      </p:sp>
      <p:sp>
        <p:nvSpPr>
          <p:cNvPr id="16" name="Text 14"/>
          <p:cNvSpPr/>
          <p:nvPr/>
        </p:nvSpPr>
        <p:spPr>
          <a:xfrm>
            <a:off x="2197608" y="2779384"/>
            <a:ext cx="1310640" cy="164592"/>
          </a:xfrm>
          <a:prstGeom prst="rect">
            <a:avLst/>
          </a:prstGeom>
          <a:noFill/>
          <a:ln/>
        </p:spPr>
        <p:txBody>
          <a:bodyPr wrap="square" lIns="0" tIns="0" rIns="0" bIns="0" rtlCol="0" anchor="ctr"/>
          <a:lstStyle/>
          <a:p>
            <a:pPr algn="ctr" indent="0" marL="0">
              <a:buNone/>
            </a:pPr>
            <a:r>
              <a:rPr lang="en-US" sz="700" b="1" dirty="0">
                <a:solidFill>
                  <a:srgbClr val="111827"/>
                </a:solidFill>
              </a:rPr>
              <a:t>$453B</a:t>
            </a:r>
            <a:endParaRPr lang="en-US" sz="700" dirty="0"/>
          </a:p>
        </p:txBody>
      </p:sp>
      <p:sp>
        <p:nvSpPr>
          <p:cNvPr id="17" name="Shape 15"/>
          <p:cNvSpPr/>
          <p:nvPr/>
        </p:nvSpPr>
        <p:spPr>
          <a:xfrm>
            <a:off x="3553968" y="2370125"/>
            <a:ext cx="1127760" cy="2293315"/>
          </a:xfrm>
          <a:prstGeom prst="rect">
            <a:avLst/>
          </a:prstGeom>
          <a:solidFill>
            <a:srgbClr val="10A37F"/>
          </a:solidFill>
          <a:ln w="12700">
            <a:solidFill>
              <a:srgbClr val="10A37F"/>
            </a:solidFill>
            <a:prstDash val="solid"/>
          </a:ln>
        </p:spPr>
      </p:sp>
      <p:sp>
        <p:nvSpPr>
          <p:cNvPr id="18" name="Text 16"/>
          <p:cNvSpPr/>
          <p:nvPr/>
        </p:nvSpPr>
        <p:spPr>
          <a:xfrm>
            <a:off x="3508248" y="4754880"/>
            <a:ext cx="1310640" cy="164592"/>
          </a:xfrm>
          <a:prstGeom prst="rect">
            <a:avLst/>
          </a:prstGeom>
          <a:noFill/>
          <a:ln/>
        </p:spPr>
        <p:txBody>
          <a:bodyPr wrap="square" lIns="0" tIns="0" rIns="0" bIns="0" rtlCol="0" anchor="ctr"/>
          <a:lstStyle/>
          <a:p>
            <a:pPr algn="ctr" indent="0" marL="0">
              <a:buNone/>
            </a:pPr>
            <a:r>
              <a:rPr lang="en-US" sz="700" dirty="0">
                <a:solidFill>
                  <a:srgbClr val="4B5563"/>
                </a:solidFill>
              </a:rPr>
              <a:t>2027</a:t>
            </a:r>
            <a:endParaRPr lang="en-US" sz="700" dirty="0"/>
          </a:p>
        </p:txBody>
      </p:sp>
      <p:sp>
        <p:nvSpPr>
          <p:cNvPr id="19" name="Text 17"/>
          <p:cNvSpPr/>
          <p:nvPr/>
        </p:nvSpPr>
        <p:spPr>
          <a:xfrm>
            <a:off x="3508248" y="2114093"/>
            <a:ext cx="1310640" cy="164592"/>
          </a:xfrm>
          <a:prstGeom prst="rect">
            <a:avLst/>
          </a:prstGeom>
          <a:noFill/>
          <a:ln/>
        </p:spPr>
        <p:txBody>
          <a:bodyPr wrap="square" lIns="0" tIns="0" rIns="0" bIns="0" rtlCol="0" anchor="ctr"/>
          <a:lstStyle/>
          <a:p>
            <a:pPr algn="ctr" indent="0" marL="0">
              <a:buNone/>
            </a:pPr>
            <a:r>
              <a:rPr lang="en-US" sz="700" b="1" dirty="0">
                <a:solidFill>
                  <a:srgbClr val="111827"/>
                </a:solidFill>
              </a:rPr>
              <a:t>$638B</a:t>
            </a:r>
            <a:endParaRPr lang="en-US" sz="700" dirty="0"/>
          </a:p>
        </p:txBody>
      </p:sp>
      <p:sp>
        <p:nvSpPr>
          <p:cNvPr id="20" name="Text 18"/>
          <p:cNvSpPr/>
          <p:nvPr/>
        </p:nvSpPr>
        <p:spPr>
          <a:xfrm>
            <a:off x="960120" y="1783080"/>
            <a:ext cx="3200400" cy="228600"/>
          </a:xfrm>
          <a:prstGeom prst="rect">
            <a:avLst/>
          </a:prstGeom>
          <a:noFill/>
          <a:ln/>
        </p:spPr>
        <p:txBody>
          <a:bodyPr wrap="square" lIns="0" tIns="0" rIns="0" bIns="0" rtlCol="0" anchor="ctr"/>
          <a:lstStyle/>
          <a:p>
            <a:pPr indent="0" marL="0">
              <a:buNone/>
            </a:pPr>
            <a:r>
              <a:rPr lang="en-US" sz="1100" b="1" dirty="0">
                <a:solidFill>
                  <a:srgbClr val="111827"/>
                </a:solidFill>
              </a:rPr>
              <a:t>AI software spending forecast</a:t>
            </a:r>
            <a:endParaRPr lang="en-US" sz="1100" dirty="0"/>
          </a:p>
        </p:txBody>
      </p:sp>
      <p:sp>
        <p:nvSpPr>
          <p:cNvPr id="21" name="Text 19"/>
          <p:cNvSpPr/>
          <p:nvPr/>
        </p:nvSpPr>
        <p:spPr>
          <a:xfrm>
            <a:off x="5486400" y="1947672"/>
            <a:ext cx="1920240" cy="256032"/>
          </a:xfrm>
          <a:prstGeom prst="rect">
            <a:avLst/>
          </a:prstGeom>
          <a:noFill/>
          <a:ln/>
        </p:spPr>
        <p:txBody>
          <a:bodyPr wrap="square" lIns="0" tIns="0" rIns="0" bIns="0" rtlCol="0" anchor="ctr">
            <a:normAutofit/>
          </a:bodyPr>
          <a:lstStyle/>
          <a:p>
            <a:pPr indent="0" marL="0">
              <a:buNone/>
            </a:pPr>
            <a:r>
              <a:rPr lang="en-US" sz="800" dirty="0">
                <a:solidFill>
                  <a:srgbClr val="4B5563"/>
                </a:solidFill>
              </a:rPr>
              <a:t>AI Infrastructure</a:t>
            </a:r>
            <a:endParaRPr lang="en-US" sz="800" dirty="0"/>
          </a:p>
        </p:txBody>
      </p:sp>
      <p:sp>
        <p:nvSpPr>
          <p:cNvPr id="22" name="Shape 20"/>
          <p:cNvSpPr/>
          <p:nvPr/>
        </p:nvSpPr>
        <p:spPr>
          <a:xfrm>
            <a:off x="7406640" y="1993392"/>
            <a:ext cx="2880360" cy="173736"/>
          </a:xfrm>
          <a:prstGeom prst="rect">
            <a:avLst/>
          </a:prstGeom>
          <a:solidFill>
            <a:srgbClr val="E7ECF3"/>
          </a:solidFill>
          <a:ln w="12700">
            <a:solidFill>
              <a:srgbClr val="E7ECF3"/>
            </a:solidFill>
            <a:prstDash val="solid"/>
          </a:ln>
        </p:spPr>
      </p:sp>
      <p:sp>
        <p:nvSpPr>
          <p:cNvPr id="23" name="Shape 21"/>
          <p:cNvSpPr/>
          <p:nvPr/>
        </p:nvSpPr>
        <p:spPr>
          <a:xfrm>
            <a:off x="7406640" y="1993392"/>
            <a:ext cx="2748824" cy="173736"/>
          </a:xfrm>
          <a:prstGeom prst="rect">
            <a:avLst/>
          </a:prstGeom>
          <a:solidFill>
            <a:srgbClr val="0B1220"/>
          </a:solidFill>
          <a:ln w="12700">
            <a:solidFill>
              <a:srgbClr val="0B1220"/>
            </a:solidFill>
            <a:prstDash val="solid"/>
          </a:ln>
        </p:spPr>
      </p:sp>
      <p:sp>
        <p:nvSpPr>
          <p:cNvPr id="24" name="Text 22"/>
          <p:cNvSpPr/>
          <p:nvPr/>
        </p:nvSpPr>
        <p:spPr>
          <a:xfrm>
            <a:off x="10378440" y="1947672"/>
            <a:ext cx="685800" cy="201168"/>
          </a:xfrm>
          <a:prstGeom prst="rect">
            <a:avLst/>
          </a:prstGeom>
          <a:noFill/>
          <a:ln/>
        </p:spPr>
        <p:txBody>
          <a:bodyPr wrap="square" lIns="0" tIns="0" rIns="0" bIns="0" rtlCol="0" anchor="ctr"/>
          <a:lstStyle/>
          <a:p>
            <a:pPr indent="0" marL="0">
              <a:buNone/>
            </a:pPr>
            <a:r>
              <a:rPr lang="en-US" sz="800" b="1" dirty="0">
                <a:solidFill>
                  <a:srgbClr val="111827"/>
                </a:solidFill>
              </a:rPr>
              <a:t>1431.5B</a:t>
            </a:r>
            <a:endParaRPr lang="en-US" sz="800" dirty="0"/>
          </a:p>
        </p:txBody>
      </p:sp>
      <p:sp>
        <p:nvSpPr>
          <p:cNvPr id="25" name="Text 23"/>
          <p:cNvSpPr/>
          <p:nvPr/>
        </p:nvSpPr>
        <p:spPr>
          <a:xfrm>
            <a:off x="5486400" y="2435352"/>
            <a:ext cx="1920240" cy="256032"/>
          </a:xfrm>
          <a:prstGeom prst="rect">
            <a:avLst/>
          </a:prstGeom>
          <a:noFill/>
          <a:ln/>
        </p:spPr>
        <p:txBody>
          <a:bodyPr wrap="square" lIns="0" tIns="0" rIns="0" bIns="0" rtlCol="0" anchor="ctr">
            <a:normAutofit/>
          </a:bodyPr>
          <a:lstStyle/>
          <a:p>
            <a:pPr indent="0" marL="0">
              <a:buNone/>
            </a:pPr>
            <a:r>
              <a:rPr lang="en-US" sz="800" dirty="0">
                <a:solidFill>
                  <a:srgbClr val="4B5563"/>
                </a:solidFill>
              </a:rPr>
              <a:t>AI Services</a:t>
            </a:r>
            <a:endParaRPr lang="en-US" sz="800" dirty="0"/>
          </a:p>
        </p:txBody>
      </p:sp>
      <p:sp>
        <p:nvSpPr>
          <p:cNvPr id="26" name="Shape 24"/>
          <p:cNvSpPr/>
          <p:nvPr/>
        </p:nvSpPr>
        <p:spPr>
          <a:xfrm>
            <a:off x="7406640" y="2481072"/>
            <a:ext cx="2880360" cy="173736"/>
          </a:xfrm>
          <a:prstGeom prst="rect">
            <a:avLst/>
          </a:prstGeom>
          <a:solidFill>
            <a:srgbClr val="E7ECF3"/>
          </a:solidFill>
          <a:ln w="12700">
            <a:solidFill>
              <a:srgbClr val="E7ECF3"/>
            </a:solidFill>
            <a:prstDash val="solid"/>
          </a:ln>
        </p:spPr>
      </p:sp>
      <p:sp>
        <p:nvSpPr>
          <p:cNvPr id="27" name="Shape 25"/>
          <p:cNvSpPr/>
          <p:nvPr/>
        </p:nvSpPr>
        <p:spPr>
          <a:xfrm>
            <a:off x="7406640" y="2481072"/>
            <a:ext cx="1124301" cy="173736"/>
          </a:xfrm>
          <a:prstGeom prst="rect">
            <a:avLst/>
          </a:prstGeom>
          <a:solidFill>
            <a:srgbClr val="1E5BFF"/>
          </a:solidFill>
          <a:ln w="12700">
            <a:solidFill>
              <a:srgbClr val="1E5BFF"/>
            </a:solidFill>
            <a:prstDash val="solid"/>
          </a:ln>
        </p:spPr>
      </p:sp>
      <p:sp>
        <p:nvSpPr>
          <p:cNvPr id="28" name="Text 26"/>
          <p:cNvSpPr/>
          <p:nvPr/>
        </p:nvSpPr>
        <p:spPr>
          <a:xfrm>
            <a:off x="10378440" y="2435352"/>
            <a:ext cx="685800" cy="201168"/>
          </a:xfrm>
          <a:prstGeom prst="rect">
            <a:avLst/>
          </a:prstGeom>
          <a:noFill/>
          <a:ln/>
        </p:spPr>
        <p:txBody>
          <a:bodyPr wrap="square" lIns="0" tIns="0" rIns="0" bIns="0" rtlCol="0" anchor="ctr"/>
          <a:lstStyle/>
          <a:p>
            <a:pPr indent="0" marL="0">
              <a:buNone/>
            </a:pPr>
            <a:r>
              <a:rPr lang="en-US" sz="800" b="1" dirty="0">
                <a:solidFill>
                  <a:srgbClr val="111827"/>
                </a:solidFill>
              </a:rPr>
              <a:t>585.5B</a:t>
            </a:r>
            <a:endParaRPr lang="en-US" sz="800" dirty="0"/>
          </a:p>
        </p:txBody>
      </p:sp>
      <p:sp>
        <p:nvSpPr>
          <p:cNvPr id="29" name="Text 27"/>
          <p:cNvSpPr/>
          <p:nvPr/>
        </p:nvSpPr>
        <p:spPr>
          <a:xfrm>
            <a:off x="5486400" y="2923032"/>
            <a:ext cx="1920240" cy="256032"/>
          </a:xfrm>
          <a:prstGeom prst="rect">
            <a:avLst/>
          </a:prstGeom>
          <a:noFill/>
          <a:ln/>
        </p:spPr>
        <p:txBody>
          <a:bodyPr wrap="square" lIns="0" tIns="0" rIns="0" bIns="0" rtlCol="0" anchor="ctr">
            <a:normAutofit/>
          </a:bodyPr>
          <a:lstStyle/>
          <a:p>
            <a:pPr indent="0" marL="0">
              <a:buNone/>
            </a:pPr>
            <a:r>
              <a:rPr lang="en-US" sz="800" b="1" dirty="0">
                <a:solidFill>
                  <a:srgbClr val="4B5563"/>
                </a:solidFill>
              </a:rPr>
              <a:t>AI Software</a:t>
            </a:r>
            <a:endParaRPr lang="en-US" sz="800" dirty="0"/>
          </a:p>
        </p:txBody>
      </p:sp>
      <p:sp>
        <p:nvSpPr>
          <p:cNvPr id="30" name="Shape 28"/>
          <p:cNvSpPr/>
          <p:nvPr/>
        </p:nvSpPr>
        <p:spPr>
          <a:xfrm>
            <a:off x="7406640" y="2968752"/>
            <a:ext cx="2880360" cy="173736"/>
          </a:xfrm>
          <a:prstGeom prst="rect">
            <a:avLst/>
          </a:prstGeom>
          <a:solidFill>
            <a:srgbClr val="E7ECF3"/>
          </a:solidFill>
          <a:ln w="12700">
            <a:solidFill>
              <a:srgbClr val="E7ECF3"/>
            </a:solidFill>
            <a:prstDash val="solid"/>
          </a:ln>
        </p:spPr>
      </p:sp>
      <p:sp>
        <p:nvSpPr>
          <p:cNvPr id="31" name="Shape 29"/>
          <p:cNvSpPr/>
          <p:nvPr/>
        </p:nvSpPr>
        <p:spPr>
          <a:xfrm>
            <a:off x="7406640" y="2968752"/>
            <a:ext cx="870253" cy="173736"/>
          </a:xfrm>
          <a:prstGeom prst="rect">
            <a:avLst/>
          </a:prstGeom>
          <a:solidFill>
            <a:srgbClr val="16B8C7"/>
          </a:solidFill>
          <a:ln w="12700">
            <a:solidFill>
              <a:srgbClr val="16B8C7"/>
            </a:solidFill>
            <a:prstDash val="solid"/>
          </a:ln>
        </p:spPr>
      </p:sp>
      <p:sp>
        <p:nvSpPr>
          <p:cNvPr id="32" name="Text 30"/>
          <p:cNvSpPr/>
          <p:nvPr/>
        </p:nvSpPr>
        <p:spPr>
          <a:xfrm>
            <a:off x="10378440" y="2923032"/>
            <a:ext cx="685800" cy="201168"/>
          </a:xfrm>
          <a:prstGeom prst="rect">
            <a:avLst/>
          </a:prstGeom>
          <a:noFill/>
          <a:ln/>
        </p:spPr>
        <p:txBody>
          <a:bodyPr wrap="square" lIns="0" tIns="0" rIns="0" bIns="0" rtlCol="0" anchor="ctr"/>
          <a:lstStyle/>
          <a:p>
            <a:pPr indent="0" marL="0">
              <a:buNone/>
            </a:pPr>
            <a:r>
              <a:rPr lang="en-US" sz="800" b="1" dirty="0">
                <a:solidFill>
                  <a:srgbClr val="111827"/>
                </a:solidFill>
              </a:rPr>
              <a:t>453.2B</a:t>
            </a:r>
            <a:endParaRPr lang="en-US" sz="800" dirty="0"/>
          </a:p>
        </p:txBody>
      </p:sp>
      <p:sp>
        <p:nvSpPr>
          <p:cNvPr id="33" name="Text 31"/>
          <p:cNvSpPr/>
          <p:nvPr/>
        </p:nvSpPr>
        <p:spPr>
          <a:xfrm>
            <a:off x="5486400" y="3410712"/>
            <a:ext cx="1920240" cy="256032"/>
          </a:xfrm>
          <a:prstGeom prst="rect">
            <a:avLst/>
          </a:prstGeom>
          <a:noFill/>
          <a:ln/>
        </p:spPr>
        <p:txBody>
          <a:bodyPr wrap="square" lIns="0" tIns="0" rIns="0" bIns="0" rtlCol="0" anchor="ctr">
            <a:normAutofit/>
          </a:bodyPr>
          <a:lstStyle/>
          <a:p>
            <a:pPr indent="0" marL="0">
              <a:buNone/>
            </a:pPr>
            <a:r>
              <a:rPr lang="en-US" sz="800" dirty="0">
                <a:solidFill>
                  <a:srgbClr val="4B5563"/>
                </a:solidFill>
              </a:rPr>
              <a:t>AI Cybersecurity</a:t>
            </a:r>
            <a:endParaRPr lang="en-US" sz="800" dirty="0"/>
          </a:p>
        </p:txBody>
      </p:sp>
      <p:sp>
        <p:nvSpPr>
          <p:cNvPr id="34" name="Shape 32"/>
          <p:cNvSpPr/>
          <p:nvPr/>
        </p:nvSpPr>
        <p:spPr>
          <a:xfrm>
            <a:off x="7406640" y="3456432"/>
            <a:ext cx="2880360" cy="173736"/>
          </a:xfrm>
          <a:prstGeom prst="rect">
            <a:avLst/>
          </a:prstGeom>
          <a:solidFill>
            <a:srgbClr val="E7ECF3"/>
          </a:solidFill>
          <a:ln w="12700">
            <a:solidFill>
              <a:srgbClr val="E7ECF3"/>
            </a:solidFill>
            <a:prstDash val="solid"/>
          </a:ln>
        </p:spPr>
      </p:sp>
      <p:sp>
        <p:nvSpPr>
          <p:cNvPr id="35" name="Shape 33"/>
          <p:cNvSpPr/>
          <p:nvPr/>
        </p:nvSpPr>
        <p:spPr>
          <a:xfrm>
            <a:off x="7406640" y="3456432"/>
            <a:ext cx="98508" cy="173736"/>
          </a:xfrm>
          <a:prstGeom prst="rect">
            <a:avLst/>
          </a:prstGeom>
          <a:solidFill>
            <a:srgbClr val="F59E0B"/>
          </a:solidFill>
          <a:ln w="12700">
            <a:solidFill>
              <a:srgbClr val="F59E0B"/>
            </a:solidFill>
            <a:prstDash val="solid"/>
          </a:ln>
        </p:spPr>
      </p:sp>
      <p:sp>
        <p:nvSpPr>
          <p:cNvPr id="36" name="Text 34"/>
          <p:cNvSpPr/>
          <p:nvPr/>
        </p:nvSpPr>
        <p:spPr>
          <a:xfrm>
            <a:off x="10378440" y="3410712"/>
            <a:ext cx="685800" cy="201168"/>
          </a:xfrm>
          <a:prstGeom prst="rect">
            <a:avLst/>
          </a:prstGeom>
          <a:noFill/>
          <a:ln/>
        </p:spPr>
        <p:txBody>
          <a:bodyPr wrap="square" lIns="0" tIns="0" rIns="0" bIns="0" rtlCol="0" anchor="ctr"/>
          <a:lstStyle/>
          <a:p>
            <a:pPr indent="0" marL="0">
              <a:buNone/>
            </a:pPr>
            <a:r>
              <a:rPr lang="en-US" sz="800" b="1" dirty="0">
                <a:solidFill>
                  <a:srgbClr val="111827"/>
                </a:solidFill>
              </a:rPr>
              <a:t>51.3B</a:t>
            </a:r>
            <a:endParaRPr lang="en-US" sz="800" dirty="0"/>
          </a:p>
        </p:txBody>
      </p:sp>
      <p:sp>
        <p:nvSpPr>
          <p:cNvPr id="37" name="Text 35"/>
          <p:cNvSpPr/>
          <p:nvPr/>
        </p:nvSpPr>
        <p:spPr>
          <a:xfrm>
            <a:off x="5486400" y="3898392"/>
            <a:ext cx="1920240" cy="256032"/>
          </a:xfrm>
          <a:prstGeom prst="rect">
            <a:avLst/>
          </a:prstGeom>
          <a:noFill/>
          <a:ln/>
        </p:spPr>
        <p:txBody>
          <a:bodyPr wrap="square" lIns="0" tIns="0" rIns="0" bIns="0" rtlCol="0" anchor="ctr">
            <a:normAutofit/>
          </a:bodyPr>
          <a:lstStyle/>
          <a:p>
            <a:pPr indent="0" marL="0">
              <a:buNone/>
            </a:pPr>
            <a:r>
              <a:rPr lang="en-US" sz="800" dirty="0">
                <a:solidFill>
                  <a:srgbClr val="4B5563"/>
                </a:solidFill>
              </a:rPr>
              <a:t>AI Models</a:t>
            </a:r>
            <a:endParaRPr lang="en-US" sz="800" dirty="0"/>
          </a:p>
        </p:txBody>
      </p:sp>
      <p:sp>
        <p:nvSpPr>
          <p:cNvPr id="38" name="Shape 36"/>
          <p:cNvSpPr/>
          <p:nvPr/>
        </p:nvSpPr>
        <p:spPr>
          <a:xfrm>
            <a:off x="7406640" y="3944112"/>
            <a:ext cx="2880360" cy="173736"/>
          </a:xfrm>
          <a:prstGeom prst="rect">
            <a:avLst/>
          </a:prstGeom>
          <a:solidFill>
            <a:srgbClr val="E7ECF3"/>
          </a:solidFill>
          <a:ln w="12700">
            <a:solidFill>
              <a:srgbClr val="E7ECF3"/>
            </a:solidFill>
            <a:prstDash val="solid"/>
          </a:ln>
        </p:spPr>
      </p:sp>
      <p:sp>
        <p:nvSpPr>
          <p:cNvPr id="39" name="Shape 37"/>
          <p:cNvSpPr/>
          <p:nvPr/>
        </p:nvSpPr>
        <p:spPr>
          <a:xfrm>
            <a:off x="7406640" y="3944112"/>
            <a:ext cx="73152" cy="173736"/>
          </a:xfrm>
          <a:prstGeom prst="rect">
            <a:avLst/>
          </a:prstGeom>
          <a:solidFill>
            <a:srgbClr val="10A37F"/>
          </a:solidFill>
          <a:ln w="12700">
            <a:solidFill>
              <a:srgbClr val="10A37F"/>
            </a:solidFill>
            <a:prstDash val="solid"/>
          </a:ln>
        </p:spPr>
      </p:sp>
      <p:sp>
        <p:nvSpPr>
          <p:cNvPr id="40" name="Text 38"/>
          <p:cNvSpPr/>
          <p:nvPr/>
        </p:nvSpPr>
        <p:spPr>
          <a:xfrm>
            <a:off x="10378440" y="3898392"/>
            <a:ext cx="685800" cy="201168"/>
          </a:xfrm>
          <a:prstGeom prst="rect">
            <a:avLst/>
          </a:prstGeom>
          <a:noFill/>
          <a:ln/>
        </p:spPr>
        <p:txBody>
          <a:bodyPr wrap="square" lIns="0" tIns="0" rIns="0" bIns="0" rtlCol="0" anchor="ctr"/>
          <a:lstStyle/>
          <a:p>
            <a:pPr indent="0" marL="0">
              <a:buNone/>
            </a:pPr>
            <a:r>
              <a:rPr lang="en-US" sz="800" b="1" dirty="0">
                <a:solidFill>
                  <a:srgbClr val="111827"/>
                </a:solidFill>
              </a:rPr>
              <a:t>32.6B</a:t>
            </a:r>
            <a:endParaRPr lang="en-US" sz="800" dirty="0"/>
          </a:p>
        </p:txBody>
      </p:sp>
      <p:sp>
        <p:nvSpPr>
          <p:cNvPr id="41" name="Text 39"/>
          <p:cNvSpPr/>
          <p:nvPr/>
        </p:nvSpPr>
        <p:spPr>
          <a:xfrm>
            <a:off x="5486400" y="4386072"/>
            <a:ext cx="1920240" cy="256032"/>
          </a:xfrm>
          <a:prstGeom prst="rect">
            <a:avLst/>
          </a:prstGeom>
          <a:noFill/>
          <a:ln/>
        </p:spPr>
        <p:txBody>
          <a:bodyPr wrap="square" lIns="0" tIns="0" rIns="0" bIns="0" rtlCol="0" anchor="ctr">
            <a:normAutofit/>
          </a:bodyPr>
          <a:lstStyle/>
          <a:p>
            <a:pPr indent="0" marL="0">
              <a:buNone/>
            </a:pPr>
            <a:r>
              <a:rPr lang="en-US" sz="800" dirty="0">
                <a:solidFill>
                  <a:srgbClr val="4B5563"/>
                </a:solidFill>
              </a:rPr>
              <a:t>AI App Dev Platforms</a:t>
            </a:r>
            <a:endParaRPr lang="en-US" sz="800" dirty="0"/>
          </a:p>
        </p:txBody>
      </p:sp>
      <p:sp>
        <p:nvSpPr>
          <p:cNvPr id="42" name="Shape 40"/>
          <p:cNvSpPr/>
          <p:nvPr/>
        </p:nvSpPr>
        <p:spPr>
          <a:xfrm>
            <a:off x="7406640" y="4431792"/>
            <a:ext cx="2880360" cy="173736"/>
          </a:xfrm>
          <a:prstGeom prst="rect">
            <a:avLst/>
          </a:prstGeom>
          <a:solidFill>
            <a:srgbClr val="E7ECF3"/>
          </a:solidFill>
          <a:ln w="12700">
            <a:solidFill>
              <a:srgbClr val="E7ECF3"/>
            </a:solidFill>
            <a:prstDash val="solid"/>
          </a:ln>
        </p:spPr>
      </p:sp>
      <p:sp>
        <p:nvSpPr>
          <p:cNvPr id="43" name="Shape 41"/>
          <p:cNvSpPr/>
          <p:nvPr/>
        </p:nvSpPr>
        <p:spPr>
          <a:xfrm>
            <a:off x="7406640" y="4431792"/>
            <a:ext cx="73152" cy="173736"/>
          </a:xfrm>
          <a:prstGeom prst="rect">
            <a:avLst/>
          </a:prstGeom>
          <a:solidFill>
            <a:srgbClr val="E11D48"/>
          </a:solidFill>
          <a:ln w="12700">
            <a:solidFill>
              <a:srgbClr val="E11D48"/>
            </a:solidFill>
            <a:prstDash val="solid"/>
          </a:ln>
        </p:spPr>
      </p:sp>
      <p:sp>
        <p:nvSpPr>
          <p:cNvPr id="44" name="Text 42"/>
          <p:cNvSpPr/>
          <p:nvPr/>
        </p:nvSpPr>
        <p:spPr>
          <a:xfrm>
            <a:off x="10378440" y="4386072"/>
            <a:ext cx="685800" cy="201168"/>
          </a:xfrm>
          <a:prstGeom prst="rect">
            <a:avLst/>
          </a:prstGeom>
          <a:noFill/>
          <a:ln/>
        </p:spPr>
        <p:txBody>
          <a:bodyPr wrap="square" lIns="0" tIns="0" rIns="0" bIns="0" rtlCol="0" anchor="ctr"/>
          <a:lstStyle/>
          <a:p>
            <a:pPr indent="0" marL="0">
              <a:buNone/>
            </a:pPr>
            <a:r>
              <a:rPr lang="en-US" sz="800" b="1" dirty="0">
                <a:solidFill>
                  <a:srgbClr val="111827"/>
                </a:solidFill>
              </a:rPr>
              <a:t>8.4B</a:t>
            </a:r>
            <a:endParaRPr lang="en-US" sz="800" dirty="0"/>
          </a:p>
        </p:txBody>
      </p:sp>
      <p:sp>
        <p:nvSpPr>
          <p:cNvPr id="45" name="Shape 43"/>
          <p:cNvSpPr/>
          <p:nvPr/>
        </p:nvSpPr>
        <p:spPr>
          <a:xfrm>
            <a:off x="868680" y="5257800"/>
            <a:ext cx="10607040" cy="640080"/>
          </a:xfrm>
          <a:prstGeom prst="rect">
            <a:avLst/>
          </a:prstGeom>
          <a:solidFill>
            <a:srgbClr val="FFFFFF"/>
          </a:solidFill>
          <a:ln w="12700">
            <a:solidFill>
              <a:srgbClr val="D7DEE8">
                <a:alpha val="80000"/>
              </a:srgbClr>
            </a:solidFill>
            <a:prstDash val="solid"/>
          </a:ln>
        </p:spPr>
      </p:sp>
      <p:sp>
        <p:nvSpPr>
          <p:cNvPr id="46" name="Shape 44"/>
          <p:cNvSpPr/>
          <p:nvPr/>
        </p:nvSpPr>
        <p:spPr>
          <a:xfrm>
            <a:off x="868680" y="5257800"/>
            <a:ext cx="73152" cy="640080"/>
          </a:xfrm>
          <a:prstGeom prst="rect">
            <a:avLst/>
          </a:prstGeom>
          <a:solidFill>
            <a:srgbClr val="1E5BFF"/>
          </a:solidFill>
          <a:ln w="12700">
            <a:solidFill>
              <a:srgbClr val="1E5BFF"/>
            </a:solidFill>
            <a:prstDash val="solid"/>
          </a:ln>
        </p:spPr>
      </p:sp>
      <p:sp>
        <p:nvSpPr>
          <p:cNvPr id="47" name="Text 45"/>
          <p:cNvSpPr/>
          <p:nvPr/>
        </p:nvSpPr>
        <p:spPr>
          <a:xfrm>
            <a:off x="1097280" y="5422392"/>
            <a:ext cx="10241280" cy="256032"/>
          </a:xfrm>
          <a:prstGeom prst="rect">
            <a:avLst/>
          </a:prstGeom>
          <a:noFill/>
          <a:ln/>
        </p:spPr>
        <p:txBody>
          <a:bodyPr wrap="square" lIns="0" tIns="0" rIns="0" bIns="0" rtlCol="0" anchor="ctr"/>
          <a:lstStyle/>
          <a:p>
            <a:pPr indent="0" marL="0">
              <a:buNone/>
            </a:pPr>
            <a:r>
              <a:rPr lang="en-US" sz="1150" b="1" dirty="0">
                <a:solidFill>
                  <a:srgbClr val="111827"/>
                </a:solidFill>
              </a:rPr>
              <a:t>LokoAI market entry</a:t>
            </a:r>
            <a:endParaRPr lang="en-US" sz="1150" dirty="0"/>
          </a:p>
        </p:txBody>
      </p:sp>
      <p:sp>
        <p:nvSpPr>
          <p:cNvPr id="48" name="Text 46"/>
          <p:cNvSpPr/>
          <p:nvPr/>
        </p:nvSpPr>
        <p:spPr>
          <a:xfrm>
            <a:off x="1097280" y="5788152"/>
            <a:ext cx="10241280" cy="0"/>
          </a:xfrm>
          <a:prstGeom prst="rect">
            <a:avLst/>
          </a:prstGeom>
          <a:noFill/>
          <a:ln/>
        </p:spPr>
        <p:txBody>
          <a:bodyPr wrap="square" lIns="0" tIns="0" rIns="0" bIns="0" rtlCol="0" anchor="ctr">
            <a:normAutofit/>
          </a:bodyPr>
          <a:lstStyle/>
          <a:p>
            <a:pPr indent="0" marL="0">
              <a:buNone/>
            </a:pPr>
            <a:r>
              <a:rPr lang="en-US" sz="870" dirty="0">
                <a:solidFill>
                  <a:srgbClr val="4B5563"/>
                </a:solidFill>
              </a:rPr>
              <a:t>Wedge into AI application development platforms; expand into AI software workflow, governance, deployment, and managed agent services.</a:t>
            </a:r>
            <a:endParaRPr lang="en-US" sz="87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75488" y="347472"/>
            <a:ext cx="201168" cy="201168"/>
          </a:xfrm>
          <a:prstGeom prst="rect">
            <a:avLst/>
          </a:prstGeom>
          <a:solidFill>
            <a:srgbClr val="1E5BFF"/>
          </a:solidFill>
          <a:ln w="12700">
            <a:solidFill>
              <a:srgbClr val="1E5BFF"/>
            </a:solidFill>
            <a:prstDash val="solid"/>
          </a:ln>
        </p:spPr>
      </p:sp>
      <p:sp>
        <p:nvSpPr>
          <p:cNvPr id="3" name="Shape 1"/>
          <p:cNvSpPr/>
          <p:nvPr/>
        </p:nvSpPr>
        <p:spPr>
          <a:xfrm>
            <a:off x="713232" y="347472"/>
            <a:ext cx="201168" cy="201168"/>
          </a:xfrm>
          <a:prstGeom prst="rect">
            <a:avLst/>
          </a:prstGeom>
          <a:solidFill>
            <a:srgbClr val="16B8C7"/>
          </a:solidFill>
          <a:ln w="12700">
            <a:solidFill>
              <a:srgbClr val="16B8C7"/>
            </a:solidFill>
            <a:prstDash val="solid"/>
          </a:ln>
        </p:spPr>
      </p:sp>
      <p:sp>
        <p:nvSpPr>
          <p:cNvPr id="4" name="Text 2"/>
          <p:cNvSpPr/>
          <p:nvPr/>
        </p:nvSpPr>
        <p:spPr>
          <a:xfrm>
            <a:off x="987552" y="310896"/>
            <a:ext cx="1097280" cy="228600"/>
          </a:xfrm>
          <a:prstGeom prst="rect">
            <a:avLst/>
          </a:prstGeom>
          <a:noFill/>
          <a:ln/>
        </p:spPr>
        <p:txBody>
          <a:bodyPr wrap="square" lIns="0" tIns="0" rIns="0" bIns="0" rtlCol="0" anchor="ctr"/>
          <a:lstStyle/>
          <a:p>
            <a:pPr indent="0" marL="0">
              <a:buNone/>
            </a:pPr>
            <a:r>
              <a:rPr lang="en-US" sz="1000" b="1" dirty="0">
                <a:solidFill>
                  <a:srgbClr val="111827"/>
                </a:solidFill>
              </a:rPr>
              <a:t>LokoAI</a:t>
            </a:r>
            <a:endParaRPr lang="en-US" sz="1000" dirty="0"/>
          </a:p>
        </p:txBody>
      </p:sp>
      <p:sp>
        <p:nvSpPr>
          <p:cNvPr id="5" name="Text 3"/>
          <p:cNvSpPr/>
          <p:nvPr/>
        </p:nvSpPr>
        <p:spPr>
          <a:xfrm>
            <a:off x="658368" y="713232"/>
            <a:ext cx="2651760" cy="164592"/>
          </a:xfrm>
          <a:prstGeom prst="rect">
            <a:avLst/>
          </a:prstGeom>
          <a:noFill/>
          <a:ln/>
        </p:spPr>
        <p:txBody>
          <a:bodyPr wrap="square" lIns="0" tIns="0" rIns="0" bIns="0" rtlCol="0" anchor="ctr"/>
          <a:lstStyle/>
          <a:p>
            <a:pPr indent="0" marL="0">
              <a:buNone/>
            </a:pPr>
            <a:r>
              <a:rPr lang="en-US" sz="750" b="1" dirty="0">
                <a:solidFill>
                  <a:srgbClr val="1E5BFF"/>
                </a:solidFill>
              </a:rPr>
              <a:t>INDUSTRY RESEARCH</a:t>
            </a:r>
            <a:endParaRPr lang="en-US" sz="750" dirty="0"/>
          </a:p>
        </p:txBody>
      </p:sp>
      <p:sp>
        <p:nvSpPr>
          <p:cNvPr id="6" name="Text 4"/>
          <p:cNvSpPr/>
          <p:nvPr/>
        </p:nvSpPr>
        <p:spPr>
          <a:xfrm>
            <a:off x="658368" y="932688"/>
            <a:ext cx="10789920" cy="530352"/>
          </a:xfrm>
          <a:prstGeom prst="rect">
            <a:avLst/>
          </a:prstGeom>
          <a:noFill/>
          <a:ln/>
        </p:spPr>
        <p:txBody>
          <a:bodyPr wrap="square" lIns="0" tIns="0" rIns="0" bIns="0" rtlCol="0" anchor="ctr">
            <a:normAutofit/>
          </a:bodyPr>
          <a:lstStyle/>
          <a:p>
            <a:pPr indent="0" marL="0">
              <a:buNone/>
            </a:pPr>
            <a:r>
              <a:rPr lang="en-US" sz="2500" b="1" dirty="0">
                <a:solidFill>
                  <a:srgbClr val="111827"/>
                </a:solidFill>
                <a:latin typeface="Aptos Display" pitchFamily="34" charset="0"/>
                <a:ea typeface="Aptos Display" pitchFamily="34" charset="-122"/>
                <a:cs typeface="Aptos Display" pitchFamily="34" charset="-120"/>
              </a:rPr>
              <a:t>Industry research: adoption is widespread, but scaled agent impact is still early</a:t>
            </a:r>
            <a:endParaRPr lang="en-US" sz="2500" dirty="0"/>
          </a:p>
        </p:txBody>
      </p:sp>
      <p:sp>
        <p:nvSpPr>
          <p:cNvPr id="7" name="Shape 5"/>
          <p:cNvSpPr/>
          <p:nvPr/>
        </p:nvSpPr>
        <p:spPr>
          <a:xfrm>
            <a:off x="658368" y="1572768"/>
            <a:ext cx="1143000" cy="0"/>
          </a:xfrm>
          <a:prstGeom prst="line">
            <a:avLst/>
          </a:prstGeom>
          <a:noFill/>
          <a:ln w="25400">
            <a:solidFill>
              <a:srgbClr val="1E5BFF"/>
            </a:solidFill>
            <a:prstDash val="solid"/>
          </a:ln>
        </p:spPr>
      </p:sp>
      <p:sp>
        <p:nvSpPr>
          <p:cNvPr id="8" name="Text 6"/>
          <p:cNvSpPr/>
          <p:nvPr/>
        </p:nvSpPr>
        <p:spPr>
          <a:xfrm>
            <a:off x="475488" y="6473952"/>
            <a:ext cx="2011680" cy="164592"/>
          </a:xfrm>
          <a:prstGeom prst="rect">
            <a:avLst/>
          </a:prstGeom>
          <a:noFill/>
          <a:ln/>
        </p:spPr>
        <p:txBody>
          <a:bodyPr wrap="square" lIns="0" tIns="0" rIns="0" bIns="0" rtlCol="0" anchor="ctr"/>
          <a:lstStyle/>
          <a:p>
            <a:pPr indent="0" marL="0">
              <a:buNone/>
            </a:pPr>
            <a:r>
              <a:rPr lang="en-US" sz="700" dirty="0">
                <a:solidFill>
                  <a:srgbClr val="64748B"/>
                </a:solidFill>
              </a:rPr>
              <a:t>LokoAI confidential</a:t>
            </a:r>
            <a:endParaRPr lang="en-US" sz="700" dirty="0"/>
          </a:p>
        </p:txBody>
      </p:sp>
      <p:sp>
        <p:nvSpPr>
          <p:cNvPr id="9" name="Text 7"/>
          <p:cNvSpPr/>
          <p:nvPr/>
        </p:nvSpPr>
        <p:spPr>
          <a:xfrm>
            <a:off x="11201400" y="6446520"/>
            <a:ext cx="640080" cy="201168"/>
          </a:xfrm>
          <a:prstGeom prst="rect">
            <a:avLst/>
          </a:prstGeom>
          <a:noFill/>
          <a:ln/>
        </p:spPr>
        <p:txBody>
          <a:bodyPr wrap="square" lIns="0" tIns="0" rIns="0" bIns="0" rtlCol="0" anchor="ctr"/>
          <a:lstStyle/>
          <a:p>
            <a:pPr algn="r" indent="0" marL="0">
              <a:buNone/>
            </a:pPr>
            <a:r>
              <a:rPr lang="en-US" sz="800" b="1" dirty="0">
                <a:solidFill>
                  <a:srgbClr val="64748B"/>
                </a:solidFill>
              </a:rPr>
              <a:t>05</a:t>
            </a:r>
            <a:endParaRPr lang="en-US" sz="800" dirty="0"/>
          </a:p>
        </p:txBody>
      </p:sp>
      <p:sp>
        <p:nvSpPr>
          <p:cNvPr id="10" name="Text 8"/>
          <p:cNvSpPr/>
          <p:nvPr/>
        </p:nvSpPr>
        <p:spPr>
          <a:xfrm>
            <a:off x="2743200" y="6446520"/>
            <a:ext cx="6217920" cy="164592"/>
          </a:xfrm>
          <a:prstGeom prst="rect">
            <a:avLst/>
          </a:prstGeom>
          <a:noFill/>
          <a:ln/>
        </p:spPr>
        <p:txBody>
          <a:bodyPr wrap="square" lIns="0" tIns="0" rIns="0" bIns="0" rtlCol="0" anchor="ctr">
            <a:normAutofit/>
          </a:bodyPr>
          <a:lstStyle/>
          <a:p>
            <a:pPr algn="ctr" indent="0" marL="0">
              <a:buNone/>
            </a:pPr>
            <a:r>
              <a:rPr lang="en-US" sz="670" dirty="0">
                <a:solidFill>
                  <a:srgbClr val="7A8494"/>
                </a:solidFill>
              </a:rPr>
              <a:t>Source: McKinsey State of AI 2025; Stack Overflow 2025</a:t>
            </a:r>
            <a:endParaRPr lang="en-US" sz="670" dirty="0"/>
          </a:p>
        </p:txBody>
      </p:sp>
      <p:sp>
        <p:nvSpPr>
          <p:cNvPr id="11" name="Shape 9"/>
          <p:cNvSpPr/>
          <p:nvPr/>
        </p:nvSpPr>
        <p:spPr>
          <a:xfrm>
            <a:off x="777240" y="1874520"/>
            <a:ext cx="2331720" cy="1207008"/>
          </a:xfrm>
          <a:prstGeom prst="rect">
            <a:avLst/>
          </a:prstGeom>
          <a:solidFill>
            <a:srgbClr val="FFFFFF"/>
          </a:solidFill>
          <a:ln w="12700">
            <a:solidFill>
              <a:srgbClr val="D7DEE8">
                <a:alpha val="80000"/>
              </a:srgbClr>
            </a:solidFill>
            <a:prstDash val="solid"/>
          </a:ln>
        </p:spPr>
      </p:sp>
      <p:sp>
        <p:nvSpPr>
          <p:cNvPr id="12" name="Text 10"/>
          <p:cNvSpPr/>
          <p:nvPr/>
        </p:nvSpPr>
        <p:spPr>
          <a:xfrm>
            <a:off x="978408" y="2075688"/>
            <a:ext cx="1929384" cy="475488"/>
          </a:xfrm>
          <a:prstGeom prst="rect">
            <a:avLst/>
          </a:prstGeom>
          <a:noFill/>
          <a:ln/>
        </p:spPr>
        <p:txBody>
          <a:bodyPr wrap="square" lIns="0" tIns="0" rIns="0" bIns="0" rtlCol="0" anchor="ctr">
            <a:normAutofit/>
          </a:bodyPr>
          <a:lstStyle/>
          <a:p>
            <a:pPr indent="0" marL="0">
              <a:buNone/>
            </a:pPr>
            <a:r>
              <a:rPr lang="en-US" sz="2600" b="1" dirty="0">
                <a:solidFill>
                  <a:srgbClr val="1E5BFF"/>
                </a:solidFill>
              </a:rPr>
              <a:t>88%</a:t>
            </a:r>
            <a:endParaRPr lang="en-US" sz="2600" dirty="0"/>
          </a:p>
        </p:txBody>
      </p:sp>
      <p:sp>
        <p:nvSpPr>
          <p:cNvPr id="13" name="Text 11"/>
          <p:cNvSpPr/>
          <p:nvPr/>
        </p:nvSpPr>
        <p:spPr>
          <a:xfrm>
            <a:off x="978408" y="2697480"/>
            <a:ext cx="1929384" cy="292608"/>
          </a:xfrm>
          <a:prstGeom prst="rect">
            <a:avLst/>
          </a:prstGeom>
          <a:noFill/>
          <a:ln/>
        </p:spPr>
        <p:txBody>
          <a:bodyPr wrap="square" lIns="0" tIns="0" rIns="0" bIns="0" rtlCol="0" anchor="ctr">
            <a:normAutofit/>
          </a:bodyPr>
          <a:lstStyle/>
          <a:p>
            <a:pPr indent="0" marL="0">
              <a:buNone/>
            </a:pPr>
            <a:r>
              <a:rPr lang="en-US" sz="1050" dirty="0">
                <a:solidFill>
                  <a:srgbClr val="4B5563"/>
                </a:solidFill>
              </a:rPr>
              <a:t>Organizations regularly using AI in at least one business function</a:t>
            </a:r>
            <a:endParaRPr lang="en-US" sz="1050" dirty="0"/>
          </a:p>
        </p:txBody>
      </p:sp>
      <p:sp>
        <p:nvSpPr>
          <p:cNvPr id="14" name="Shape 12"/>
          <p:cNvSpPr/>
          <p:nvPr/>
        </p:nvSpPr>
        <p:spPr>
          <a:xfrm>
            <a:off x="3401568" y="1874520"/>
            <a:ext cx="2331720" cy="1207008"/>
          </a:xfrm>
          <a:prstGeom prst="rect">
            <a:avLst/>
          </a:prstGeom>
          <a:solidFill>
            <a:srgbClr val="FFFFFF"/>
          </a:solidFill>
          <a:ln w="12700">
            <a:solidFill>
              <a:srgbClr val="D7DEE8">
                <a:alpha val="80000"/>
              </a:srgbClr>
            </a:solidFill>
            <a:prstDash val="solid"/>
          </a:ln>
        </p:spPr>
      </p:sp>
      <p:sp>
        <p:nvSpPr>
          <p:cNvPr id="15" name="Text 13"/>
          <p:cNvSpPr/>
          <p:nvPr/>
        </p:nvSpPr>
        <p:spPr>
          <a:xfrm>
            <a:off x="3602736" y="2075688"/>
            <a:ext cx="1929384" cy="475488"/>
          </a:xfrm>
          <a:prstGeom prst="rect">
            <a:avLst/>
          </a:prstGeom>
          <a:noFill/>
          <a:ln/>
        </p:spPr>
        <p:txBody>
          <a:bodyPr wrap="square" lIns="0" tIns="0" rIns="0" bIns="0" rtlCol="0" anchor="ctr">
            <a:normAutofit/>
          </a:bodyPr>
          <a:lstStyle/>
          <a:p>
            <a:pPr indent="0" marL="0">
              <a:buNone/>
            </a:pPr>
            <a:r>
              <a:rPr lang="en-US" sz="2600" b="1" dirty="0">
                <a:solidFill>
                  <a:srgbClr val="16B8C7"/>
                </a:solidFill>
              </a:rPr>
              <a:t>23%</a:t>
            </a:r>
            <a:endParaRPr lang="en-US" sz="2600" dirty="0"/>
          </a:p>
        </p:txBody>
      </p:sp>
      <p:sp>
        <p:nvSpPr>
          <p:cNvPr id="16" name="Text 14"/>
          <p:cNvSpPr/>
          <p:nvPr/>
        </p:nvSpPr>
        <p:spPr>
          <a:xfrm>
            <a:off x="3602736" y="2697480"/>
            <a:ext cx="1929384" cy="292608"/>
          </a:xfrm>
          <a:prstGeom prst="rect">
            <a:avLst/>
          </a:prstGeom>
          <a:noFill/>
          <a:ln/>
        </p:spPr>
        <p:txBody>
          <a:bodyPr wrap="square" lIns="0" tIns="0" rIns="0" bIns="0" rtlCol="0" anchor="ctr">
            <a:normAutofit/>
          </a:bodyPr>
          <a:lstStyle/>
          <a:p>
            <a:pPr indent="0" marL="0">
              <a:buNone/>
            </a:pPr>
            <a:r>
              <a:rPr lang="en-US" sz="1050" dirty="0">
                <a:solidFill>
                  <a:srgbClr val="4B5563"/>
                </a:solidFill>
              </a:rPr>
              <a:t>Organizations scaling agentic AI somewhere in the enterprise</a:t>
            </a:r>
            <a:endParaRPr lang="en-US" sz="1050" dirty="0"/>
          </a:p>
        </p:txBody>
      </p:sp>
      <p:sp>
        <p:nvSpPr>
          <p:cNvPr id="17" name="Shape 15"/>
          <p:cNvSpPr/>
          <p:nvPr/>
        </p:nvSpPr>
        <p:spPr>
          <a:xfrm>
            <a:off x="6025896" y="1874520"/>
            <a:ext cx="2331720" cy="1207008"/>
          </a:xfrm>
          <a:prstGeom prst="rect">
            <a:avLst/>
          </a:prstGeom>
          <a:solidFill>
            <a:srgbClr val="FFFFFF"/>
          </a:solidFill>
          <a:ln w="12700">
            <a:solidFill>
              <a:srgbClr val="D7DEE8">
                <a:alpha val="80000"/>
              </a:srgbClr>
            </a:solidFill>
            <a:prstDash val="solid"/>
          </a:ln>
        </p:spPr>
      </p:sp>
      <p:sp>
        <p:nvSpPr>
          <p:cNvPr id="18" name="Text 16"/>
          <p:cNvSpPr/>
          <p:nvPr/>
        </p:nvSpPr>
        <p:spPr>
          <a:xfrm>
            <a:off x="6227064" y="2075688"/>
            <a:ext cx="1929384" cy="475488"/>
          </a:xfrm>
          <a:prstGeom prst="rect">
            <a:avLst/>
          </a:prstGeom>
          <a:noFill/>
          <a:ln/>
        </p:spPr>
        <p:txBody>
          <a:bodyPr wrap="square" lIns="0" tIns="0" rIns="0" bIns="0" rtlCol="0" anchor="ctr">
            <a:normAutofit/>
          </a:bodyPr>
          <a:lstStyle/>
          <a:p>
            <a:pPr indent="0" marL="0">
              <a:buNone/>
            </a:pPr>
            <a:r>
              <a:rPr lang="en-US" sz="2600" b="1" dirty="0">
                <a:solidFill>
                  <a:srgbClr val="F59E0B"/>
                </a:solidFill>
              </a:rPr>
              <a:t>39%</a:t>
            </a:r>
            <a:endParaRPr lang="en-US" sz="2600" dirty="0"/>
          </a:p>
        </p:txBody>
      </p:sp>
      <p:sp>
        <p:nvSpPr>
          <p:cNvPr id="19" name="Text 17"/>
          <p:cNvSpPr/>
          <p:nvPr/>
        </p:nvSpPr>
        <p:spPr>
          <a:xfrm>
            <a:off x="6227064" y="2697480"/>
            <a:ext cx="1929384" cy="292608"/>
          </a:xfrm>
          <a:prstGeom prst="rect">
            <a:avLst/>
          </a:prstGeom>
          <a:noFill/>
          <a:ln/>
        </p:spPr>
        <p:txBody>
          <a:bodyPr wrap="square" lIns="0" tIns="0" rIns="0" bIns="0" rtlCol="0" anchor="ctr">
            <a:normAutofit/>
          </a:bodyPr>
          <a:lstStyle/>
          <a:p>
            <a:pPr indent="0" marL="0">
              <a:buNone/>
            </a:pPr>
            <a:r>
              <a:rPr lang="en-US" sz="1050" dirty="0">
                <a:solidFill>
                  <a:srgbClr val="4B5563"/>
                </a:solidFill>
              </a:rPr>
              <a:t>Organizations experimenting with AI agents</a:t>
            </a:r>
            <a:endParaRPr lang="en-US" sz="1050" dirty="0"/>
          </a:p>
        </p:txBody>
      </p:sp>
      <p:sp>
        <p:nvSpPr>
          <p:cNvPr id="20" name="Shape 18"/>
          <p:cNvSpPr/>
          <p:nvPr/>
        </p:nvSpPr>
        <p:spPr>
          <a:xfrm>
            <a:off x="8650224" y="1874520"/>
            <a:ext cx="2331720" cy="1207008"/>
          </a:xfrm>
          <a:prstGeom prst="rect">
            <a:avLst/>
          </a:prstGeom>
          <a:solidFill>
            <a:srgbClr val="FFFFFF"/>
          </a:solidFill>
          <a:ln w="12700">
            <a:solidFill>
              <a:srgbClr val="D7DEE8">
                <a:alpha val="80000"/>
              </a:srgbClr>
            </a:solidFill>
            <a:prstDash val="solid"/>
          </a:ln>
        </p:spPr>
      </p:sp>
      <p:sp>
        <p:nvSpPr>
          <p:cNvPr id="21" name="Text 19"/>
          <p:cNvSpPr/>
          <p:nvPr/>
        </p:nvSpPr>
        <p:spPr>
          <a:xfrm>
            <a:off x="8851392" y="2075688"/>
            <a:ext cx="1929384" cy="475488"/>
          </a:xfrm>
          <a:prstGeom prst="rect">
            <a:avLst/>
          </a:prstGeom>
          <a:noFill/>
          <a:ln/>
        </p:spPr>
        <p:txBody>
          <a:bodyPr wrap="square" lIns="0" tIns="0" rIns="0" bIns="0" rtlCol="0" anchor="ctr">
            <a:normAutofit/>
          </a:bodyPr>
          <a:lstStyle/>
          <a:p>
            <a:pPr indent="0" marL="0">
              <a:buNone/>
            </a:pPr>
            <a:r>
              <a:rPr lang="en-US" sz="2600" b="1" dirty="0">
                <a:solidFill>
                  <a:srgbClr val="10A37F"/>
                </a:solidFill>
              </a:rPr>
              <a:t>52%</a:t>
            </a:r>
            <a:endParaRPr lang="en-US" sz="2600" dirty="0"/>
          </a:p>
        </p:txBody>
      </p:sp>
      <p:sp>
        <p:nvSpPr>
          <p:cNvPr id="22" name="Text 20"/>
          <p:cNvSpPr/>
          <p:nvPr/>
        </p:nvSpPr>
        <p:spPr>
          <a:xfrm>
            <a:off x="8851392" y="2697480"/>
            <a:ext cx="1929384" cy="292608"/>
          </a:xfrm>
          <a:prstGeom prst="rect">
            <a:avLst/>
          </a:prstGeom>
          <a:noFill/>
          <a:ln/>
        </p:spPr>
        <p:txBody>
          <a:bodyPr wrap="square" lIns="0" tIns="0" rIns="0" bIns="0" rtlCol="0" anchor="ctr">
            <a:normAutofit/>
          </a:bodyPr>
          <a:lstStyle/>
          <a:p>
            <a:pPr indent="0" marL="0">
              <a:buNone/>
            </a:pPr>
            <a:r>
              <a:rPr lang="en-US" sz="1050" dirty="0">
                <a:solidFill>
                  <a:srgbClr val="4B5563"/>
                </a:solidFill>
              </a:rPr>
              <a:t>Developers reporting AI or agents improved productivity</a:t>
            </a:r>
            <a:endParaRPr lang="en-US" sz="1050" dirty="0"/>
          </a:p>
        </p:txBody>
      </p:sp>
      <p:sp>
        <p:nvSpPr>
          <p:cNvPr id="23" name="Text 21"/>
          <p:cNvSpPr/>
          <p:nvPr/>
        </p:nvSpPr>
        <p:spPr>
          <a:xfrm>
            <a:off x="822960" y="3886200"/>
            <a:ext cx="2926080" cy="228600"/>
          </a:xfrm>
          <a:prstGeom prst="rect">
            <a:avLst/>
          </a:prstGeom>
          <a:noFill/>
          <a:ln/>
        </p:spPr>
        <p:txBody>
          <a:bodyPr wrap="square" lIns="0" tIns="0" rIns="0" bIns="0" rtlCol="0" anchor="ctr"/>
          <a:lstStyle/>
          <a:p>
            <a:pPr indent="0" marL="0">
              <a:buNone/>
            </a:pPr>
            <a:r>
              <a:rPr lang="en-US" sz="1200" b="1" dirty="0">
                <a:solidFill>
                  <a:srgbClr val="111827"/>
                </a:solidFill>
              </a:rPr>
              <a:t>Adoption curve implication</a:t>
            </a:r>
            <a:endParaRPr lang="en-US" sz="1200" dirty="0"/>
          </a:p>
        </p:txBody>
      </p:sp>
      <p:sp>
        <p:nvSpPr>
          <p:cNvPr id="24" name="Text 22"/>
          <p:cNvSpPr/>
          <p:nvPr/>
        </p:nvSpPr>
        <p:spPr>
          <a:xfrm>
            <a:off x="3749040" y="3822192"/>
            <a:ext cx="2194560" cy="256032"/>
          </a:xfrm>
          <a:prstGeom prst="rect">
            <a:avLst/>
          </a:prstGeom>
          <a:noFill/>
          <a:ln/>
        </p:spPr>
        <p:txBody>
          <a:bodyPr wrap="square" lIns="0" tIns="0" rIns="0" bIns="0" rtlCol="0" anchor="ctr">
            <a:normAutofit/>
          </a:bodyPr>
          <a:lstStyle/>
          <a:p>
            <a:pPr indent="0" marL="0">
              <a:buNone/>
            </a:pPr>
            <a:r>
              <a:rPr lang="en-US" sz="850" dirty="0">
                <a:solidFill>
                  <a:srgbClr val="4B5563"/>
                </a:solidFill>
              </a:rPr>
              <a:t>Use AI in any function</a:t>
            </a:r>
            <a:endParaRPr lang="en-US" sz="850" dirty="0"/>
          </a:p>
        </p:txBody>
      </p:sp>
      <p:sp>
        <p:nvSpPr>
          <p:cNvPr id="25" name="Shape 23"/>
          <p:cNvSpPr/>
          <p:nvPr/>
        </p:nvSpPr>
        <p:spPr>
          <a:xfrm>
            <a:off x="5943600" y="3867912"/>
            <a:ext cx="4251960" cy="173736"/>
          </a:xfrm>
          <a:prstGeom prst="rect">
            <a:avLst/>
          </a:prstGeom>
          <a:solidFill>
            <a:srgbClr val="E7ECF3"/>
          </a:solidFill>
          <a:ln w="12700">
            <a:solidFill>
              <a:srgbClr val="E7ECF3"/>
            </a:solidFill>
            <a:prstDash val="solid"/>
          </a:ln>
        </p:spPr>
      </p:sp>
      <p:sp>
        <p:nvSpPr>
          <p:cNvPr id="26" name="Shape 24"/>
          <p:cNvSpPr/>
          <p:nvPr/>
        </p:nvSpPr>
        <p:spPr>
          <a:xfrm>
            <a:off x="5943600" y="3867912"/>
            <a:ext cx="3741725" cy="173736"/>
          </a:xfrm>
          <a:prstGeom prst="rect">
            <a:avLst/>
          </a:prstGeom>
          <a:solidFill>
            <a:srgbClr val="1E5BFF"/>
          </a:solidFill>
          <a:ln w="12700">
            <a:solidFill>
              <a:srgbClr val="1E5BFF"/>
            </a:solidFill>
            <a:prstDash val="solid"/>
          </a:ln>
        </p:spPr>
      </p:sp>
      <p:sp>
        <p:nvSpPr>
          <p:cNvPr id="27" name="Text 25"/>
          <p:cNvSpPr/>
          <p:nvPr/>
        </p:nvSpPr>
        <p:spPr>
          <a:xfrm>
            <a:off x="10287000" y="3822192"/>
            <a:ext cx="685800" cy="201168"/>
          </a:xfrm>
          <a:prstGeom prst="rect">
            <a:avLst/>
          </a:prstGeom>
          <a:noFill/>
          <a:ln/>
        </p:spPr>
        <p:txBody>
          <a:bodyPr wrap="square" lIns="0" tIns="0" rIns="0" bIns="0" rtlCol="0" anchor="ctr"/>
          <a:lstStyle/>
          <a:p>
            <a:pPr indent="0" marL="0">
              <a:buNone/>
            </a:pPr>
            <a:r>
              <a:rPr lang="en-US" sz="800" b="1" dirty="0">
                <a:solidFill>
                  <a:srgbClr val="111827"/>
                </a:solidFill>
              </a:rPr>
              <a:t>88%</a:t>
            </a:r>
            <a:endParaRPr lang="en-US" sz="800" dirty="0"/>
          </a:p>
        </p:txBody>
      </p:sp>
      <p:sp>
        <p:nvSpPr>
          <p:cNvPr id="28" name="Text 26"/>
          <p:cNvSpPr/>
          <p:nvPr/>
        </p:nvSpPr>
        <p:spPr>
          <a:xfrm>
            <a:off x="3749040" y="4114800"/>
            <a:ext cx="2194560" cy="256032"/>
          </a:xfrm>
          <a:prstGeom prst="rect">
            <a:avLst/>
          </a:prstGeom>
          <a:noFill/>
          <a:ln/>
        </p:spPr>
        <p:txBody>
          <a:bodyPr wrap="square" lIns="0" tIns="0" rIns="0" bIns="0" rtlCol="0" anchor="ctr">
            <a:normAutofit/>
          </a:bodyPr>
          <a:lstStyle/>
          <a:p>
            <a:pPr indent="0" marL="0">
              <a:buNone/>
            </a:pPr>
            <a:r>
              <a:rPr lang="en-US" sz="850" dirty="0">
                <a:solidFill>
                  <a:srgbClr val="4B5563"/>
                </a:solidFill>
              </a:rPr>
              <a:t>Experimenting with agents</a:t>
            </a:r>
            <a:endParaRPr lang="en-US" sz="850" dirty="0"/>
          </a:p>
        </p:txBody>
      </p:sp>
      <p:sp>
        <p:nvSpPr>
          <p:cNvPr id="29" name="Shape 27"/>
          <p:cNvSpPr/>
          <p:nvPr/>
        </p:nvSpPr>
        <p:spPr>
          <a:xfrm>
            <a:off x="5943600" y="4160520"/>
            <a:ext cx="4251960" cy="173736"/>
          </a:xfrm>
          <a:prstGeom prst="rect">
            <a:avLst/>
          </a:prstGeom>
          <a:solidFill>
            <a:srgbClr val="E7ECF3"/>
          </a:solidFill>
          <a:ln w="12700">
            <a:solidFill>
              <a:srgbClr val="E7ECF3"/>
            </a:solidFill>
            <a:prstDash val="solid"/>
          </a:ln>
        </p:spPr>
      </p:sp>
      <p:sp>
        <p:nvSpPr>
          <p:cNvPr id="30" name="Shape 28"/>
          <p:cNvSpPr/>
          <p:nvPr/>
        </p:nvSpPr>
        <p:spPr>
          <a:xfrm>
            <a:off x="5943600" y="4160520"/>
            <a:ext cx="1658264" cy="173736"/>
          </a:xfrm>
          <a:prstGeom prst="rect">
            <a:avLst/>
          </a:prstGeom>
          <a:solidFill>
            <a:srgbClr val="F59E0B"/>
          </a:solidFill>
          <a:ln w="12700">
            <a:solidFill>
              <a:srgbClr val="F59E0B"/>
            </a:solidFill>
            <a:prstDash val="solid"/>
          </a:ln>
        </p:spPr>
      </p:sp>
      <p:sp>
        <p:nvSpPr>
          <p:cNvPr id="31" name="Text 29"/>
          <p:cNvSpPr/>
          <p:nvPr/>
        </p:nvSpPr>
        <p:spPr>
          <a:xfrm>
            <a:off x="10287000" y="4114800"/>
            <a:ext cx="685800" cy="201168"/>
          </a:xfrm>
          <a:prstGeom prst="rect">
            <a:avLst/>
          </a:prstGeom>
          <a:noFill/>
          <a:ln/>
        </p:spPr>
        <p:txBody>
          <a:bodyPr wrap="square" lIns="0" tIns="0" rIns="0" bIns="0" rtlCol="0" anchor="ctr"/>
          <a:lstStyle/>
          <a:p>
            <a:pPr indent="0" marL="0">
              <a:buNone/>
            </a:pPr>
            <a:r>
              <a:rPr lang="en-US" sz="800" b="1" dirty="0">
                <a:solidFill>
                  <a:srgbClr val="111827"/>
                </a:solidFill>
              </a:rPr>
              <a:t>39%</a:t>
            </a:r>
            <a:endParaRPr lang="en-US" sz="800" dirty="0"/>
          </a:p>
        </p:txBody>
      </p:sp>
      <p:sp>
        <p:nvSpPr>
          <p:cNvPr id="32" name="Text 30"/>
          <p:cNvSpPr/>
          <p:nvPr/>
        </p:nvSpPr>
        <p:spPr>
          <a:xfrm>
            <a:off x="3749040" y="4407408"/>
            <a:ext cx="2194560" cy="256032"/>
          </a:xfrm>
          <a:prstGeom prst="rect">
            <a:avLst/>
          </a:prstGeom>
          <a:noFill/>
          <a:ln/>
        </p:spPr>
        <p:txBody>
          <a:bodyPr wrap="square" lIns="0" tIns="0" rIns="0" bIns="0" rtlCol="0" anchor="ctr">
            <a:normAutofit/>
          </a:bodyPr>
          <a:lstStyle/>
          <a:p>
            <a:pPr indent="0" marL="0">
              <a:buNone/>
            </a:pPr>
            <a:r>
              <a:rPr lang="en-US" sz="850" dirty="0">
                <a:solidFill>
                  <a:srgbClr val="4B5563"/>
                </a:solidFill>
              </a:rPr>
              <a:t>Scaling agents</a:t>
            </a:r>
            <a:endParaRPr lang="en-US" sz="850" dirty="0"/>
          </a:p>
        </p:txBody>
      </p:sp>
      <p:sp>
        <p:nvSpPr>
          <p:cNvPr id="33" name="Shape 31"/>
          <p:cNvSpPr/>
          <p:nvPr/>
        </p:nvSpPr>
        <p:spPr>
          <a:xfrm>
            <a:off x="5943600" y="4453128"/>
            <a:ext cx="4251960" cy="173736"/>
          </a:xfrm>
          <a:prstGeom prst="rect">
            <a:avLst/>
          </a:prstGeom>
          <a:solidFill>
            <a:srgbClr val="E7ECF3"/>
          </a:solidFill>
          <a:ln w="12700">
            <a:solidFill>
              <a:srgbClr val="E7ECF3"/>
            </a:solidFill>
            <a:prstDash val="solid"/>
          </a:ln>
        </p:spPr>
      </p:sp>
      <p:sp>
        <p:nvSpPr>
          <p:cNvPr id="34" name="Shape 32"/>
          <p:cNvSpPr/>
          <p:nvPr/>
        </p:nvSpPr>
        <p:spPr>
          <a:xfrm>
            <a:off x="5943600" y="4453128"/>
            <a:ext cx="977951" cy="173736"/>
          </a:xfrm>
          <a:prstGeom prst="rect">
            <a:avLst/>
          </a:prstGeom>
          <a:solidFill>
            <a:srgbClr val="16B8C7"/>
          </a:solidFill>
          <a:ln w="12700">
            <a:solidFill>
              <a:srgbClr val="16B8C7"/>
            </a:solidFill>
            <a:prstDash val="solid"/>
          </a:ln>
        </p:spPr>
      </p:sp>
      <p:sp>
        <p:nvSpPr>
          <p:cNvPr id="35" name="Text 33"/>
          <p:cNvSpPr/>
          <p:nvPr/>
        </p:nvSpPr>
        <p:spPr>
          <a:xfrm>
            <a:off x="10287000" y="4407408"/>
            <a:ext cx="685800" cy="201168"/>
          </a:xfrm>
          <a:prstGeom prst="rect">
            <a:avLst/>
          </a:prstGeom>
          <a:noFill/>
          <a:ln/>
        </p:spPr>
        <p:txBody>
          <a:bodyPr wrap="square" lIns="0" tIns="0" rIns="0" bIns="0" rtlCol="0" anchor="ctr"/>
          <a:lstStyle/>
          <a:p>
            <a:pPr indent="0" marL="0">
              <a:buNone/>
            </a:pPr>
            <a:r>
              <a:rPr lang="en-US" sz="800" b="1" dirty="0">
                <a:solidFill>
                  <a:srgbClr val="111827"/>
                </a:solidFill>
              </a:rPr>
              <a:t>23%</a:t>
            </a:r>
            <a:endParaRPr lang="en-US" sz="800" dirty="0"/>
          </a:p>
        </p:txBody>
      </p:sp>
      <p:sp>
        <p:nvSpPr>
          <p:cNvPr id="36" name="Text 34"/>
          <p:cNvSpPr/>
          <p:nvPr/>
        </p:nvSpPr>
        <p:spPr>
          <a:xfrm>
            <a:off x="3749040" y="4700016"/>
            <a:ext cx="2194560" cy="256032"/>
          </a:xfrm>
          <a:prstGeom prst="rect">
            <a:avLst/>
          </a:prstGeom>
          <a:noFill/>
          <a:ln/>
        </p:spPr>
        <p:txBody>
          <a:bodyPr wrap="square" lIns="0" tIns="0" rIns="0" bIns="0" rtlCol="0" anchor="ctr">
            <a:normAutofit/>
          </a:bodyPr>
          <a:lstStyle/>
          <a:p>
            <a:pPr indent="0" marL="0">
              <a:buNone/>
            </a:pPr>
            <a:r>
              <a:rPr lang="en-US" sz="850" dirty="0">
                <a:solidFill>
                  <a:srgbClr val="4B5563"/>
                </a:solidFill>
              </a:rPr>
              <a:t>Developer productivity lift</a:t>
            </a:r>
            <a:endParaRPr lang="en-US" sz="850" dirty="0"/>
          </a:p>
        </p:txBody>
      </p:sp>
      <p:sp>
        <p:nvSpPr>
          <p:cNvPr id="37" name="Shape 35"/>
          <p:cNvSpPr/>
          <p:nvPr/>
        </p:nvSpPr>
        <p:spPr>
          <a:xfrm>
            <a:off x="5943600" y="4745736"/>
            <a:ext cx="4251960" cy="173736"/>
          </a:xfrm>
          <a:prstGeom prst="rect">
            <a:avLst/>
          </a:prstGeom>
          <a:solidFill>
            <a:srgbClr val="E7ECF3"/>
          </a:solidFill>
          <a:ln w="12700">
            <a:solidFill>
              <a:srgbClr val="E7ECF3"/>
            </a:solidFill>
            <a:prstDash val="solid"/>
          </a:ln>
        </p:spPr>
      </p:sp>
      <p:sp>
        <p:nvSpPr>
          <p:cNvPr id="38" name="Shape 36"/>
          <p:cNvSpPr/>
          <p:nvPr/>
        </p:nvSpPr>
        <p:spPr>
          <a:xfrm>
            <a:off x="5943600" y="4745736"/>
            <a:ext cx="2211019" cy="173736"/>
          </a:xfrm>
          <a:prstGeom prst="rect">
            <a:avLst/>
          </a:prstGeom>
          <a:solidFill>
            <a:srgbClr val="10A37F"/>
          </a:solidFill>
          <a:ln w="12700">
            <a:solidFill>
              <a:srgbClr val="10A37F"/>
            </a:solidFill>
            <a:prstDash val="solid"/>
          </a:ln>
        </p:spPr>
      </p:sp>
      <p:sp>
        <p:nvSpPr>
          <p:cNvPr id="39" name="Text 37"/>
          <p:cNvSpPr/>
          <p:nvPr/>
        </p:nvSpPr>
        <p:spPr>
          <a:xfrm>
            <a:off x="10287000" y="4700016"/>
            <a:ext cx="685800" cy="201168"/>
          </a:xfrm>
          <a:prstGeom prst="rect">
            <a:avLst/>
          </a:prstGeom>
          <a:noFill/>
          <a:ln/>
        </p:spPr>
        <p:txBody>
          <a:bodyPr wrap="square" lIns="0" tIns="0" rIns="0" bIns="0" rtlCol="0" anchor="ctr"/>
          <a:lstStyle/>
          <a:p>
            <a:pPr indent="0" marL="0">
              <a:buNone/>
            </a:pPr>
            <a:r>
              <a:rPr lang="en-US" sz="800" b="1" dirty="0">
                <a:solidFill>
                  <a:srgbClr val="111827"/>
                </a:solidFill>
              </a:rPr>
              <a:t>52%</a:t>
            </a:r>
            <a:endParaRPr lang="en-US" sz="800" dirty="0"/>
          </a:p>
        </p:txBody>
      </p:sp>
      <p:sp>
        <p:nvSpPr>
          <p:cNvPr id="40" name="Text 38"/>
          <p:cNvSpPr/>
          <p:nvPr/>
        </p:nvSpPr>
        <p:spPr>
          <a:xfrm>
            <a:off x="3749040" y="4992624"/>
            <a:ext cx="2194560" cy="256032"/>
          </a:xfrm>
          <a:prstGeom prst="rect">
            <a:avLst/>
          </a:prstGeom>
          <a:noFill/>
          <a:ln/>
        </p:spPr>
        <p:txBody>
          <a:bodyPr wrap="square" lIns="0" tIns="0" rIns="0" bIns="0" rtlCol="0" anchor="ctr">
            <a:normAutofit/>
          </a:bodyPr>
          <a:lstStyle/>
          <a:p>
            <a:pPr indent="0" marL="0">
              <a:buNone/>
            </a:pPr>
            <a:r>
              <a:rPr lang="en-US" sz="850" dirty="0">
                <a:solidFill>
                  <a:srgbClr val="4B5563"/>
                </a:solidFill>
              </a:rPr>
              <a:t>Distrust AI accuracy</a:t>
            </a:r>
            <a:endParaRPr lang="en-US" sz="850" dirty="0"/>
          </a:p>
        </p:txBody>
      </p:sp>
      <p:sp>
        <p:nvSpPr>
          <p:cNvPr id="41" name="Shape 39"/>
          <p:cNvSpPr/>
          <p:nvPr/>
        </p:nvSpPr>
        <p:spPr>
          <a:xfrm>
            <a:off x="5943600" y="5038344"/>
            <a:ext cx="4251960" cy="173736"/>
          </a:xfrm>
          <a:prstGeom prst="rect">
            <a:avLst/>
          </a:prstGeom>
          <a:solidFill>
            <a:srgbClr val="E7ECF3"/>
          </a:solidFill>
          <a:ln w="12700">
            <a:solidFill>
              <a:srgbClr val="E7ECF3"/>
            </a:solidFill>
            <a:prstDash val="solid"/>
          </a:ln>
        </p:spPr>
      </p:sp>
      <p:sp>
        <p:nvSpPr>
          <p:cNvPr id="42" name="Shape 40"/>
          <p:cNvSpPr/>
          <p:nvPr/>
        </p:nvSpPr>
        <p:spPr>
          <a:xfrm>
            <a:off x="5943600" y="5038344"/>
            <a:ext cx="1955902" cy="173736"/>
          </a:xfrm>
          <a:prstGeom prst="rect">
            <a:avLst/>
          </a:prstGeom>
          <a:solidFill>
            <a:srgbClr val="E11D48"/>
          </a:solidFill>
          <a:ln w="12700">
            <a:solidFill>
              <a:srgbClr val="E11D48"/>
            </a:solidFill>
            <a:prstDash val="solid"/>
          </a:ln>
        </p:spPr>
      </p:sp>
      <p:sp>
        <p:nvSpPr>
          <p:cNvPr id="43" name="Text 41"/>
          <p:cNvSpPr/>
          <p:nvPr/>
        </p:nvSpPr>
        <p:spPr>
          <a:xfrm>
            <a:off x="10287000" y="4992624"/>
            <a:ext cx="685800" cy="201168"/>
          </a:xfrm>
          <a:prstGeom prst="rect">
            <a:avLst/>
          </a:prstGeom>
          <a:noFill/>
          <a:ln/>
        </p:spPr>
        <p:txBody>
          <a:bodyPr wrap="square" lIns="0" tIns="0" rIns="0" bIns="0" rtlCol="0" anchor="ctr"/>
          <a:lstStyle/>
          <a:p>
            <a:pPr indent="0" marL="0">
              <a:buNone/>
            </a:pPr>
            <a:r>
              <a:rPr lang="en-US" sz="800" b="1" dirty="0">
                <a:solidFill>
                  <a:srgbClr val="111827"/>
                </a:solidFill>
              </a:rPr>
              <a:t>46%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75488" y="347472"/>
            <a:ext cx="201168" cy="201168"/>
          </a:xfrm>
          <a:prstGeom prst="rect">
            <a:avLst/>
          </a:prstGeom>
          <a:solidFill>
            <a:srgbClr val="1E5BFF"/>
          </a:solidFill>
          <a:ln w="12700">
            <a:solidFill>
              <a:srgbClr val="1E5BFF"/>
            </a:solidFill>
            <a:prstDash val="solid"/>
          </a:ln>
        </p:spPr>
      </p:sp>
      <p:sp>
        <p:nvSpPr>
          <p:cNvPr id="3" name="Shape 1"/>
          <p:cNvSpPr/>
          <p:nvPr/>
        </p:nvSpPr>
        <p:spPr>
          <a:xfrm>
            <a:off x="713232" y="347472"/>
            <a:ext cx="201168" cy="201168"/>
          </a:xfrm>
          <a:prstGeom prst="rect">
            <a:avLst/>
          </a:prstGeom>
          <a:solidFill>
            <a:srgbClr val="16B8C7"/>
          </a:solidFill>
          <a:ln w="12700">
            <a:solidFill>
              <a:srgbClr val="16B8C7"/>
            </a:solidFill>
            <a:prstDash val="solid"/>
          </a:ln>
        </p:spPr>
      </p:sp>
      <p:sp>
        <p:nvSpPr>
          <p:cNvPr id="4" name="Text 2"/>
          <p:cNvSpPr/>
          <p:nvPr/>
        </p:nvSpPr>
        <p:spPr>
          <a:xfrm>
            <a:off x="987552" y="310896"/>
            <a:ext cx="1097280" cy="228600"/>
          </a:xfrm>
          <a:prstGeom prst="rect">
            <a:avLst/>
          </a:prstGeom>
          <a:noFill/>
          <a:ln/>
        </p:spPr>
        <p:txBody>
          <a:bodyPr wrap="square" lIns="0" tIns="0" rIns="0" bIns="0" rtlCol="0" anchor="ctr"/>
          <a:lstStyle/>
          <a:p>
            <a:pPr indent="0" marL="0">
              <a:buNone/>
            </a:pPr>
            <a:r>
              <a:rPr lang="en-US" sz="1000" b="1" dirty="0">
                <a:solidFill>
                  <a:srgbClr val="111827"/>
                </a:solidFill>
              </a:rPr>
              <a:t>LokoAI</a:t>
            </a:r>
            <a:endParaRPr lang="en-US" sz="1000" dirty="0"/>
          </a:p>
        </p:txBody>
      </p:sp>
      <p:sp>
        <p:nvSpPr>
          <p:cNvPr id="5" name="Text 3"/>
          <p:cNvSpPr/>
          <p:nvPr/>
        </p:nvSpPr>
        <p:spPr>
          <a:xfrm>
            <a:off x="658368" y="713232"/>
            <a:ext cx="2651760" cy="164592"/>
          </a:xfrm>
          <a:prstGeom prst="rect">
            <a:avLst/>
          </a:prstGeom>
          <a:noFill/>
          <a:ln/>
        </p:spPr>
        <p:txBody>
          <a:bodyPr wrap="square" lIns="0" tIns="0" rIns="0" bIns="0" rtlCol="0" anchor="ctr"/>
          <a:lstStyle/>
          <a:p>
            <a:pPr indent="0" marL="0">
              <a:buNone/>
            </a:pPr>
            <a:r>
              <a:rPr lang="en-US" sz="750" b="1" dirty="0">
                <a:solidFill>
                  <a:srgbClr val="1E5BFF"/>
                </a:solidFill>
              </a:rPr>
              <a:t>COMPETITION</a:t>
            </a:r>
            <a:endParaRPr lang="en-US" sz="750" dirty="0"/>
          </a:p>
        </p:txBody>
      </p:sp>
      <p:sp>
        <p:nvSpPr>
          <p:cNvPr id="6" name="Text 4"/>
          <p:cNvSpPr/>
          <p:nvPr/>
        </p:nvSpPr>
        <p:spPr>
          <a:xfrm>
            <a:off x="658368" y="932688"/>
            <a:ext cx="10789920" cy="530352"/>
          </a:xfrm>
          <a:prstGeom prst="rect">
            <a:avLst/>
          </a:prstGeom>
          <a:noFill/>
          <a:ln/>
        </p:spPr>
        <p:txBody>
          <a:bodyPr wrap="square" lIns="0" tIns="0" rIns="0" bIns="0" rtlCol="0" anchor="ctr">
            <a:normAutofit/>
          </a:bodyPr>
          <a:lstStyle/>
          <a:p>
            <a:pPr indent="0" marL="0">
              <a:buNone/>
            </a:pPr>
            <a:r>
              <a:rPr lang="en-US" sz="2500" b="1" dirty="0">
                <a:solidFill>
                  <a:srgbClr val="111827"/>
                </a:solidFill>
                <a:latin typeface="Aptos Display" pitchFamily="34" charset="0"/>
                <a:ea typeface="Aptos Display" pitchFamily="34" charset="-122"/>
                <a:cs typeface="Aptos Display" pitchFamily="34" charset="-120"/>
              </a:rPr>
              <a:t>Competitor analysis: crowded first-draft market, white space in governed production workflows</a:t>
            </a:r>
            <a:endParaRPr lang="en-US" sz="2500" dirty="0"/>
          </a:p>
        </p:txBody>
      </p:sp>
      <p:sp>
        <p:nvSpPr>
          <p:cNvPr id="7" name="Shape 5"/>
          <p:cNvSpPr/>
          <p:nvPr/>
        </p:nvSpPr>
        <p:spPr>
          <a:xfrm>
            <a:off x="658368" y="1572768"/>
            <a:ext cx="1143000" cy="0"/>
          </a:xfrm>
          <a:prstGeom prst="line">
            <a:avLst/>
          </a:prstGeom>
          <a:noFill/>
          <a:ln w="25400">
            <a:solidFill>
              <a:srgbClr val="1E5BFF"/>
            </a:solidFill>
            <a:prstDash val="solid"/>
          </a:ln>
        </p:spPr>
      </p:sp>
      <p:sp>
        <p:nvSpPr>
          <p:cNvPr id="8" name="Text 6"/>
          <p:cNvSpPr/>
          <p:nvPr/>
        </p:nvSpPr>
        <p:spPr>
          <a:xfrm>
            <a:off x="475488" y="6473952"/>
            <a:ext cx="2011680" cy="164592"/>
          </a:xfrm>
          <a:prstGeom prst="rect">
            <a:avLst/>
          </a:prstGeom>
          <a:noFill/>
          <a:ln/>
        </p:spPr>
        <p:txBody>
          <a:bodyPr wrap="square" lIns="0" tIns="0" rIns="0" bIns="0" rtlCol="0" anchor="ctr"/>
          <a:lstStyle/>
          <a:p>
            <a:pPr indent="0" marL="0">
              <a:buNone/>
            </a:pPr>
            <a:r>
              <a:rPr lang="en-US" sz="700" dirty="0">
                <a:solidFill>
                  <a:srgbClr val="64748B"/>
                </a:solidFill>
              </a:rPr>
              <a:t>LokoAI confidential</a:t>
            </a:r>
            <a:endParaRPr lang="en-US" sz="700" dirty="0"/>
          </a:p>
        </p:txBody>
      </p:sp>
      <p:sp>
        <p:nvSpPr>
          <p:cNvPr id="9" name="Text 7"/>
          <p:cNvSpPr/>
          <p:nvPr/>
        </p:nvSpPr>
        <p:spPr>
          <a:xfrm>
            <a:off x="11201400" y="6446520"/>
            <a:ext cx="640080" cy="201168"/>
          </a:xfrm>
          <a:prstGeom prst="rect">
            <a:avLst/>
          </a:prstGeom>
          <a:noFill/>
          <a:ln/>
        </p:spPr>
        <p:txBody>
          <a:bodyPr wrap="square" lIns="0" tIns="0" rIns="0" bIns="0" rtlCol="0" anchor="ctr"/>
          <a:lstStyle/>
          <a:p>
            <a:pPr algn="r" indent="0" marL="0">
              <a:buNone/>
            </a:pPr>
            <a:r>
              <a:rPr lang="en-US" sz="800" b="1" dirty="0">
                <a:solidFill>
                  <a:srgbClr val="64748B"/>
                </a:solidFill>
              </a:rPr>
              <a:t>06</a:t>
            </a:r>
            <a:endParaRPr lang="en-US" sz="800" dirty="0"/>
          </a:p>
        </p:txBody>
      </p:sp>
      <p:sp>
        <p:nvSpPr>
          <p:cNvPr id="10" name="Text 8"/>
          <p:cNvSpPr/>
          <p:nvPr/>
        </p:nvSpPr>
        <p:spPr>
          <a:xfrm>
            <a:off x="2743200" y="6446520"/>
            <a:ext cx="6217920" cy="164592"/>
          </a:xfrm>
          <a:prstGeom prst="rect">
            <a:avLst/>
          </a:prstGeom>
          <a:noFill/>
          <a:ln/>
        </p:spPr>
        <p:txBody>
          <a:bodyPr wrap="square" lIns="0" tIns="0" rIns="0" bIns="0" rtlCol="0" anchor="ctr">
            <a:normAutofit/>
          </a:bodyPr>
          <a:lstStyle/>
          <a:p>
            <a:pPr algn="ctr" indent="0" marL="0">
              <a:buNone/>
            </a:pPr>
            <a:r>
              <a:rPr lang="en-US" sz="670" dirty="0">
                <a:solidFill>
                  <a:srgbClr val="7A8494"/>
                </a:solidFill>
              </a:rPr>
              <a:t>Source: Public competitor pricing and TechCrunch reporting</a:t>
            </a:r>
            <a:endParaRPr lang="en-US" sz="67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13232" y="1874520"/>
          <a:ext cx="10835640" cy="3566160"/>
        </p:xfrm>
        <a:graphic>
          <a:graphicData uri="http://schemas.openxmlformats.org/drawingml/2006/table">
            <a:tbl>
              <a:tblPr/>
              <a:tblGrid>
                <a:gridCol w="1234440"/>
                <a:gridCol w="1828800"/>
                <a:gridCol w="2514600"/>
                <a:gridCol w="4663440"/>
              </a:tblGrid>
              <a:tr h="509451">
                <a:tc>
                  <a:txBody>
                    <a:bodyPr/>
                    <a:lstStyle/>
                    <a:p>
                      <a:pPr indent="0" marL="0">
                        <a:buNone/>
                      </a:pPr>
                      <a:r>
                        <a:rPr lang="en-US" sz="850" b="1" dirty="0">
                          <a:solidFill>
                            <a:srgbClr val="FFFFFF"/>
                          </a:solidFill>
                        </a:rPr>
                        <a:t>Company</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Primary wedge</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Strength</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Gap LokoAI targets</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r>
              <a:tr h="509451">
                <a:tc>
                  <a:txBody>
                    <a:bodyPr/>
                    <a:lstStyle/>
                    <a:p>
                      <a:pPr indent="0" marL="0">
                        <a:buNone/>
                      </a:pPr>
                      <a:r>
                        <a:rPr lang="en-US" sz="800" dirty="0">
                          <a:solidFill>
                            <a:srgbClr val="111827"/>
                          </a:solidFill>
                        </a:rPr>
                        <a:t>Lovable</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Prompt-to-app builder</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Fast full-stack prototyping and viral adoption</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Governance, review depth, enterprise operating model</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r>
              <a:tr h="509451">
                <a:tc>
                  <a:txBody>
                    <a:bodyPr/>
                    <a:lstStyle/>
                    <a:p>
                      <a:pPr indent="0" marL="0">
                        <a:buNone/>
                      </a:pPr>
                      <a:r>
                        <a:rPr lang="en-US" sz="800" dirty="0">
                          <a:solidFill>
                            <a:srgbClr val="111827"/>
                          </a:solidFill>
                        </a:rPr>
                        <a:t>Bolt.new</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Browser-based app generation</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Rapid web app scaffolding</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Persistent memory, production controls, business workflows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r>
              <a:tr h="509451">
                <a:tc>
                  <a:txBody>
                    <a:bodyPr/>
                    <a:lstStyle/>
                    <a:p>
                      <a:pPr indent="0" marL="0">
                        <a:buNone/>
                      </a:pPr>
                      <a:r>
                        <a:rPr lang="en-US" sz="800" dirty="0">
                          <a:solidFill>
                            <a:srgbClr val="111827"/>
                          </a:solidFill>
                        </a:rPr>
                        <a:t>v0</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UI generation / React</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High-quality frontend components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End-to-end product delivery beyond UI</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r>
              <a:tr h="509451">
                <a:tc>
                  <a:txBody>
                    <a:bodyPr/>
                    <a:lstStyle/>
                    <a:p>
                      <a:pPr indent="0" marL="0">
                        <a:buNone/>
                      </a:pPr>
                      <a:r>
                        <a:rPr lang="en-US" sz="800" dirty="0">
                          <a:solidFill>
                            <a:srgbClr val="111827"/>
                          </a:solidFill>
                        </a:rPr>
                        <a:t>Replit Agent</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Cloud IDE + agent</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Executable projects and hosting</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Non-technical UX, team governance, artifact generation</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r>
              <a:tr h="509451">
                <a:tc>
                  <a:txBody>
                    <a:bodyPr/>
                    <a:lstStyle/>
                    <a:p>
                      <a:pPr indent="0" marL="0">
                        <a:buNone/>
                      </a:pPr>
                      <a:r>
                        <a:rPr lang="en-US" sz="800" dirty="0">
                          <a:solidFill>
                            <a:srgbClr val="111827"/>
                          </a:solidFill>
                        </a:rPr>
                        <a:t>Cursor</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AI IDE</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Developer-native productivity</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Founder/ops personas and no-code launch path</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r>
              <a:tr h="509451">
                <a:tc>
                  <a:txBody>
                    <a:bodyPr/>
                    <a:lstStyle/>
                    <a:p>
                      <a:pPr indent="0" marL="0">
                        <a:buNone/>
                      </a:pPr>
                      <a:r>
                        <a:rPr lang="en-US" sz="800" dirty="0">
                          <a:solidFill>
                            <a:srgbClr val="111827"/>
                          </a:solidFill>
                        </a:rPr>
                        <a:t>Devin-style agents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Autonomous SWE tasks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Deep software task execution</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Accessible SMB/product-team packaging</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r>
            </a:tbl>
          </a:graphicData>
        </a:graphic>
      </p:graphicFrame>
      <p:sp>
        <p:nvSpPr>
          <p:cNvPr id="12" name="Text 9"/>
          <p:cNvSpPr/>
          <p:nvPr/>
        </p:nvSpPr>
        <p:spPr>
          <a:xfrm>
            <a:off x="914400" y="5715000"/>
            <a:ext cx="10149840" cy="292608"/>
          </a:xfrm>
          <a:prstGeom prst="rect">
            <a:avLst/>
          </a:prstGeom>
          <a:noFill/>
          <a:ln/>
        </p:spPr>
        <p:txBody>
          <a:bodyPr wrap="square" lIns="0" tIns="0" rIns="0" bIns="0" rtlCol="0" anchor="ctr"/>
          <a:lstStyle/>
          <a:p>
            <a:pPr algn="ctr" indent="0" marL="0">
              <a:buNone/>
            </a:pPr>
            <a:r>
              <a:rPr lang="en-US" sz="1300" b="1" dirty="0">
                <a:solidFill>
                  <a:srgbClr val="111827"/>
                </a:solidFill>
              </a:rPr>
              <a:t>Positioning: LokoAI combines app-builder speed, IDE accountability, and enterprise workflow governance.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75488" y="347472"/>
            <a:ext cx="201168" cy="201168"/>
          </a:xfrm>
          <a:prstGeom prst="rect">
            <a:avLst/>
          </a:prstGeom>
          <a:solidFill>
            <a:srgbClr val="1E5BFF"/>
          </a:solidFill>
          <a:ln w="12700">
            <a:solidFill>
              <a:srgbClr val="1E5BFF"/>
            </a:solidFill>
            <a:prstDash val="solid"/>
          </a:ln>
        </p:spPr>
      </p:sp>
      <p:sp>
        <p:nvSpPr>
          <p:cNvPr id="3" name="Shape 1"/>
          <p:cNvSpPr/>
          <p:nvPr/>
        </p:nvSpPr>
        <p:spPr>
          <a:xfrm>
            <a:off x="713232" y="347472"/>
            <a:ext cx="201168" cy="201168"/>
          </a:xfrm>
          <a:prstGeom prst="rect">
            <a:avLst/>
          </a:prstGeom>
          <a:solidFill>
            <a:srgbClr val="16B8C7"/>
          </a:solidFill>
          <a:ln w="12700">
            <a:solidFill>
              <a:srgbClr val="16B8C7"/>
            </a:solidFill>
            <a:prstDash val="solid"/>
          </a:ln>
        </p:spPr>
      </p:sp>
      <p:sp>
        <p:nvSpPr>
          <p:cNvPr id="4" name="Text 2"/>
          <p:cNvSpPr/>
          <p:nvPr/>
        </p:nvSpPr>
        <p:spPr>
          <a:xfrm>
            <a:off x="987552" y="310896"/>
            <a:ext cx="1097280" cy="228600"/>
          </a:xfrm>
          <a:prstGeom prst="rect">
            <a:avLst/>
          </a:prstGeom>
          <a:noFill/>
          <a:ln/>
        </p:spPr>
        <p:txBody>
          <a:bodyPr wrap="square" lIns="0" tIns="0" rIns="0" bIns="0" rtlCol="0" anchor="ctr"/>
          <a:lstStyle/>
          <a:p>
            <a:pPr indent="0" marL="0">
              <a:buNone/>
            </a:pPr>
            <a:r>
              <a:rPr lang="en-US" sz="1000" b="1" dirty="0">
                <a:solidFill>
                  <a:srgbClr val="111827"/>
                </a:solidFill>
              </a:rPr>
              <a:t>LokoAI</a:t>
            </a:r>
            <a:endParaRPr lang="en-US" sz="1000" dirty="0"/>
          </a:p>
        </p:txBody>
      </p:sp>
      <p:sp>
        <p:nvSpPr>
          <p:cNvPr id="5" name="Text 3"/>
          <p:cNvSpPr/>
          <p:nvPr/>
        </p:nvSpPr>
        <p:spPr>
          <a:xfrm>
            <a:off x="658368" y="713232"/>
            <a:ext cx="2651760" cy="164592"/>
          </a:xfrm>
          <a:prstGeom prst="rect">
            <a:avLst/>
          </a:prstGeom>
          <a:noFill/>
          <a:ln/>
        </p:spPr>
        <p:txBody>
          <a:bodyPr wrap="square" lIns="0" tIns="0" rIns="0" bIns="0" rtlCol="0" anchor="ctr"/>
          <a:lstStyle/>
          <a:p>
            <a:pPr indent="0" marL="0">
              <a:buNone/>
            </a:pPr>
            <a:r>
              <a:rPr lang="en-US" sz="750" b="1" dirty="0">
                <a:solidFill>
                  <a:srgbClr val="1E5BFF"/>
                </a:solidFill>
              </a:rPr>
              <a:t>PRODUCT</a:t>
            </a:r>
            <a:endParaRPr lang="en-US" sz="750" dirty="0"/>
          </a:p>
        </p:txBody>
      </p:sp>
      <p:sp>
        <p:nvSpPr>
          <p:cNvPr id="6" name="Text 4"/>
          <p:cNvSpPr/>
          <p:nvPr/>
        </p:nvSpPr>
        <p:spPr>
          <a:xfrm>
            <a:off x="658368" y="932688"/>
            <a:ext cx="10789920" cy="530352"/>
          </a:xfrm>
          <a:prstGeom prst="rect">
            <a:avLst/>
          </a:prstGeom>
          <a:noFill/>
          <a:ln/>
        </p:spPr>
        <p:txBody>
          <a:bodyPr wrap="square" lIns="0" tIns="0" rIns="0" bIns="0" rtlCol="0" anchor="ctr">
            <a:normAutofit/>
          </a:bodyPr>
          <a:lstStyle/>
          <a:p>
            <a:pPr indent="0" marL="0">
              <a:buNone/>
            </a:pPr>
            <a:r>
              <a:rPr lang="en-US" sz="2500" b="1" dirty="0">
                <a:solidFill>
                  <a:srgbClr val="111827"/>
                </a:solidFill>
                <a:latin typeface="Aptos Display" pitchFamily="34" charset="0"/>
                <a:ea typeface="Aptos Display" pitchFamily="34" charset="-122"/>
                <a:cs typeface="Aptos Display" pitchFamily="34" charset="-120"/>
              </a:rPr>
              <a:t>Product overview: one workspace that converts intent into deployable software and business artifacts</a:t>
            </a:r>
            <a:endParaRPr lang="en-US" sz="2500" dirty="0"/>
          </a:p>
        </p:txBody>
      </p:sp>
      <p:sp>
        <p:nvSpPr>
          <p:cNvPr id="7" name="Shape 5"/>
          <p:cNvSpPr/>
          <p:nvPr/>
        </p:nvSpPr>
        <p:spPr>
          <a:xfrm>
            <a:off x="658368" y="1572768"/>
            <a:ext cx="1143000" cy="0"/>
          </a:xfrm>
          <a:prstGeom prst="line">
            <a:avLst/>
          </a:prstGeom>
          <a:noFill/>
          <a:ln w="25400">
            <a:solidFill>
              <a:srgbClr val="1E5BFF"/>
            </a:solidFill>
            <a:prstDash val="solid"/>
          </a:ln>
        </p:spPr>
      </p:sp>
      <p:sp>
        <p:nvSpPr>
          <p:cNvPr id="8" name="Text 6"/>
          <p:cNvSpPr/>
          <p:nvPr/>
        </p:nvSpPr>
        <p:spPr>
          <a:xfrm>
            <a:off x="475488" y="6473952"/>
            <a:ext cx="2011680" cy="164592"/>
          </a:xfrm>
          <a:prstGeom prst="rect">
            <a:avLst/>
          </a:prstGeom>
          <a:noFill/>
          <a:ln/>
        </p:spPr>
        <p:txBody>
          <a:bodyPr wrap="square" lIns="0" tIns="0" rIns="0" bIns="0" rtlCol="0" anchor="ctr"/>
          <a:lstStyle/>
          <a:p>
            <a:pPr indent="0" marL="0">
              <a:buNone/>
            </a:pPr>
            <a:r>
              <a:rPr lang="en-US" sz="700" dirty="0">
                <a:solidFill>
                  <a:srgbClr val="64748B"/>
                </a:solidFill>
              </a:rPr>
              <a:t>LokoAI confidential</a:t>
            </a:r>
            <a:endParaRPr lang="en-US" sz="700" dirty="0"/>
          </a:p>
        </p:txBody>
      </p:sp>
      <p:sp>
        <p:nvSpPr>
          <p:cNvPr id="9" name="Text 7"/>
          <p:cNvSpPr/>
          <p:nvPr/>
        </p:nvSpPr>
        <p:spPr>
          <a:xfrm>
            <a:off x="11201400" y="6446520"/>
            <a:ext cx="640080" cy="201168"/>
          </a:xfrm>
          <a:prstGeom prst="rect">
            <a:avLst/>
          </a:prstGeom>
          <a:noFill/>
          <a:ln/>
        </p:spPr>
        <p:txBody>
          <a:bodyPr wrap="square" lIns="0" tIns="0" rIns="0" bIns="0" rtlCol="0" anchor="ctr"/>
          <a:lstStyle/>
          <a:p>
            <a:pPr algn="r" indent="0" marL="0">
              <a:buNone/>
            </a:pPr>
            <a:r>
              <a:rPr lang="en-US" sz="800" b="1" dirty="0">
                <a:solidFill>
                  <a:srgbClr val="64748B"/>
                </a:solidFill>
              </a:rPr>
              <a:t>07</a:t>
            </a:r>
            <a:endParaRPr lang="en-US" sz="800" dirty="0"/>
          </a:p>
        </p:txBody>
      </p:sp>
      <p:sp>
        <p:nvSpPr>
          <p:cNvPr id="10" name="Text 8"/>
          <p:cNvSpPr/>
          <p:nvPr/>
        </p:nvSpPr>
        <p:spPr>
          <a:xfrm>
            <a:off x="2743200" y="6446520"/>
            <a:ext cx="6217920" cy="164592"/>
          </a:xfrm>
          <a:prstGeom prst="rect">
            <a:avLst/>
          </a:prstGeom>
          <a:noFill/>
          <a:ln/>
        </p:spPr>
        <p:txBody>
          <a:bodyPr wrap="square" lIns="0" tIns="0" rIns="0" bIns="0" rtlCol="0" anchor="ctr">
            <a:normAutofit/>
          </a:bodyPr>
          <a:lstStyle/>
          <a:p>
            <a:pPr algn="ctr" indent="0" marL="0">
              <a:buNone/>
            </a:pPr>
            <a:r>
              <a:rPr lang="en-US" sz="670" dirty="0">
                <a:solidFill>
                  <a:srgbClr val="7A8494"/>
                </a:solidFill>
              </a:rPr>
              <a:t>Source: LokoAI product hypothesis based on current application capabilities</a:t>
            </a:r>
            <a:endParaRPr lang="en-US" sz="670" dirty="0"/>
          </a:p>
        </p:txBody>
      </p:sp>
      <p:sp>
        <p:nvSpPr>
          <p:cNvPr id="11" name="Shape 9"/>
          <p:cNvSpPr/>
          <p:nvPr/>
        </p:nvSpPr>
        <p:spPr>
          <a:xfrm>
            <a:off x="777240" y="1828800"/>
            <a:ext cx="2606040" cy="1234440"/>
          </a:xfrm>
          <a:prstGeom prst="rect">
            <a:avLst/>
          </a:prstGeom>
          <a:solidFill>
            <a:srgbClr val="FFFFFF"/>
          </a:solidFill>
          <a:ln w="12700">
            <a:solidFill>
              <a:srgbClr val="D7DEE8">
                <a:alpha val="80000"/>
              </a:srgbClr>
            </a:solidFill>
            <a:prstDash val="solid"/>
          </a:ln>
        </p:spPr>
      </p:sp>
      <p:sp>
        <p:nvSpPr>
          <p:cNvPr id="12" name="Shape 10"/>
          <p:cNvSpPr/>
          <p:nvPr/>
        </p:nvSpPr>
        <p:spPr>
          <a:xfrm>
            <a:off x="777240" y="1828800"/>
            <a:ext cx="73152" cy="1234440"/>
          </a:xfrm>
          <a:prstGeom prst="rect">
            <a:avLst/>
          </a:prstGeom>
          <a:solidFill>
            <a:srgbClr val="1E5BFF"/>
          </a:solidFill>
          <a:ln w="12700">
            <a:solidFill>
              <a:srgbClr val="1E5BFF"/>
            </a:solidFill>
            <a:prstDash val="solid"/>
          </a:ln>
        </p:spPr>
      </p:sp>
      <p:sp>
        <p:nvSpPr>
          <p:cNvPr id="13" name="Text 11"/>
          <p:cNvSpPr/>
          <p:nvPr/>
        </p:nvSpPr>
        <p:spPr>
          <a:xfrm>
            <a:off x="1005840" y="1993392"/>
            <a:ext cx="2240280" cy="256032"/>
          </a:xfrm>
          <a:prstGeom prst="rect">
            <a:avLst/>
          </a:prstGeom>
          <a:noFill/>
          <a:ln/>
        </p:spPr>
        <p:txBody>
          <a:bodyPr wrap="square" lIns="0" tIns="0" rIns="0" bIns="0" rtlCol="0" anchor="ctr"/>
          <a:lstStyle/>
          <a:p>
            <a:pPr indent="0" marL="0">
              <a:buNone/>
            </a:pPr>
            <a:r>
              <a:rPr lang="en-US" sz="1150" b="1" dirty="0">
                <a:solidFill>
                  <a:srgbClr val="111827"/>
                </a:solidFill>
              </a:rPr>
              <a:t>Prompt canvas</a:t>
            </a:r>
            <a:endParaRPr lang="en-US" sz="1150" dirty="0"/>
          </a:p>
        </p:txBody>
      </p:sp>
      <p:sp>
        <p:nvSpPr>
          <p:cNvPr id="14" name="Text 12"/>
          <p:cNvSpPr/>
          <p:nvPr/>
        </p:nvSpPr>
        <p:spPr>
          <a:xfrm>
            <a:off x="1005840" y="2359152"/>
            <a:ext cx="2240280" cy="594360"/>
          </a:xfrm>
          <a:prstGeom prst="rect">
            <a:avLst/>
          </a:prstGeom>
          <a:noFill/>
          <a:ln/>
        </p:spPr>
        <p:txBody>
          <a:bodyPr wrap="square" lIns="0" tIns="0" rIns="0" bIns="0" rtlCol="0" anchor="ctr">
            <a:normAutofit/>
          </a:bodyPr>
          <a:lstStyle/>
          <a:p>
            <a:pPr indent="0" marL="0">
              <a:buNone/>
            </a:pPr>
            <a:r>
              <a:rPr lang="en-US" sz="870" dirty="0">
                <a:solidFill>
                  <a:srgbClr val="4B5563"/>
                </a:solidFill>
              </a:rPr>
              <a:t>Natural-language creation with project memory, templates, model routing, and reusable generation standards.</a:t>
            </a:r>
            <a:endParaRPr lang="en-US" sz="870" dirty="0"/>
          </a:p>
        </p:txBody>
      </p:sp>
      <p:sp>
        <p:nvSpPr>
          <p:cNvPr id="15" name="Shape 13"/>
          <p:cNvSpPr/>
          <p:nvPr/>
        </p:nvSpPr>
        <p:spPr>
          <a:xfrm>
            <a:off x="3657600" y="1828800"/>
            <a:ext cx="2606040" cy="1234440"/>
          </a:xfrm>
          <a:prstGeom prst="rect">
            <a:avLst/>
          </a:prstGeom>
          <a:solidFill>
            <a:srgbClr val="FFFFFF"/>
          </a:solidFill>
          <a:ln w="12700">
            <a:solidFill>
              <a:srgbClr val="D7DEE8">
                <a:alpha val="80000"/>
              </a:srgbClr>
            </a:solidFill>
            <a:prstDash val="solid"/>
          </a:ln>
        </p:spPr>
      </p:sp>
      <p:sp>
        <p:nvSpPr>
          <p:cNvPr id="16" name="Shape 14"/>
          <p:cNvSpPr/>
          <p:nvPr/>
        </p:nvSpPr>
        <p:spPr>
          <a:xfrm>
            <a:off x="3657600" y="1828800"/>
            <a:ext cx="73152" cy="1234440"/>
          </a:xfrm>
          <a:prstGeom prst="rect">
            <a:avLst/>
          </a:prstGeom>
          <a:solidFill>
            <a:srgbClr val="16B8C7"/>
          </a:solidFill>
          <a:ln w="12700">
            <a:solidFill>
              <a:srgbClr val="16B8C7"/>
            </a:solidFill>
            <a:prstDash val="solid"/>
          </a:ln>
        </p:spPr>
      </p:sp>
      <p:sp>
        <p:nvSpPr>
          <p:cNvPr id="17" name="Text 15"/>
          <p:cNvSpPr/>
          <p:nvPr/>
        </p:nvSpPr>
        <p:spPr>
          <a:xfrm>
            <a:off x="3886200" y="1993392"/>
            <a:ext cx="2240280" cy="256032"/>
          </a:xfrm>
          <a:prstGeom prst="rect">
            <a:avLst/>
          </a:prstGeom>
          <a:noFill/>
          <a:ln/>
        </p:spPr>
        <p:txBody>
          <a:bodyPr wrap="square" lIns="0" tIns="0" rIns="0" bIns="0" rtlCol="0" anchor="ctr"/>
          <a:lstStyle/>
          <a:p>
            <a:pPr indent="0" marL="0">
              <a:buNone/>
            </a:pPr>
            <a:r>
              <a:rPr lang="en-US" sz="1150" b="1" dirty="0">
                <a:solidFill>
                  <a:srgbClr val="111827"/>
                </a:solidFill>
              </a:rPr>
              <a:t>Builder workspace</a:t>
            </a:r>
            <a:endParaRPr lang="en-US" sz="1150" dirty="0"/>
          </a:p>
        </p:txBody>
      </p:sp>
      <p:sp>
        <p:nvSpPr>
          <p:cNvPr id="18" name="Text 16"/>
          <p:cNvSpPr/>
          <p:nvPr/>
        </p:nvSpPr>
        <p:spPr>
          <a:xfrm>
            <a:off x="3886200" y="2359152"/>
            <a:ext cx="2240280" cy="594360"/>
          </a:xfrm>
          <a:prstGeom prst="rect">
            <a:avLst/>
          </a:prstGeom>
          <a:noFill/>
          <a:ln/>
        </p:spPr>
        <p:txBody>
          <a:bodyPr wrap="square" lIns="0" tIns="0" rIns="0" bIns="0" rtlCol="0" anchor="ctr">
            <a:normAutofit/>
          </a:bodyPr>
          <a:lstStyle/>
          <a:p>
            <a:pPr indent="0" marL="0">
              <a:buNone/>
            </a:pPr>
            <a:r>
              <a:rPr lang="en-US" sz="870" dirty="0">
                <a:solidFill>
                  <a:srgbClr val="4B5563"/>
                </a:solidFill>
              </a:rPr>
              <a:t>Generates apps, components, docs, spreadsheets, PDFs, and presentations with preview and file management.</a:t>
            </a:r>
            <a:endParaRPr lang="en-US" sz="870" dirty="0"/>
          </a:p>
        </p:txBody>
      </p:sp>
      <p:sp>
        <p:nvSpPr>
          <p:cNvPr id="19" name="Shape 17"/>
          <p:cNvSpPr/>
          <p:nvPr/>
        </p:nvSpPr>
        <p:spPr>
          <a:xfrm>
            <a:off x="6537960" y="1828800"/>
            <a:ext cx="2606040" cy="1234440"/>
          </a:xfrm>
          <a:prstGeom prst="rect">
            <a:avLst/>
          </a:prstGeom>
          <a:solidFill>
            <a:srgbClr val="FFFFFF"/>
          </a:solidFill>
          <a:ln w="12700">
            <a:solidFill>
              <a:srgbClr val="D7DEE8">
                <a:alpha val="80000"/>
              </a:srgbClr>
            </a:solidFill>
            <a:prstDash val="solid"/>
          </a:ln>
        </p:spPr>
      </p:sp>
      <p:sp>
        <p:nvSpPr>
          <p:cNvPr id="20" name="Shape 18"/>
          <p:cNvSpPr/>
          <p:nvPr/>
        </p:nvSpPr>
        <p:spPr>
          <a:xfrm>
            <a:off x="6537960" y="1828800"/>
            <a:ext cx="73152" cy="1234440"/>
          </a:xfrm>
          <a:prstGeom prst="rect">
            <a:avLst/>
          </a:prstGeom>
          <a:solidFill>
            <a:srgbClr val="10A37F"/>
          </a:solidFill>
          <a:ln w="12700">
            <a:solidFill>
              <a:srgbClr val="10A37F"/>
            </a:solidFill>
            <a:prstDash val="solid"/>
          </a:ln>
        </p:spPr>
      </p:sp>
      <p:sp>
        <p:nvSpPr>
          <p:cNvPr id="21" name="Text 19"/>
          <p:cNvSpPr/>
          <p:nvPr/>
        </p:nvSpPr>
        <p:spPr>
          <a:xfrm>
            <a:off x="6766560" y="1993392"/>
            <a:ext cx="2240280" cy="256032"/>
          </a:xfrm>
          <a:prstGeom prst="rect">
            <a:avLst/>
          </a:prstGeom>
          <a:noFill/>
          <a:ln/>
        </p:spPr>
        <p:txBody>
          <a:bodyPr wrap="square" lIns="0" tIns="0" rIns="0" bIns="0" rtlCol="0" anchor="ctr"/>
          <a:lstStyle/>
          <a:p>
            <a:pPr indent="0" marL="0">
              <a:buNone/>
            </a:pPr>
            <a:r>
              <a:rPr lang="en-US" sz="1150" b="1" dirty="0">
                <a:solidFill>
                  <a:srgbClr val="111827"/>
                </a:solidFill>
              </a:rPr>
              <a:t>Execution layer</a:t>
            </a:r>
            <a:endParaRPr lang="en-US" sz="1150" dirty="0"/>
          </a:p>
        </p:txBody>
      </p:sp>
      <p:sp>
        <p:nvSpPr>
          <p:cNvPr id="22" name="Text 20"/>
          <p:cNvSpPr/>
          <p:nvPr/>
        </p:nvSpPr>
        <p:spPr>
          <a:xfrm>
            <a:off x="6766560" y="2359152"/>
            <a:ext cx="2240280" cy="594360"/>
          </a:xfrm>
          <a:prstGeom prst="rect">
            <a:avLst/>
          </a:prstGeom>
          <a:noFill/>
          <a:ln/>
        </p:spPr>
        <p:txBody>
          <a:bodyPr wrap="square" lIns="0" tIns="0" rIns="0" bIns="0" rtlCol="0" anchor="ctr">
            <a:normAutofit/>
          </a:bodyPr>
          <a:lstStyle/>
          <a:p>
            <a:pPr indent="0" marL="0">
              <a:buNone/>
            </a:pPr>
            <a:r>
              <a:rPr lang="en-US" sz="870" dirty="0">
                <a:solidFill>
                  <a:srgbClr val="4B5563"/>
                </a:solidFill>
              </a:rPr>
              <a:t>Sandboxed terminal, code review, deploy workflows, integrations, and live project history.</a:t>
            </a:r>
            <a:endParaRPr lang="en-US" sz="870" dirty="0"/>
          </a:p>
        </p:txBody>
      </p:sp>
      <p:sp>
        <p:nvSpPr>
          <p:cNvPr id="23" name="Shape 21"/>
          <p:cNvSpPr/>
          <p:nvPr/>
        </p:nvSpPr>
        <p:spPr>
          <a:xfrm>
            <a:off x="9418320" y="1828800"/>
            <a:ext cx="2606040" cy="1234440"/>
          </a:xfrm>
          <a:prstGeom prst="rect">
            <a:avLst/>
          </a:prstGeom>
          <a:solidFill>
            <a:srgbClr val="FFFFFF"/>
          </a:solidFill>
          <a:ln w="12700">
            <a:solidFill>
              <a:srgbClr val="D7DEE8">
                <a:alpha val="80000"/>
              </a:srgbClr>
            </a:solidFill>
            <a:prstDash val="solid"/>
          </a:ln>
        </p:spPr>
      </p:sp>
      <p:sp>
        <p:nvSpPr>
          <p:cNvPr id="24" name="Shape 22"/>
          <p:cNvSpPr/>
          <p:nvPr/>
        </p:nvSpPr>
        <p:spPr>
          <a:xfrm>
            <a:off x="9418320" y="1828800"/>
            <a:ext cx="73152" cy="1234440"/>
          </a:xfrm>
          <a:prstGeom prst="rect">
            <a:avLst/>
          </a:prstGeom>
          <a:solidFill>
            <a:srgbClr val="F59E0B"/>
          </a:solidFill>
          <a:ln w="12700">
            <a:solidFill>
              <a:srgbClr val="F59E0B"/>
            </a:solidFill>
            <a:prstDash val="solid"/>
          </a:ln>
        </p:spPr>
      </p:sp>
      <p:sp>
        <p:nvSpPr>
          <p:cNvPr id="25" name="Text 23"/>
          <p:cNvSpPr/>
          <p:nvPr/>
        </p:nvSpPr>
        <p:spPr>
          <a:xfrm>
            <a:off x="9646920" y="1993392"/>
            <a:ext cx="2240280" cy="256032"/>
          </a:xfrm>
          <a:prstGeom prst="rect">
            <a:avLst/>
          </a:prstGeom>
          <a:noFill/>
          <a:ln/>
        </p:spPr>
        <p:txBody>
          <a:bodyPr wrap="square" lIns="0" tIns="0" rIns="0" bIns="0" rtlCol="0" anchor="ctr"/>
          <a:lstStyle/>
          <a:p>
            <a:pPr indent="0" marL="0">
              <a:buNone/>
            </a:pPr>
            <a:r>
              <a:rPr lang="en-US" sz="1150" b="1" dirty="0">
                <a:solidFill>
                  <a:srgbClr val="111827"/>
                </a:solidFill>
              </a:rPr>
              <a:t>Governance</a:t>
            </a:r>
            <a:endParaRPr lang="en-US" sz="1150" dirty="0"/>
          </a:p>
        </p:txBody>
      </p:sp>
      <p:sp>
        <p:nvSpPr>
          <p:cNvPr id="26" name="Text 24"/>
          <p:cNvSpPr/>
          <p:nvPr/>
        </p:nvSpPr>
        <p:spPr>
          <a:xfrm>
            <a:off x="9646920" y="2359152"/>
            <a:ext cx="2240280" cy="594360"/>
          </a:xfrm>
          <a:prstGeom prst="rect">
            <a:avLst/>
          </a:prstGeom>
          <a:noFill/>
          <a:ln/>
        </p:spPr>
        <p:txBody>
          <a:bodyPr wrap="square" lIns="0" tIns="0" rIns="0" bIns="0" rtlCol="0" anchor="ctr">
            <a:normAutofit/>
          </a:bodyPr>
          <a:lstStyle/>
          <a:p>
            <a:pPr indent="0" marL="0">
              <a:buNone/>
            </a:pPr>
            <a:r>
              <a:rPr lang="en-US" sz="870" dirty="0">
                <a:solidFill>
                  <a:srgbClr val="4B5563"/>
                </a:solidFill>
              </a:rPr>
              <a:t>Audit logs, memory controls, policy prompts, team permissions, and output verification.</a:t>
            </a:r>
            <a:endParaRPr lang="en-US" sz="870" dirty="0"/>
          </a:p>
        </p:txBody>
      </p:sp>
      <p:sp>
        <p:nvSpPr>
          <p:cNvPr id="27" name="Shape 25"/>
          <p:cNvSpPr/>
          <p:nvPr/>
        </p:nvSpPr>
        <p:spPr>
          <a:xfrm>
            <a:off x="1508760" y="4160520"/>
            <a:ext cx="8961120" cy="0"/>
          </a:xfrm>
          <a:prstGeom prst="line">
            <a:avLst/>
          </a:prstGeom>
          <a:noFill/>
          <a:ln w="25400">
            <a:solidFill>
              <a:srgbClr val="D7DEE8"/>
            </a:solidFill>
            <a:prstDash val="solid"/>
          </a:ln>
        </p:spPr>
      </p:sp>
      <p:sp>
        <p:nvSpPr>
          <p:cNvPr id="28" name="Shape 26"/>
          <p:cNvSpPr/>
          <p:nvPr/>
        </p:nvSpPr>
        <p:spPr>
          <a:xfrm>
            <a:off x="914400" y="3931920"/>
            <a:ext cx="457200" cy="457200"/>
          </a:xfrm>
          <a:prstGeom prst="ellipse">
            <a:avLst/>
          </a:prstGeom>
          <a:solidFill>
            <a:srgbClr val="1E5BFF"/>
          </a:solidFill>
          <a:ln w="12700">
            <a:solidFill>
              <a:srgbClr val="1E5BFF"/>
            </a:solidFill>
            <a:prstDash val="solid"/>
          </a:ln>
        </p:spPr>
      </p:sp>
      <p:sp>
        <p:nvSpPr>
          <p:cNvPr id="29" name="Text 27"/>
          <p:cNvSpPr/>
          <p:nvPr/>
        </p:nvSpPr>
        <p:spPr>
          <a:xfrm>
            <a:off x="594360" y="4526280"/>
            <a:ext cx="1097280" cy="164592"/>
          </a:xfrm>
          <a:prstGeom prst="rect">
            <a:avLst/>
          </a:prstGeom>
          <a:noFill/>
          <a:ln/>
        </p:spPr>
        <p:txBody>
          <a:bodyPr wrap="square" lIns="0" tIns="0" rIns="0" bIns="0" rtlCol="0" anchor="ctr"/>
          <a:lstStyle/>
          <a:p>
            <a:pPr algn="ctr" indent="0" marL="0">
              <a:buNone/>
            </a:pPr>
            <a:r>
              <a:rPr lang="en-US" sz="850" b="1" dirty="0">
                <a:solidFill>
                  <a:srgbClr val="111827"/>
                </a:solidFill>
              </a:rPr>
              <a:t>Idea</a:t>
            </a:r>
            <a:endParaRPr lang="en-US" sz="850" dirty="0"/>
          </a:p>
        </p:txBody>
      </p:sp>
      <p:sp>
        <p:nvSpPr>
          <p:cNvPr id="30" name="Shape 28"/>
          <p:cNvSpPr/>
          <p:nvPr/>
        </p:nvSpPr>
        <p:spPr>
          <a:xfrm>
            <a:off x="2788920" y="3931920"/>
            <a:ext cx="457200" cy="457200"/>
          </a:xfrm>
          <a:prstGeom prst="ellipse">
            <a:avLst/>
          </a:prstGeom>
          <a:solidFill>
            <a:srgbClr val="FFFFFF"/>
          </a:solidFill>
          <a:ln w="12700">
            <a:solidFill>
              <a:srgbClr val="D7DEE8"/>
            </a:solidFill>
            <a:prstDash val="solid"/>
          </a:ln>
        </p:spPr>
      </p:sp>
      <p:sp>
        <p:nvSpPr>
          <p:cNvPr id="31" name="Text 29"/>
          <p:cNvSpPr/>
          <p:nvPr/>
        </p:nvSpPr>
        <p:spPr>
          <a:xfrm>
            <a:off x="2468880" y="4526280"/>
            <a:ext cx="1097280" cy="164592"/>
          </a:xfrm>
          <a:prstGeom prst="rect">
            <a:avLst/>
          </a:prstGeom>
          <a:noFill/>
          <a:ln/>
        </p:spPr>
        <p:txBody>
          <a:bodyPr wrap="square" lIns="0" tIns="0" rIns="0" bIns="0" rtlCol="0" anchor="ctr"/>
          <a:lstStyle/>
          <a:p>
            <a:pPr algn="ctr" indent="0" marL="0">
              <a:buNone/>
            </a:pPr>
            <a:r>
              <a:rPr lang="en-US" sz="850" b="1" dirty="0">
                <a:solidFill>
                  <a:srgbClr val="111827"/>
                </a:solidFill>
              </a:rPr>
              <a:t>Generate</a:t>
            </a:r>
            <a:endParaRPr lang="en-US" sz="850" dirty="0"/>
          </a:p>
        </p:txBody>
      </p:sp>
      <p:sp>
        <p:nvSpPr>
          <p:cNvPr id="32" name="Shape 30"/>
          <p:cNvSpPr/>
          <p:nvPr/>
        </p:nvSpPr>
        <p:spPr>
          <a:xfrm>
            <a:off x="4663440" y="3931920"/>
            <a:ext cx="457200" cy="457200"/>
          </a:xfrm>
          <a:prstGeom prst="ellipse">
            <a:avLst/>
          </a:prstGeom>
          <a:solidFill>
            <a:srgbClr val="FFFFFF"/>
          </a:solidFill>
          <a:ln w="12700">
            <a:solidFill>
              <a:srgbClr val="D7DEE8"/>
            </a:solidFill>
            <a:prstDash val="solid"/>
          </a:ln>
        </p:spPr>
      </p:sp>
      <p:sp>
        <p:nvSpPr>
          <p:cNvPr id="33" name="Text 31"/>
          <p:cNvSpPr/>
          <p:nvPr/>
        </p:nvSpPr>
        <p:spPr>
          <a:xfrm>
            <a:off x="4343400" y="4526280"/>
            <a:ext cx="1097280" cy="164592"/>
          </a:xfrm>
          <a:prstGeom prst="rect">
            <a:avLst/>
          </a:prstGeom>
          <a:noFill/>
          <a:ln/>
        </p:spPr>
        <p:txBody>
          <a:bodyPr wrap="square" lIns="0" tIns="0" rIns="0" bIns="0" rtlCol="0" anchor="ctr"/>
          <a:lstStyle/>
          <a:p>
            <a:pPr algn="ctr" indent="0" marL="0">
              <a:buNone/>
            </a:pPr>
            <a:r>
              <a:rPr lang="en-US" sz="850" b="1" dirty="0">
                <a:solidFill>
                  <a:srgbClr val="111827"/>
                </a:solidFill>
              </a:rPr>
              <a:t>Preview</a:t>
            </a:r>
            <a:endParaRPr lang="en-US" sz="850" dirty="0"/>
          </a:p>
        </p:txBody>
      </p:sp>
      <p:sp>
        <p:nvSpPr>
          <p:cNvPr id="34" name="Shape 32"/>
          <p:cNvSpPr/>
          <p:nvPr/>
        </p:nvSpPr>
        <p:spPr>
          <a:xfrm>
            <a:off x="6537960" y="3931920"/>
            <a:ext cx="457200" cy="457200"/>
          </a:xfrm>
          <a:prstGeom prst="ellipse">
            <a:avLst/>
          </a:prstGeom>
          <a:solidFill>
            <a:srgbClr val="FFFFFF"/>
          </a:solidFill>
          <a:ln w="12700">
            <a:solidFill>
              <a:srgbClr val="D7DEE8"/>
            </a:solidFill>
            <a:prstDash val="solid"/>
          </a:ln>
        </p:spPr>
      </p:sp>
      <p:sp>
        <p:nvSpPr>
          <p:cNvPr id="35" name="Text 33"/>
          <p:cNvSpPr/>
          <p:nvPr/>
        </p:nvSpPr>
        <p:spPr>
          <a:xfrm>
            <a:off x="6217920" y="4526280"/>
            <a:ext cx="1097280" cy="164592"/>
          </a:xfrm>
          <a:prstGeom prst="rect">
            <a:avLst/>
          </a:prstGeom>
          <a:noFill/>
          <a:ln/>
        </p:spPr>
        <p:txBody>
          <a:bodyPr wrap="square" lIns="0" tIns="0" rIns="0" bIns="0" rtlCol="0" anchor="ctr"/>
          <a:lstStyle/>
          <a:p>
            <a:pPr algn="ctr" indent="0" marL="0">
              <a:buNone/>
            </a:pPr>
            <a:r>
              <a:rPr lang="en-US" sz="850" b="1" dirty="0">
                <a:solidFill>
                  <a:srgbClr val="111827"/>
                </a:solidFill>
              </a:rPr>
              <a:t>Verify</a:t>
            </a:r>
            <a:endParaRPr lang="en-US" sz="850" dirty="0"/>
          </a:p>
        </p:txBody>
      </p:sp>
      <p:sp>
        <p:nvSpPr>
          <p:cNvPr id="36" name="Shape 34"/>
          <p:cNvSpPr/>
          <p:nvPr/>
        </p:nvSpPr>
        <p:spPr>
          <a:xfrm>
            <a:off x="8412480" y="3931920"/>
            <a:ext cx="457200" cy="457200"/>
          </a:xfrm>
          <a:prstGeom prst="ellipse">
            <a:avLst/>
          </a:prstGeom>
          <a:solidFill>
            <a:srgbClr val="FFFFFF"/>
          </a:solidFill>
          <a:ln w="12700">
            <a:solidFill>
              <a:srgbClr val="D7DEE8"/>
            </a:solidFill>
            <a:prstDash val="solid"/>
          </a:ln>
        </p:spPr>
      </p:sp>
      <p:sp>
        <p:nvSpPr>
          <p:cNvPr id="37" name="Text 35"/>
          <p:cNvSpPr/>
          <p:nvPr/>
        </p:nvSpPr>
        <p:spPr>
          <a:xfrm>
            <a:off x="8092440" y="4526280"/>
            <a:ext cx="1097280" cy="164592"/>
          </a:xfrm>
          <a:prstGeom prst="rect">
            <a:avLst/>
          </a:prstGeom>
          <a:noFill/>
          <a:ln/>
        </p:spPr>
        <p:txBody>
          <a:bodyPr wrap="square" lIns="0" tIns="0" rIns="0" bIns="0" rtlCol="0" anchor="ctr"/>
          <a:lstStyle/>
          <a:p>
            <a:pPr algn="ctr" indent="0" marL="0">
              <a:buNone/>
            </a:pPr>
            <a:r>
              <a:rPr lang="en-US" sz="850" b="1" dirty="0">
                <a:solidFill>
                  <a:srgbClr val="111827"/>
                </a:solidFill>
              </a:rPr>
              <a:t>Launch</a:t>
            </a:r>
            <a:endParaRPr lang="en-US" sz="850" dirty="0"/>
          </a:p>
        </p:txBody>
      </p:sp>
      <p:sp>
        <p:nvSpPr>
          <p:cNvPr id="38" name="Shape 36"/>
          <p:cNvSpPr/>
          <p:nvPr/>
        </p:nvSpPr>
        <p:spPr>
          <a:xfrm>
            <a:off x="10287000" y="3931920"/>
            <a:ext cx="457200" cy="457200"/>
          </a:xfrm>
          <a:prstGeom prst="ellipse">
            <a:avLst/>
          </a:prstGeom>
          <a:solidFill>
            <a:srgbClr val="10A37F"/>
          </a:solidFill>
          <a:ln w="12700">
            <a:solidFill>
              <a:srgbClr val="D7DEE8"/>
            </a:solidFill>
            <a:prstDash val="solid"/>
          </a:ln>
        </p:spPr>
      </p:sp>
      <p:sp>
        <p:nvSpPr>
          <p:cNvPr id="39" name="Text 37"/>
          <p:cNvSpPr/>
          <p:nvPr/>
        </p:nvSpPr>
        <p:spPr>
          <a:xfrm>
            <a:off x="9966960" y="4526280"/>
            <a:ext cx="1097280" cy="164592"/>
          </a:xfrm>
          <a:prstGeom prst="rect">
            <a:avLst/>
          </a:prstGeom>
          <a:noFill/>
          <a:ln/>
        </p:spPr>
        <p:txBody>
          <a:bodyPr wrap="square" lIns="0" tIns="0" rIns="0" bIns="0" rtlCol="0" anchor="ctr"/>
          <a:lstStyle/>
          <a:p>
            <a:pPr algn="ctr" indent="0" marL="0">
              <a:buNone/>
            </a:pPr>
            <a:r>
              <a:rPr lang="en-US" sz="850" b="1" dirty="0">
                <a:solidFill>
                  <a:srgbClr val="111827"/>
                </a:solidFill>
              </a:rPr>
              <a:t>Improve</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75488" y="347472"/>
            <a:ext cx="201168" cy="201168"/>
          </a:xfrm>
          <a:prstGeom prst="rect">
            <a:avLst/>
          </a:prstGeom>
          <a:solidFill>
            <a:srgbClr val="1E5BFF"/>
          </a:solidFill>
          <a:ln w="12700">
            <a:solidFill>
              <a:srgbClr val="1E5BFF"/>
            </a:solidFill>
            <a:prstDash val="solid"/>
          </a:ln>
        </p:spPr>
      </p:sp>
      <p:sp>
        <p:nvSpPr>
          <p:cNvPr id="3" name="Shape 1"/>
          <p:cNvSpPr/>
          <p:nvPr/>
        </p:nvSpPr>
        <p:spPr>
          <a:xfrm>
            <a:off x="713232" y="347472"/>
            <a:ext cx="201168" cy="201168"/>
          </a:xfrm>
          <a:prstGeom prst="rect">
            <a:avLst/>
          </a:prstGeom>
          <a:solidFill>
            <a:srgbClr val="16B8C7"/>
          </a:solidFill>
          <a:ln w="12700">
            <a:solidFill>
              <a:srgbClr val="16B8C7"/>
            </a:solidFill>
            <a:prstDash val="solid"/>
          </a:ln>
        </p:spPr>
      </p:sp>
      <p:sp>
        <p:nvSpPr>
          <p:cNvPr id="4" name="Text 2"/>
          <p:cNvSpPr/>
          <p:nvPr/>
        </p:nvSpPr>
        <p:spPr>
          <a:xfrm>
            <a:off x="987552" y="310896"/>
            <a:ext cx="1097280" cy="228600"/>
          </a:xfrm>
          <a:prstGeom prst="rect">
            <a:avLst/>
          </a:prstGeom>
          <a:noFill/>
          <a:ln/>
        </p:spPr>
        <p:txBody>
          <a:bodyPr wrap="square" lIns="0" tIns="0" rIns="0" bIns="0" rtlCol="0" anchor="ctr"/>
          <a:lstStyle/>
          <a:p>
            <a:pPr indent="0" marL="0">
              <a:buNone/>
            </a:pPr>
            <a:r>
              <a:rPr lang="en-US" sz="1000" b="1" dirty="0">
                <a:solidFill>
                  <a:srgbClr val="111827"/>
                </a:solidFill>
              </a:rPr>
              <a:t>LokoAI</a:t>
            </a:r>
            <a:endParaRPr lang="en-US" sz="1000" dirty="0"/>
          </a:p>
        </p:txBody>
      </p:sp>
      <p:sp>
        <p:nvSpPr>
          <p:cNvPr id="5" name="Text 3"/>
          <p:cNvSpPr/>
          <p:nvPr/>
        </p:nvSpPr>
        <p:spPr>
          <a:xfrm>
            <a:off x="658368" y="713232"/>
            <a:ext cx="2651760" cy="164592"/>
          </a:xfrm>
          <a:prstGeom prst="rect">
            <a:avLst/>
          </a:prstGeom>
          <a:noFill/>
          <a:ln/>
        </p:spPr>
        <p:txBody>
          <a:bodyPr wrap="square" lIns="0" tIns="0" rIns="0" bIns="0" rtlCol="0" anchor="ctr"/>
          <a:lstStyle/>
          <a:p>
            <a:pPr indent="0" marL="0">
              <a:buNone/>
            </a:pPr>
            <a:r>
              <a:rPr lang="en-US" sz="750" b="1" dirty="0">
                <a:solidFill>
                  <a:srgbClr val="1E5BFF"/>
                </a:solidFill>
              </a:rPr>
              <a:t>TECHNOLOGY STACK</a:t>
            </a:r>
            <a:endParaRPr lang="en-US" sz="750" dirty="0"/>
          </a:p>
        </p:txBody>
      </p:sp>
      <p:sp>
        <p:nvSpPr>
          <p:cNvPr id="6" name="Text 4"/>
          <p:cNvSpPr/>
          <p:nvPr/>
        </p:nvSpPr>
        <p:spPr>
          <a:xfrm>
            <a:off x="658368" y="932688"/>
            <a:ext cx="10789920" cy="530352"/>
          </a:xfrm>
          <a:prstGeom prst="rect">
            <a:avLst/>
          </a:prstGeom>
          <a:noFill/>
          <a:ln/>
        </p:spPr>
        <p:txBody>
          <a:bodyPr wrap="square" lIns="0" tIns="0" rIns="0" bIns="0" rtlCol="0" anchor="ctr">
            <a:normAutofit/>
          </a:bodyPr>
          <a:lstStyle/>
          <a:p>
            <a:pPr indent="0" marL="0">
              <a:buNone/>
            </a:pPr>
            <a:r>
              <a:rPr lang="en-US" sz="2500" b="1" dirty="0">
                <a:solidFill>
                  <a:srgbClr val="111827"/>
                </a:solidFill>
                <a:latin typeface="Aptos Display" pitchFamily="34" charset="0"/>
                <a:ea typeface="Aptos Display" pitchFamily="34" charset="-122"/>
                <a:cs typeface="Aptos Display" pitchFamily="34" charset="-120"/>
              </a:rPr>
              <a:t>AI technology stack: model-flexible, memory-aware, execution-ready architecture</a:t>
            </a:r>
            <a:endParaRPr lang="en-US" sz="2500" dirty="0"/>
          </a:p>
        </p:txBody>
      </p:sp>
      <p:sp>
        <p:nvSpPr>
          <p:cNvPr id="7" name="Shape 5"/>
          <p:cNvSpPr/>
          <p:nvPr/>
        </p:nvSpPr>
        <p:spPr>
          <a:xfrm>
            <a:off x="658368" y="1572768"/>
            <a:ext cx="1143000" cy="0"/>
          </a:xfrm>
          <a:prstGeom prst="line">
            <a:avLst/>
          </a:prstGeom>
          <a:noFill/>
          <a:ln w="25400">
            <a:solidFill>
              <a:srgbClr val="1E5BFF"/>
            </a:solidFill>
            <a:prstDash val="solid"/>
          </a:ln>
        </p:spPr>
      </p:sp>
      <p:sp>
        <p:nvSpPr>
          <p:cNvPr id="8" name="Text 6"/>
          <p:cNvSpPr/>
          <p:nvPr/>
        </p:nvSpPr>
        <p:spPr>
          <a:xfrm>
            <a:off x="475488" y="6473952"/>
            <a:ext cx="2011680" cy="164592"/>
          </a:xfrm>
          <a:prstGeom prst="rect">
            <a:avLst/>
          </a:prstGeom>
          <a:noFill/>
          <a:ln/>
        </p:spPr>
        <p:txBody>
          <a:bodyPr wrap="square" lIns="0" tIns="0" rIns="0" bIns="0" rtlCol="0" anchor="ctr"/>
          <a:lstStyle/>
          <a:p>
            <a:pPr indent="0" marL="0">
              <a:buNone/>
            </a:pPr>
            <a:r>
              <a:rPr lang="en-US" sz="700" dirty="0">
                <a:solidFill>
                  <a:srgbClr val="64748B"/>
                </a:solidFill>
              </a:rPr>
              <a:t>LokoAI confidential</a:t>
            </a:r>
            <a:endParaRPr lang="en-US" sz="700" dirty="0"/>
          </a:p>
        </p:txBody>
      </p:sp>
      <p:sp>
        <p:nvSpPr>
          <p:cNvPr id="9" name="Text 7"/>
          <p:cNvSpPr/>
          <p:nvPr/>
        </p:nvSpPr>
        <p:spPr>
          <a:xfrm>
            <a:off x="11201400" y="6446520"/>
            <a:ext cx="640080" cy="201168"/>
          </a:xfrm>
          <a:prstGeom prst="rect">
            <a:avLst/>
          </a:prstGeom>
          <a:noFill/>
          <a:ln/>
        </p:spPr>
        <p:txBody>
          <a:bodyPr wrap="square" lIns="0" tIns="0" rIns="0" bIns="0" rtlCol="0" anchor="ctr"/>
          <a:lstStyle/>
          <a:p>
            <a:pPr algn="r" indent="0" marL="0">
              <a:buNone/>
            </a:pPr>
            <a:r>
              <a:rPr lang="en-US" sz="800" b="1" dirty="0">
                <a:solidFill>
                  <a:srgbClr val="64748B"/>
                </a:solidFill>
              </a:rPr>
              <a:t>08</a:t>
            </a:r>
            <a:endParaRPr lang="en-US" sz="800" dirty="0"/>
          </a:p>
        </p:txBody>
      </p:sp>
      <p:sp>
        <p:nvSpPr>
          <p:cNvPr id="10" name="Text 8"/>
          <p:cNvSpPr/>
          <p:nvPr/>
        </p:nvSpPr>
        <p:spPr>
          <a:xfrm>
            <a:off x="2743200" y="6446520"/>
            <a:ext cx="6217920" cy="164592"/>
          </a:xfrm>
          <a:prstGeom prst="rect">
            <a:avLst/>
          </a:prstGeom>
          <a:noFill/>
          <a:ln/>
        </p:spPr>
        <p:txBody>
          <a:bodyPr wrap="square" lIns="0" tIns="0" rIns="0" bIns="0" rtlCol="0" anchor="ctr">
            <a:normAutofit/>
          </a:bodyPr>
          <a:lstStyle/>
          <a:p>
            <a:pPr algn="ctr" indent="0" marL="0">
              <a:buNone/>
            </a:pPr>
            <a:r>
              <a:rPr lang="en-US" sz="670" dirty="0">
                <a:solidFill>
                  <a:srgbClr val="7A8494"/>
                </a:solidFill>
              </a:rPr>
              <a:t>Source: Architecture based on current AI platform patterns</a:t>
            </a:r>
            <a:endParaRPr lang="en-US" sz="670" dirty="0"/>
          </a:p>
        </p:txBody>
      </p:sp>
      <p:sp>
        <p:nvSpPr>
          <p:cNvPr id="11" name="Shape 9"/>
          <p:cNvSpPr/>
          <p:nvPr/>
        </p:nvSpPr>
        <p:spPr>
          <a:xfrm>
            <a:off x="914400" y="1828800"/>
            <a:ext cx="10287000" cy="530352"/>
          </a:xfrm>
          <a:prstGeom prst="rect">
            <a:avLst/>
          </a:prstGeom>
          <a:solidFill>
            <a:srgbClr val="FFFFFF"/>
          </a:solidFill>
          <a:ln w="12700">
            <a:solidFill>
              <a:srgbClr val="D7DEE8">
                <a:alpha val="80000"/>
              </a:srgbClr>
            </a:solidFill>
            <a:prstDash val="solid"/>
          </a:ln>
        </p:spPr>
      </p:sp>
      <p:sp>
        <p:nvSpPr>
          <p:cNvPr id="12" name="Shape 10"/>
          <p:cNvSpPr/>
          <p:nvPr/>
        </p:nvSpPr>
        <p:spPr>
          <a:xfrm>
            <a:off x="914400" y="1828800"/>
            <a:ext cx="73152" cy="530352"/>
          </a:xfrm>
          <a:prstGeom prst="rect">
            <a:avLst/>
          </a:prstGeom>
          <a:solidFill>
            <a:srgbClr val="1E5BFF"/>
          </a:solidFill>
          <a:ln w="12700">
            <a:solidFill>
              <a:srgbClr val="1E5BFF"/>
            </a:solidFill>
            <a:prstDash val="solid"/>
          </a:ln>
        </p:spPr>
      </p:sp>
      <p:sp>
        <p:nvSpPr>
          <p:cNvPr id="13" name="Text 11"/>
          <p:cNvSpPr/>
          <p:nvPr/>
        </p:nvSpPr>
        <p:spPr>
          <a:xfrm>
            <a:off x="1143000" y="1993392"/>
            <a:ext cx="9921240" cy="256032"/>
          </a:xfrm>
          <a:prstGeom prst="rect">
            <a:avLst/>
          </a:prstGeom>
          <a:noFill/>
          <a:ln/>
        </p:spPr>
        <p:txBody>
          <a:bodyPr wrap="square" lIns="0" tIns="0" rIns="0" bIns="0" rtlCol="0" anchor="ctr"/>
          <a:lstStyle/>
          <a:p>
            <a:pPr indent="0" marL="0">
              <a:buNone/>
            </a:pPr>
            <a:r>
              <a:rPr lang="en-US" sz="1150" b="1" dirty="0">
                <a:solidFill>
                  <a:srgbClr val="111827"/>
                </a:solidFill>
              </a:rPr>
              <a:t>User experience</a:t>
            </a:r>
            <a:endParaRPr lang="en-US" sz="1150" dirty="0"/>
          </a:p>
        </p:txBody>
      </p:sp>
      <p:sp>
        <p:nvSpPr>
          <p:cNvPr id="14" name="Text 12"/>
          <p:cNvSpPr/>
          <p:nvPr/>
        </p:nvSpPr>
        <p:spPr>
          <a:xfrm>
            <a:off x="1143000" y="2359152"/>
            <a:ext cx="9921240" cy="-109728"/>
          </a:xfrm>
          <a:prstGeom prst="rect">
            <a:avLst/>
          </a:prstGeom>
          <a:noFill/>
          <a:ln/>
        </p:spPr>
        <p:txBody>
          <a:bodyPr wrap="square" lIns="0" tIns="0" rIns="0" bIns="0" rtlCol="0" anchor="ctr">
            <a:normAutofit/>
          </a:bodyPr>
          <a:lstStyle/>
          <a:p>
            <a:pPr indent="0" marL="0">
              <a:buNone/>
            </a:pPr>
            <a:r>
              <a:rPr lang="en-US" sz="870" dirty="0">
                <a:solidFill>
                  <a:srgbClr val="4B5563"/>
                </a:solidFill>
              </a:rPr>
              <a:t>Chat, canvas, dashboard, file explorer, preview, account and project workspaces</a:t>
            </a:r>
            <a:endParaRPr lang="en-US" sz="870" dirty="0"/>
          </a:p>
        </p:txBody>
      </p:sp>
      <p:sp>
        <p:nvSpPr>
          <p:cNvPr id="15" name="Shape 13"/>
          <p:cNvSpPr/>
          <p:nvPr/>
        </p:nvSpPr>
        <p:spPr>
          <a:xfrm>
            <a:off x="914400" y="2542032"/>
            <a:ext cx="10287000" cy="530352"/>
          </a:xfrm>
          <a:prstGeom prst="rect">
            <a:avLst/>
          </a:prstGeom>
          <a:solidFill>
            <a:srgbClr val="FFFFFF"/>
          </a:solidFill>
          <a:ln w="12700">
            <a:solidFill>
              <a:srgbClr val="D7DEE8">
                <a:alpha val="80000"/>
              </a:srgbClr>
            </a:solidFill>
            <a:prstDash val="solid"/>
          </a:ln>
        </p:spPr>
      </p:sp>
      <p:sp>
        <p:nvSpPr>
          <p:cNvPr id="16" name="Shape 14"/>
          <p:cNvSpPr/>
          <p:nvPr/>
        </p:nvSpPr>
        <p:spPr>
          <a:xfrm>
            <a:off x="914400" y="2542032"/>
            <a:ext cx="73152" cy="530352"/>
          </a:xfrm>
          <a:prstGeom prst="rect">
            <a:avLst/>
          </a:prstGeom>
          <a:solidFill>
            <a:srgbClr val="16B8C7"/>
          </a:solidFill>
          <a:ln w="12700">
            <a:solidFill>
              <a:srgbClr val="16B8C7"/>
            </a:solidFill>
            <a:prstDash val="solid"/>
          </a:ln>
        </p:spPr>
      </p:sp>
      <p:sp>
        <p:nvSpPr>
          <p:cNvPr id="17" name="Text 15"/>
          <p:cNvSpPr/>
          <p:nvPr/>
        </p:nvSpPr>
        <p:spPr>
          <a:xfrm>
            <a:off x="1143000" y="2706624"/>
            <a:ext cx="9921240" cy="256032"/>
          </a:xfrm>
          <a:prstGeom prst="rect">
            <a:avLst/>
          </a:prstGeom>
          <a:noFill/>
          <a:ln/>
        </p:spPr>
        <p:txBody>
          <a:bodyPr wrap="square" lIns="0" tIns="0" rIns="0" bIns="0" rtlCol="0" anchor="ctr"/>
          <a:lstStyle/>
          <a:p>
            <a:pPr indent="0" marL="0">
              <a:buNone/>
            </a:pPr>
            <a:r>
              <a:rPr lang="en-US" sz="1150" b="1" dirty="0">
                <a:solidFill>
                  <a:srgbClr val="111827"/>
                </a:solidFill>
              </a:rPr>
              <a:t>Agent orchestration</a:t>
            </a:r>
            <a:endParaRPr lang="en-US" sz="1150" dirty="0"/>
          </a:p>
        </p:txBody>
      </p:sp>
      <p:sp>
        <p:nvSpPr>
          <p:cNvPr id="18" name="Text 16"/>
          <p:cNvSpPr/>
          <p:nvPr/>
        </p:nvSpPr>
        <p:spPr>
          <a:xfrm>
            <a:off x="1143000" y="3072384"/>
            <a:ext cx="9921240" cy="-109728"/>
          </a:xfrm>
          <a:prstGeom prst="rect">
            <a:avLst/>
          </a:prstGeom>
          <a:noFill/>
          <a:ln/>
        </p:spPr>
        <p:txBody>
          <a:bodyPr wrap="square" lIns="0" tIns="0" rIns="0" bIns="0" rtlCol="0" anchor="ctr">
            <a:normAutofit/>
          </a:bodyPr>
          <a:lstStyle/>
          <a:p>
            <a:pPr indent="0" marL="0">
              <a:buNone/>
            </a:pPr>
            <a:r>
              <a:rPr lang="en-US" sz="870" dirty="0">
                <a:solidFill>
                  <a:srgbClr val="4B5563"/>
                </a:solidFill>
              </a:rPr>
              <a:t>Prompt router, specialist agents, planning loops, tool calls, structured output generation</a:t>
            </a:r>
            <a:endParaRPr lang="en-US" sz="870" dirty="0"/>
          </a:p>
        </p:txBody>
      </p:sp>
      <p:sp>
        <p:nvSpPr>
          <p:cNvPr id="19" name="Shape 17"/>
          <p:cNvSpPr/>
          <p:nvPr/>
        </p:nvSpPr>
        <p:spPr>
          <a:xfrm>
            <a:off x="914400" y="3255264"/>
            <a:ext cx="10287000" cy="530352"/>
          </a:xfrm>
          <a:prstGeom prst="rect">
            <a:avLst/>
          </a:prstGeom>
          <a:solidFill>
            <a:srgbClr val="FFFFFF"/>
          </a:solidFill>
          <a:ln w="12700">
            <a:solidFill>
              <a:srgbClr val="D7DEE8">
                <a:alpha val="80000"/>
              </a:srgbClr>
            </a:solidFill>
            <a:prstDash val="solid"/>
          </a:ln>
        </p:spPr>
      </p:sp>
      <p:sp>
        <p:nvSpPr>
          <p:cNvPr id="20" name="Shape 18"/>
          <p:cNvSpPr/>
          <p:nvPr/>
        </p:nvSpPr>
        <p:spPr>
          <a:xfrm>
            <a:off x="914400" y="3255264"/>
            <a:ext cx="73152" cy="530352"/>
          </a:xfrm>
          <a:prstGeom prst="rect">
            <a:avLst/>
          </a:prstGeom>
          <a:solidFill>
            <a:srgbClr val="10A37F"/>
          </a:solidFill>
          <a:ln w="12700">
            <a:solidFill>
              <a:srgbClr val="10A37F"/>
            </a:solidFill>
            <a:prstDash val="solid"/>
          </a:ln>
        </p:spPr>
      </p:sp>
      <p:sp>
        <p:nvSpPr>
          <p:cNvPr id="21" name="Text 19"/>
          <p:cNvSpPr/>
          <p:nvPr/>
        </p:nvSpPr>
        <p:spPr>
          <a:xfrm>
            <a:off x="1143000" y="3419856"/>
            <a:ext cx="9921240" cy="256032"/>
          </a:xfrm>
          <a:prstGeom prst="rect">
            <a:avLst/>
          </a:prstGeom>
          <a:noFill/>
          <a:ln/>
        </p:spPr>
        <p:txBody>
          <a:bodyPr wrap="square" lIns="0" tIns="0" rIns="0" bIns="0" rtlCol="0" anchor="ctr"/>
          <a:lstStyle/>
          <a:p>
            <a:pPr indent="0" marL="0">
              <a:buNone/>
            </a:pPr>
            <a:r>
              <a:rPr lang="en-US" sz="1150" b="1" dirty="0">
                <a:solidFill>
                  <a:srgbClr val="111827"/>
                </a:solidFill>
              </a:rPr>
              <a:t>Model gateway</a:t>
            </a:r>
            <a:endParaRPr lang="en-US" sz="1150" dirty="0"/>
          </a:p>
        </p:txBody>
      </p:sp>
      <p:sp>
        <p:nvSpPr>
          <p:cNvPr id="22" name="Text 20"/>
          <p:cNvSpPr/>
          <p:nvPr/>
        </p:nvSpPr>
        <p:spPr>
          <a:xfrm>
            <a:off x="1143000" y="3785616"/>
            <a:ext cx="9921240" cy="-109728"/>
          </a:xfrm>
          <a:prstGeom prst="rect">
            <a:avLst/>
          </a:prstGeom>
          <a:noFill/>
          <a:ln/>
        </p:spPr>
        <p:txBody>
          <a:bodyPr wrap="square" lIns="0" tIns="0" rIns="0" bIns="0" rtlCol="0" anchor="ctr">
            <a:normAutofit/>
          </a:bodyPr>
          <a:lstStyle/>
          <a:p>
            <a:pPr indent="0" marL="0">
              <a:buNone/>
            </a:pPr>
            <a:r>
              <a:rPr lang="en-US" sz="870" dirty="0">
                <a:solidFill>
                  <a:srgbClr val="4B5563"/>
                </a:solidFill>
              </a:rPr>
              <a:t>OpenAI, Anthropic, Gemini, Meta, Mistral, Qwen, DeepSeek and other routed providers</a:t>
            </a:r>
            <a:endParaRPr lang="en-US" sz="870" dirty="0"/>
          </a:p>
        </p:txBody>
      </p:sp>
      <p:sp>
        <p:nvSpPr>
          <p:cNvPr id="23" name="Shape 21"/>
          <p:cNvSpPr/>
          <p:nvPr/>
        </p:nvSpPr>
        <p:spPr>
          <a:xfrm>
            <a:off x="914400" y="3968496"/>
            <a:ext cx="10287000" cy="530352"/>
          </a:xfrm>
          <a:prstGeom prst="rect">
            <a:avLst/>
          </a:prstGeom>
          <a:solidFill>
            <a:srgbClr val="FFFFFF"/>
          </a:solidFill>
          <a:ln w="12700">
            <a:solidFill>
              <a:srgbClr val="D7DEE8">
                <a:alpha val="80000"/>
              </a:srgbClr>
            </a:solidFill>
            <a:prstDash val="solid"/>
          </a:ln>
        </p:spPr>
      </p:sp>
      <p:sp>
        <p:nvSpPr>
          <p:cNvPr id="24" name="Shape 22"/>
          <p:cNvSpPr/>
          <p:nvPr/>
        </p:nvSpPr>
        <p:spPr>
          <a:xfrm>
            <a:off x="914400" y="3968496"/>
            <a:ext cx="73152" cy="530352"/>
          </a:xfrm>
          <a:prstGeom prst="rect">
            <a:avLst/>
          </a:prstGeom>
          <a:solidFill>
            <a:srgbClr val="F59E0B"/>
          </a:solidFill>
          <a:ln w="12700">
            <a:solidFill>
              <a:srgbClr val="F59E0B"/>
            </a:solidFill>
            <a:prstDash val="solid"/>
          </a:ln>
        </p:spPr>
      </p:sp>
      <p:sp>
        <p:nvSpPr>
          <p:cNvPr id="25" name="Text 23"/>
          <p:cNvSpPr/>
          <p:nvPr/>
        </p:nvSpPr>
        <p:spPr>
          <a:xfrm>
            <a:off x="1143000" y="4133088"/>
            <a:ext cx="9921240" cy="256032"/>
          </a:xfrm>
          <a:prstGeom prst="rect">
            <a:avLst/>
          </a:prstGeom>
          <a:noFill/>
          <a:ln/>
        </p:spPr>
        <p:txBody>
          <a:bodyPr wrap="square" lIns="0" tIns="0" rIns="0" bIns="0" rtlCol="0" anchor="ctr"/>
          <a:lstStyle/>
          <a:p>
            <a:pPr indent="0" marL="0">
              <a:buNone/>
            </a:pPr>
            <a:r>
              <a:rPr lang="en-US" sz="1150" b="1" dirty="0">
                <a:solidFill>
                  <a:srgbClr val="111827"/>
                </a:solidFill>
              </a:rPr>
              <a:t>Memory and context</a:t>
            </a:r>
            <a:endParaRPr lang="en-US" sz="1150" dirty="0"/>
          </a:p>
        </p:txBody>
      </p:sp>
      <p:sp>
        <p:nvSpPr>
          <p:cNvPr id="26" name="Text 24"/>
          <p:cNvSpPr/>
          <p:nvPr/>
        </p:nvSpPr>
        <p:spPr>
          <a:xfrm>
            <a:off x="1143000" y="4498848"/>
            <a:ext cx="9921240" cy="-109728"/>
          </a:xfrm>
          <a:prstGeom prst="rect">
            <a:avLst/>
          </a:prstGeom>
          <a:noFill/>
          <a:ln/>
        </p:spPr>
        <p:txBody>
          <a:bodyPr wrap="square" lIns="0" tIns="0" rIns="0" bIns="0" rtlCol="0" anchor="ctr">
            <a:normAutofit/>
          </a:bodyPr>
          <a:lstStyle/>
          <a:p>
            <a:pPr indent="0" marL="0">
              <a:buNone/>
            </a:pPr>
            <a:r>
              <a:rPr lang="en-US" sz="870" dirty="0">
                <a:solidFill>
                  <a:srgbClr val="4B5563"/>
                </a:solidFill>
              </a:rPr>
              <a:t>Project memory, generation history, local standards, files, Supabase project records</a:t>
            </a:r>
            <a:endParaRPr lang="en-US" sz="870" dirty="0"/>
          </a:p>
        </p:txBody>
      </p:sp>
      <p:sp>
        <p:nvSpPr>
          <p:cNvPr id="27" name="Shape 25"/>
          <p:cNvSpPr/>
          <p:nvPr/>
        </p:nvSpPr>
        <p:spPr>
          <a:xfrm>
            <a:off x="914400" y="4681728"/>
            <a:ext cx="10287000" cy="530352"/>
          </a:xfrm>
          <a:prstGeom prst="rect">
            <a:avLst/>
          </a:prstGeom>
          <a:solidFill>
            <a:srgbClr val="FFFFFF"/>
          </a:solidFill>
          <a:ln w="12700">
            <a:solidFill>
              <a:srgbClr val="D7DEE8">
                <a:alpha val="80000"/>
              </a:srgbClr>
            </a:solidFill>
            <a:prstDash val="solid"/>
          </a:ln>
        </p:spPr>
      </p:sp>
      <p:sp>
        <p:nvSpPr>
          <p:cNvPr id="28" name="Shape 26"/>
          <p:cNvSpPr/>
          <p:nvPr/>
        </p:nvSpPr>
        <p:spPr>
          <a:xfrm>
            <a:off x="914400" y="4681728"/>
            <a:ext cx="73152" cy="530352"/>
          </a:xfrm>
          <a:prstGeom prst="rect">
            <a:avLst/>
          </a:prstGeom>
          <a:solidFill>
            <a:srgbClr val="E11D48"/>
          </a:solidFill>
          <a:ln w="12700">
            <a:solidFill>
              <a:srgbClr val="E11D48"/>
            </a:solidFill>
            <a:prstDash val="solid"/>
          </a:ln>
        </p:spPr>
      </p:sp>
      <p:sp>
        <p:nvSpPr>
          <p:cNvPr id="29" name="Text 27"/>
          <p:cNvSpPr/>
          <p:nvPr/>
        </p:nvSpPr>
        <p:spPr>
          <a:xfrm>
            <a:off x="1143000" y="4846320"/>
            <a:ext cx="9921240" cy="256032"/>
          </a:xfrm>
          <a:prstGeom prst="rect">
            <a:avLst/>
          </a:prstGeom>
          <a:noFill/>
          <a:ln/>
        </p:spPr>
        <p:txBody>
          <a:bodyPr wrap="square" lIns="0" tIns="0" rIns="0" bIns="0" rtlCol="0" anchor="ctr"/>
          <a:lstStyle/>
          <a:p>
            <a:pPr indent="0" marL="0">
              <a:buNone/>
            </a:pPr>
            <a:r>
              <a:rPr lang="en-US" sz="1150" b="1" dirty="0">
                <a:solidFill>
                  <a:srgbClr val="111827"/>
                </a:solidFill>
              </a:rPr>
              <a:t>Execution and delivery</a:t>
            </a:r>
            <a:endParaRPr lang="en-US" sz="1150" dirty="0"/>
          </a:p>
        </p:txBody>
      </p:sp>
      <p:sp>
        <p:nvSpPr>
          <p:cNvPr id="30" name="Text 28"/>
          <p:cNvSpPr/>
          <p:nvPr/>
        </p:nvSpPr>
        <p:spPr>
          <a:xfrm>
            <a:off x="1143000" y="5212080"/>
            <a:ext cx="9921240" cy="-109728"/>
          </a:xfrm>
          <a:prstGeom prst="rect">
            <a:avLst/>
          </a:prstGeom>
          <a:noFill/>
          <a:ln/>
        </p:spPr>
        <p:txBody>
          <a:bodyPr wrap="square" lIns="0" tIns="0" rIns="0" bIns="0" rtlCol="0" anchor="ctr">
            <a:normAutofit/>
          </a:bodyPr>
          <a:lstStyle/>
          <a:p>
            <a:pPr indent="0" marL="0">
              <a:buNone/>
            </a:pPr>
            <a:r>
              <a:rPr lang="en-US" sz="870" dirty="0">
                <a:solidFill>
                  <a:srgbClr val="4B5563"/>
                </a:solidFill>
              </a:rPr>
              <a:t>Sandbox, terminal, code generation, file generators, deployment hooks, downloadable artifacts</a:t>
            </a:r>
            <a:endParaRPr lang="en-US" sz="870" dirty="0"/>
          </a:p>
        </p:txBody>
      </p:sp>
      <p:sp>
        <p:nvSpPr>
          <p:cNvPr id="31" name="Text 29"/>
          <p:cNvSpPr/>
          <p:nvPr/>
        </p:nvSpPr>
        <p:spPr>
          <a:xfrm>
            <a:off x="960120" y="5715000"/>
            <a:ext cx="10058400" cy="256032"/>
          </a:xfrm>
          <a:prstGeom prst="rect">
            <a:avLst/>
          </a:prstGeom>
          <a:noFill/>
          <a:ln/>
        </p:spPr>
        <p:txBody>
          <a:bodyPr wrap="square" lIns="0" tIns="0" rIns="0" bIns="0" rtlCol="0" anchor="ctr"/>
          <a:lstStyle/>
          <a:p>
            <a:pPr algn="ctr" indent="0" marL="0">
              <a:buNone/>
            </a:pPr>
            <a:r>
              <a:rPr lang="en-US" sz="1300" b="1" dirty="0">
                <a:solidFill>
                  <a:srgbClr val="111827"/>
                </a:solidFill>
              </a:rPr>
              <a:t>Differentiator: an auditable workflow graph around every generated artifact.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75488" y="347472"/>
            <a:ext cx="201168" cy="201168"/>
          </a:xfrm>
          <a:prstGeom prst="rect">
            <a:avLst/>
          </a:prstGeom>
          <a:solidFill>
            <a:srgbClr val="1E5BFF"/>
          </a:solidFill>
          <a:ln w="12700">
            <a:solidFill>
              <a:srgbClr val="1E5BFF"/>
            </a:solidFill>
            <a:prstDash val="solid"/>
          </a:ln>
        </p:spPr>
      </p:sp>
      <p:sp>
        <p:nvSpPr>
          <p:cNvPr id="3" name="Shape 1"/>
          <p:cNvSpPr/>
          <p:nvPr/>
        </p:nvSpPr>
        <p:spPr>
          <a:xfrm>
            <a:off x="713232" y="347472"/>
            <a:ext cx="201168" cy="201168"/>
          </a:xfrm>
          <a:prstGeom prst="rect">
            <a:avLst/>
          </a:prstGeom>
          <a:solidFill>
            <a:srgbClr val="16B8C7"/>
          </a:solidFill>
          <a:ln w="12700">
            <a:solidFill>
              <a:srgbClr val="16B8C7"/>
            </a:solidFill>
            <a:prstDash val="solid"/>
          </a:ln>
        </p:spPr>
      </p:sp>
      <p:sp>
        <p:nvSpPr>
          <p:cNvPr id="4" name="Text 2"/>
          <p:cNvSpPr/>
          <p:nvPr/>
        </p:nvSpPr>
        <p:spPr>
          <a:xfrm>
            <a:off x="987552" y="310896"/>
            <a:ext cx="1097280" cy="228600"/>
          </a:xfrm>
          <a:prstGeom prst="rect">
            <a:avLst/>
          </a:prstGeom>
          <a:noFill/>
          <a:ln/>
        </p:spPr>
        <p:txBody>
          <a:bodyPr wrap="square" lIns="0" tIns="0" rIns="0" bIns="0" rtlCol="0" anchor="ctr"/>
          <a:lstStyle/>
          <a:p>
            <a:pPr indent="0" marL="0">
              <a:buNone/>
            </a:pPr>
            <a:r>
              <a:rPr lang="en-US" sz="1000" b="1" dirty="0">
                <a:solidFill>
                  <a:srgbClr val="111827"/>
                </a:solidFill>
              </a:rPr>
              <a:t>LokoAI</a:t>
            </a:r>
            <a:endParaRPr lang="en-US" sz="1000" dirty="0"/>
          </a:p>
        </p:txBody>
      </p:sp>
      <p:sp>
        <p:nvSpPr>
          <p:cNvPr id="5" name="Text 3"/>
          <p:cNvSpPr/>
          <p:nvPr/>
        </p:nvSpPr>
        <p:spPr>
          <a:xfrm>
            <a:off x="658368" y="713232"/>
            <a:ext cx="2651760" cy="164592"/>
          </a:xfrm>
          <a:prstGeom prst="rect">
            <a:avLst/>
          </a:prstGeom>
          <a:noFill/>
          <a:ln/>
        </p:spPr>
        <p:txBody>
          <a:bodyPr wrap="square" lIns="0" tIns="0" rIns="0" bIns="0" rtlCol="0" anchor="ctr"/>
          <a:lstStyle/>
          <a:p>
            <a:pPr indent="0" marL="0">
              <a:buNone/>
            </a:pPr>
            <a:r>
              <a:rPr lang="en-US" sz="750" b="1" dirty="0">
                <a:solidFill>
                  <a:srgbClr val="1E5BFF"/>
                </a:solidFill>
              </a:rPr>
              <a:t>BUSINESS MODEL</a:t>
            </a:r>
            <a:endParaRPr lang="en-US" sz="750" dirty="0"/>
          </a:p>
        </p:txBody>
      </p:sp>
      <p:sp>
        <p:nvSpPr>
          <p:cNvPr id="6" name="Text 4"/>
          <p:cNvSpPr/>
          <p:nvPr/>
        </p:nvSpPr>
        <p:spPr>
          <a:xfrm>
            <a:off x="658368" y="932688"/>
            <a:ext cx="10789920" cy="530352"/>
          </a:xfrm>
          <a:prstGeom prst="rect">
            <a:avLst/>
          </a:prstGeom>
          <a:noFill/>
          <a:ln/>
        </p:spPr>
        <p:txBody>
          <a:bodyPr wrap="square" lIns="0" tIns="0" rIns="0" bIns="0" rtlCol="0" anchor="ctr">
            <a:normAutofit/>
          </a:bodyPr>
          <a:lstStyle/>
          <a:p>
            <a:pPr indent="0" marL="0">
              <a:buNone/>
            </a:pPr>
            <a:r>
              <a:rPr lang="en-US" sz="2500" b="1" dirty="0">
                <a:solidFill>
                  <a:srgbClr val="111827"/>
                </a:solidFill>
                <a:latin typeface="Aptos Display" pitchFamily="34" charset="0"/>
                <a:ea typeface="Aptos Display" pitchFamily="34" charset="-122"/>
                <a:cs typeface="Aptos Display" pitchFamily="34" charset="-120"/>
              </a:rPr>
              <a:t>Business model: land with self-serve builders, expand into teams and governed enterprise workspaces</a:t>
            </a:r>
            <a:endParaRPr lang="en-US" sz="2500" dirty="0"/>
          </a:p>
        </p:txBody>
      </p:sp>
      <p:sp>
        <p:nvSpPr>
          <p:cNvPr id="7" name="Shape 5"/>
          <p:cNvSpPr/>
          <p:nvPr/>
        </p:nvSpPr>
        <p:spPr>
          <a:xfrm>
            <a:off x="658368" y="1572768"/>
            <a:ext cx="1143000" cy="0"/>
          </a:xfrm>
          <a:prstGeom prst="line">
            <a:avLst/>
          </a:prstGeom>
          <a:noFill/>
          <a:ln w="25400">
            <a:solidFill>
              <a:srgbClr val="1E5BFF"/>
            </a:solidFill>
            <a:prstDash val="solid"/>
          </a:ln>
        </p:spPr>
      </p:sp>
      <p:sp>
        <p:nvSpPr>
          <p:cNvPr id="8" name="Text 6"/>
          <p:cNvSpPr/>
          <p:nvPr/>
        </p:nvSpPr>
        <p:spPr>
          <a:xfrm>
            <a:off x="475488" y="6473952"/>
            <a:ext cx="2011680" cy="164592"/>
          </a:xfrm>
          <a:prstGeom prst="rect">
            <a:avLst/>
          </a:prstGeom>
          <a:noFill/>
          <a:ln/>
        </p:spPr>
        <p:txBody>
          <a:bodyPr wrap="square" lIns="0" tIns="0" rIns="0" bIns="0" rtlCol="0" anchor="ctr"/>
          <a:lstStyle/>
          <a:p>
            <a:pPr indent="0" marL="0">
              <a:buNone/>
            </a:pPr>
            <a:r>
              <a:rPr lang="en-US" sz="700" dirty="0">
                <a:solidFill>
                  <a:srgbClr val="64748B"/>
                </a:solidFill>
              </a:rPr>
              <a:t>LokoAI confidential</a:t>
            </a:r>
            <a:endParaRPr lang="en-US" sz="700" dirty="0"/>
          </a:p>
        </p:txBody>
      </p:sp>
      <p:sp>
        <p:nvSpPr>
          <p:cNvPr id="9" name="Text 7"/>
          <p:cNvSpPr/>
          <p:nvPr/>
        </p:nvSpPr>
        <p:spPr>
          <a:xfrm>
            <a:off x="11201400" y="6446520"/>
            <a:ext cx="640080" cy="201168"/>
          </a:xfrm>
          <a:prstGeom prst="rect">
            <a:avLst/>
          </a:prstGeom>
          <a:noFill/>
          <a:ln/>
        </p:spPr>
        <p:txBody>
          <a:bodyPr wrap="square" lIns="0" tIns="0" rIns="0" bIns="0" rtlCol="0" anchor="ctr"/>
          <a:lstStyle/>
          <a:p>
            <a:pPr algn="r" indent="0" marL="0">
              <a:buNone/>
            </a:pPr>
            <a:r>
              <a:rPr lang="en-US" sz="800" b="1" dirty="0">
                <a:solidFill>
                  <a:srgbClr val="64748B"/>
                </a:solidFill>
              </a:rPr>
              <a:t>09</a:t>
            </a:r>
            <a:endParaRPr lang="en-US" sz="800" dirty="0"/>
          </a:p>
        </p:txBody>
      </p:sp>
      <p:sp>
        <p:nvSpPr>
          <p:cNvPr id="10" name="Text 8"/>
          <p:cNvSpPr/>
          <p:nvPr/>
        </p:nvSpPr>
        <p:spPr>
          <a:xfrm>
            <a:off x="2743200" y="6446520"/>
            <a:ext cx="6217920" cy="164592"/>
          </a:xfrm>
          <a:prstGeom prst="rect">
            <a:avLst/>
          </a:prstGeom>
          <a:noFill/>
          <a:ln/>
        </p:spPr>
        <p:txBody>
          <a:bodyPr wrap="square" lIns="0" tIns="0" rIns="0" bIns="0" rtlCol="0" anchor="ctr">
            <a:normAutofit/>
          </a:bodyPr>
          <a:lstStyle/>
          <a:p>
            <a:pPr algn="ctr" indent="0" marL="0">
              <a:buNone/>
            </a:pPr>
            <a:r>
              <a:rPr lang="en-US" sz="670" dirty="0">
                <a:solidFill>
                  <a:srgbClr val="7A8494"/>
                </a:solidFill>
              </a:rPr>
              <a:t>Source: Company model assumptions</a:t>
            </a:r>
            <a:endParaRPr lang="en-US" sz="670" dirty="0"/>
          </a:p>
        </p:txBody>
      </p:sp>
      <p:sp>
        <p:nvSpPr>
          <p:cNvPr id="11" name="Shape 9"/>
          <p:cNvSpPr/>
          <p:nvPr/>
        </p:nvSpPr>
        <p:spPr>
          <a:xfrm>
            <a:off x="777240" y="1847088"/>
            <a:ext cx="3337560" cy="1234440"/>
          </a:xfrm>
          <a:prstGeom prst="rect">
            <a:avLst/>
          </a:prstGeom>
          <a:solidFill>
            <a:srgbClr val="FFFFFF"/>
          </a:solidFill>
          <a:ln w="12700">
            <a:solidFill>
              <a:srgbClr val="D7DEE8">
                <a:alpha val="80000"/>
              </a:srgbClr>
            </a:solidFill>
            <a:prstDash val="solid"/>
          </a:ln>
        </p:spPr>
      </p:sp>
      <p:sp>
        <p:nvSpPr>
          <p:cNvPr id="12" name="Shape 10"/>
          <p:cNvSpPr/>
          <p:nvPr/>
        </p:nvSpPr>
        <p:spPr>
          <a:xfrm>
            <a:off x="777240" y="1847088"/>
            <a:ext cx="73152" cy="1234440"/>
          </a:xfrm>
          <a:prstGeom prst="rect">
            <a:avLst/>
          </a:prstGeom>
          <a:solidFill>
            <a:srgbClr val="1E5BFF"/>
          </a:solidFill>
          <a:ln w="12700">
            <a:solidFill>
              <a:srgbClr val="1E5BFF"/>
            </a:solidFill>
            <a:prstDash val="solid"/>
          </a:ln>
        </p:spPr>
      </p:sp>
      <p:sp>
        <p:nvSpPr>
          <p:cNvPr id="13" name="Text 11"/>
          <p:cNvSpPr/>
          <p:nvPr/>
        </p:nvSpPr>
        <p:spPr>
          <a:xfrm>
            <a:off x="1005840" y="2011680"/>
            <a:ext cx="2971800" cy="256032"/>
          </a:xfrm>
          <a:prstGeom prst="rect">
            <a:avLst/>
          </a:prstGeom>
          <a:noFill/>
          <a:ln/>
        </p:spPr>
        <p:txBody>
          <a:bodyPr wrap="square" lIns="0" tIns="0" rIns="0" bIns="0" rtlCol="0" anchor="ctr"/>
          <a:lstStyle/>
          <a:p>
            <a:pPr indent="0" marL="0">
              <a:buNone/>
            </a:pPr>
            <a:r>
              <a:rPr lang="en-US" sz="1150" b="1" dirty="0">
                <a:solidFill>
                  <a:srgbClr val="111827"/>
                </a:solidFill>
              </a:rPr>
              <a:t>Self-serve SaaS</a:t>
            </a:r>
            <a:endParaRPr lang="en-US" sz="1150" dirty="0"/>
          </a:p>
        </p:txBody>
      </p:sp>
      <p:sp>
        <p:nvSpPr>
          <p:cNvPr id="14" name="Text 12"/>
          <p:cNvSpPr/>
          <p:nvPr/>
        </p:nvSpPr>
        <p:spPr>
          <a:xfrm>
            <a:off x="1005840" y="2377440"/>
            <a:ext cx="2971800" cy="594360"/>
          </a:xfrm>
          <a:prstGeom prst="rect">
            <a:avLst/>
          </a:prstGeom>
          <a:noFill/>
          <a:ln/>
        </p:spPr>
        <p:txBody>
          <a:bodyPr wrap="square" lIns="0" tIns="0" rIns="0" bIns="0" rtlCol="0" anchor="ctr">
            <a:normAutofit/>
          </a:bodyPr>
          <a:lstStyle/>
          <a:p>
            <a:pPr indent="0" marL="0">
              <a:buNone/>
            </a:pPr>
            <a:r>
              <a:rPr lang="en-US" sz="870" dirty="0">
                <a:solidFill>
                  <a:srgbClr val="4B5563"/>
                </a:solidFill>
              </a:rPr>
              <a:t>Monthly subscriptions for founders, creators, indie hackers, and agencies. Fast onboarding; usage-based limits.</a:t>
            </a:r>
            <a:endParaRPr lang="en-US" sz="870" dirty="0"/>
          </a:p>
        </p:txBody>
      </p:sp>
      <p:sp>
        <p:nvSpPr>
          <p:cNvPr id="15" name="Shape 13"/>
          <p:cNvSpPr/>
          <p:nvPr/>
        </p:nvSpPr>
        <p:spPr>
          <a:xfrm>
            <a:off x="4434840" y="1847088"/>
            <a:ext cx="3337560" cy="1234440"/>
          </a:xfrm>
          <a:prstGeom prst="rect">
            <a:avLst/>
          </a:prstGeom>
          <a:solidFill>
            <a:srgbClr val="FFFFFF"/>
          </a:solidFill>
          <a:ln w="12700">
            <a:solidFill>
              <a:srgbClr val="D7DEE8">
                <a:alpha val="80000"/>
              </a:srgbClr>
            </a:solidFill>
            <a:prstDash val="solid"/>
          </a:ln>
        </p:spPr>
      </p:sp>
      <p:sp>
        <p:nvSpPr>
          <p:cNvPr id="16" name="Shape 14"/>
          <p:cNvSpPr/>
          <p:nvPr/>
        </p:nvSpPr>
        <p:spPr>
          <a:xfrm>
            <a:off x="4434840" y="1847088"/>
            <a:ext cx="73152" cy="1234440"/>
          </a:xfrm>
          <a:prstGeom prst="rect">
            <a:avLst/>
          </a:prstGeom>
          <a:solidFill>
            <a:srgbClr val="16B8C7"/>
          </a:solidFill>
          <a:ln w="12700">
            <a:solidFill>
              <a:srgbClr val="16B8C7"/>
            </a:solidFill>
            <a:prstDash val="solid"/>
          </a:ln>
        </p:spPr>
      </p:sp>
      <p:sp>
        <p:nvSpPr>
          <p:cNvPr id="17" name="Text 15"/>
          <p:cNvSpPr/>
          <p:nvPr/>
        </p:nvSpPr>
        <p:spPr>
          <a:xfrm>
            <a:off x="4663440" y="2011680"/>
            <a:ext cx="2971800" cy="256032"/>
          </a:xfrm>
          <a:prstGeom prst="rect">
            <a:avLst/>
          </a:prstGeom>
          <a:noFill/>
          <a:ln/>
        </p:spPr>
        <p:txBody>
          <a:bodyPr wrap="square" lIns="0" tIns="0" rIns="0" bIns="0" rtlCol="0" anchor="ctr"/>
          <a:lstStyle/>
          <a:p>
            <a:pPr indent="0" marL="0">
              <a:buNone/>
            </a:pPr>
            <a:r>
              <a:rPr lang="en-US" sz="1150" b="1" dirty="0">
                <a:solidFill>
                  <a:srgbClr val="111827"/>
                </a:solidFill>
              </a:rPr>
              <a:t>Team workspace</a:t>
            </a:r>
            <a:endParaRPr lang="en-US" sz="1150" dirty="0"/>
          </a:p>
        </p:txBody>
      </p:sp>
      <p:sp>
        <p:nvSpPr>
          <p:cNvPr id="18" name="Text 16"/>
          <p:cNvSpPr/>
          <p:nvPr/>
        </p:nvSpPr>
        <p:spPr>
          <a:xfrm>
            <a:off x="4663440" y="2377440"/>
            <a:ext cx="2971800" cy="594360"/>
          </a:xfrm>
          <a:prstGeom prst="rect">
            <a:avLst/>
          </a:prstGeom>
          <a:noFill/>
          <a:ln/>
        </p:spPr>
        <p:txBody>
          <a:bodyPr wrap="square" lIns="0" tIns="0" rIns="0" bIns="0" rtlCol="0" anchor="ctr">
            <a:normAutofit/>
          </a:bodyPr>
          <a:lstStyle/>
          <a:p>
            <a:pPr indent="0" marL="0">
              <a:buNone/>
            </a:pPr>
            <a:r>
              <a:rPr lang="en-US" sz="870" dirty="0">
                <a:solidFill>
                  <a:srgbClr val="4B5563"/>
                </a:solidFill>
              </a:rPr>
              <a:t>Per-seat plans for product, marketing, ops, and engineering teams that need shared projects and review workflows.</a:t>
            </a:r>
            <a:endParaRPr lang="en-US" sz="870" dirty="0"/>
          </a:p>
        </p:txBody>
      </p:sp>
      <p:sp>
        <p:nvSpPr>
          <p:cNvPr id="19" name="Shape 17"/>
          <p:cNvSpPr/>
          <p:nvPr/>
        </p:nvSpPr>
        <p:spPr>
          <a:xfrm>
            <a:off x="8092440" y="1847088"/>
            <a:ext cx="3337560" cy="1234440"/>
          </a:xfrm>
          <a:prstGeom prst="rect">
            <a:avLst/>
          </a:prstGeom>
          <a:solidFill>
            <a:srgbClr val="FFFFFF"/>
          </a:solidFill>
          <a:ln w="12700">
            <a:solidFill>
              <a:srgbClr val="D7DEE8">
                <a:alpha val="80000"/>
              </a:srgbClr>
            </a:solidFill>
            <a:prstDash val="solid"/>
          </a:ln>
        </p:spPr>
      </p:sp>
      <p:sp>
        <p:nvSpPr>
          <p:cNvPr id="20" name="Shape 18"/>
          <p:cNvSpPr/>
          <p:nvPr/>
        </p:nvSpPr>
        <p:spPr>
          <a:xfrm>
            <a:off x="8092440" y="1847088"/>
            <a:ext cx="73152" cy="1234440"/>
          </a:xfrm>
          <a:prstGeom prst="rect">
            <a:avLst/>
          </a:prstGeom>
          <a:solidFill>
            <a:srgbClr val="10A37F"/>
          </a:solidFill>
          <a:ln w="12700">
            <a:solidFill>
              <a:srgbClr val="10A37F"/>
            </a:solidFill>
            <a:prstDash val="solid"/>
          </a:ln>
        </p:spPr>
      </p:sp>
      <p:sp>
        <p:nvSpPr>
          <p:cNvPr id="21" name="Text 19"/>
          <p:cNvSpPr/>
          <p:nvPr/>
        </p:nvSpPr>
        <p:spPr>
          <a:xfrm>
            <a:off x="8321040" y="2011680"/>
            <a:ext cx="2971800" cy="256032"/>
          </a:xfrm>
          <a:prstGeom prst="rect">
            <a:avLst/>
          </a:prstGeom>
          <a:noFill/>
          <a:ln/>
        </p:spPr>
        <p:txBody>
          <a:bodyPr wrap="square" lIns="0" tIns="0" rIns="0" bIns="0" rtlCol="0" anchor="ctr"/>
          <a:lstStyle/>
          <a:p>
            <a:pPr indent="0" marL="0">
              <a:buNone/>
            </a:pPr>
            <a:r>
              <a:rPr lang="en-US" sz="1150" b="1" dirty="0">
                <a:solidFill>
                  <a:srgbClr val="111827"/>
                </a:solidFill>
              </a:rPr>
              <a:t>Enterprise platform</a:t>
            </a:r>
            <a:endParaRPr lang="en-US" sz="1150" dirty="0"/>
          </a:p>
        </p:txBody>
      </p:sp>
      <p:sp>
        <p:nvSpPr>
          <p:cNvPr id="22" name="Text 20"/>
          <p:cNvSpPr/>
          <p:nvPr/>
        </p:nvSpPr>
        <p:spPr>
          <a:xfrm>
            <a:off x="8321040" y="2377440"/>
            <a:ext cx="2971800" cy="594360"/>
          </a:xfrm>
          <a:prstGeom prst="rect">
            <a:avLst/>
          </a:prstGeom>
          <a:noFill/>
          <a:ln/>
        </p:spPr>
        <p:txBody>
          <a:bodyPr wrap="square" lIns="0" tIns="0" rIns="0" bIns="0" rtlCol="0" anchor="ctr">
            <a:normAutofit/>
          </a:bodyPr>
          <a:lstStyle/>
          <a:p>
            <a:pPr indent="0" marL="0">
              <a:buNone/>
            </a:pPr>
            <a:r>
              <a:rPr lang="en-US" sz="870" dirty="0">
                <a:solidFill>
                  <a:srgbClr val="4B5563"/>
                </a:solidFill>
              </a:rPr>
              <a:t>Annual contracts with SSO, compliance controls, model policy, private deployments, and support SLAs.</a:t>
            </a:r>
            <a:endParaRPr lang="en-US" sz="87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960120" y="3749040"/>
          <a:ext cx="10058400" cy="1554480"/>
        </p:xfrm>
        <a:graphic>
          <a:graphicData uri="http://schemas.openxmlformats.org/drawingml/2006/table">
            <a:tbl>
              <a:tblPr/>
              <a:tblGrid>
                <a:gridCol w="1645920"/>
                <a:gridCol w="1920240"/>
                <a:gridCol w="1463040"/>
                <a:gridCol w="1371600"/>
                <a:gridCol w="3657600"/>
              </a:tblGrid>
              <a:tr h="388620">
                <a:tc>
                  <a:txBody>
                    <a:bodyPr/>
                    <a:lstStyle/>
                    <a:p>
                      <a:pPr indent="0" marL="0">
                        <a:buNone/>
                      </a:pPr>
                      <a:r>
                        <a:rPr lang="en-US" sz="850" b="1" dirty="0">
                          <a:solidFill>
                            <a:srgbClr val="FFFFFF"/>
                          </a:solidFill>
                        </a:rPr>
                        <a:t>Motion</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Buyer</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Sales cycle</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Gross margin</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Expansion lever</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r>
              <a:tr h="388620">
                <a:tc>
                  <a:txBody>
                    <a:bodyPr/>
                    <a:lstStyle/>
                    <a:p>
                      <a:pPr indent="0" marL="0">
                        <a:buNone/>
                      </a:pPr>
                      <a:r>
                        <a:rPr lang="en-US" sz="800" dirty="0">
                          <a:solidFill>
                            <a:srgbClr val="111827"/>
                          </a:solidFill>
                        </a:rPr>
                        <a:t>Self-serve</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Founder / creator</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Instant</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75-85%</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Credits, templates, hosting</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r>
              <a:tr h="388620">
                <a:tc>
                  <a:txBody>
                    <a:bodyPr/>
                    <a:lstStyle/>
                    <a:p>
                      <a:pPr indent="0" marL="0">
                        <a:buNone/>
                      </a:pPr>
                      <a:r>
                        <a:rPr lang="en-US" sz="800" dirty="0">
                          <a:solidFill>
                            <a:srgbClr val="111827"/>
                          </a:solidFill>
                        </a:rPr>
                        <a:t>Team</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Agency / startup</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2-4 weeks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80-88%</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Seats, projects, collaboration</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r>
              <a:tr h="388620">
                <a:tc>
                  <a:txBody>
                    <a:bodyPr/>
                    <a:lstStyle/>
                    <a:p>
                      <a:pPr indent="0" marL="0">
                        <a:buNone/>
                      </a:pPr>
                      <a:r>
                        <a:rPr lang="en-US" sz="800" dirty="0">
                          <a:solidFill>
                            <a:srgbClr val="111827"/>
                          </a:solidFill>
                        </a:rPr>
                        <a:t>Enterprise</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Innovation / IT</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2-4 months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85-90%</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Security, governance, private models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75488" y="347472"/>
            <a:ext cx="201168" cy="201168"/>
          </a:xfrm>
          <a:prstGeom prst="rect">
            <a:avLst/>
          </a:prstGeom>
          <a:solidFill>
            <a:srgbClr val="1E5BFF"/>
          </a:solidFill>
          <a:ln w="12700">
            <a:solidFill>
              <a:srgbClr val="1E5BFF"/>
            </a:solidFill>
            <a:prstDash val="solid"/>
          </a:ln>
        </p:spPr>
      </p:sp>
      <p:sp>
        <p:nvSpPr>
          <p:cNvPr id="3" name="Shape 1"/>
          <p:cNvSpPr/>
          <p:nvPr/>
        </p:nvSpPr>
        <p:spPr>
          <a:xfrm>
            <a:off x="713232" y="347472"/>
            <a:ext cx="201168" cy="201168"/>
          </a:xfrm>
          <a:prstGeom prst="rect">
            <a:avLst/>
          </a:prstGeom>
          <a:solidFill>
            <a:srgbClr val="16B8C7"/>
          </a:solidFill>
          <a:ln w="12700">
            <a:solidFill>
              <a:srgbClr val="16B8C7"/>
            </a:solidFill>
            <a:prstDash val="solid"/>
          </a:ln>
        </p:spPr>
      </p:sp>
      <p:sp>
        <p:nvSpPr>
          <p:cNvPr id="4" name="Text 2"/>
          <p:cNvSpPr/>
          <p:nvPr/>
        </p:nvSpPr>
        <p:spPr>
          <a:xfrm>
            <a:off x="987552" y="310896"/>
            <a:ext cx="1097280" cy="228600"/>
          </a:xfrm>
          <a:prstGeom prst="rect">
            <a:avLst/>
          </a:prstGeom>
          <a:noFill/>
          <a:ln/>
        </p:spPr>
        <p:txBody>
          <a:bodyPr wrap="square" lIns="0" tIns="0" rIns="0" bIns="0" rtlCol="0" anchor="ctr"/>
          <a:lstStyle/>
          <a:p>
            <a:pPr indent="0" marL="0">
              <a:buNone/>
            </a:pPr>
            <a:r>
              <a:rPr lang="en-US" sz="1000" b="1" dirty="0">
                <a:solidFill>
                  <a:srgbClr val="111827"/>
                </a:solidFill>
              </a:rPr>
              <a:t>LokoAI</a:t>
            </a:r>
            <a:endParaRPr lang="en-US" sz="1000" dirty="0"/>
          </a:p>
        </p:txBody>
      </p:sp>
      <p:sp>
        <p:nvSpPr>
          <p:cNvPr id="5" name="Text 3"/>
          <p:cNvSpPr/>
          <p:nvPr/>
        </p:nvSpPr>
        <p:spPr>
          <a:xfrm>
            <a:off x="658368" y="713232"/>
            <a:ext cx="2651760" cy="164592"/>
          </a:xfrm>
          <a:prstGeom prst="rect">
            <a:avLst/>
          </a:prstGeom>
          <a:noFill/>
          <a:ln/>
        </p:spPr>
        <p:txBody>
          <a:bodyPr wrap="square" lIns="0" tIns="0" rIns="0" bIns="0" rtlCol="0" anchor="ctr"/>
          <a:lstStyle/>
          <a:p>
            <a:pPr indent="0" marL="0">
              <a:buNone/>
            </a:pPr>
            <a:r>
              <a:rPr lang="en-US" sz="750" b="1" dirty="0">
                <a:solidFill>
                  <a:srgbClr val="1E5BFF"/>
                </a:solidFill>
              </a:rPr>
              <a:t>REVENUE STREAMS</a:t>
            </a:r>
            <a:endParaRPr lang="en-US" sz="750" dirty="0"/>
          </a:p>
        </p:txBody>
      </p:sp>
      <p:sp>
        <p:nvSpPr>
          <p:cNvPr id="6" name="Text 4"/>
          <p:cNvSpPr/>
          <p:nvPr/>
        </p:nvSpPr>
        <p:spPr>
          <a:xfrm>
            <a:off x="658368" y="932688"/>
            <a:ext cx="10789920" cy="530352"/>
          </a:xfrm>
          <a:prstGeom prst="rect">
            <a:avLst/>
          </a:prstGeom>
          <a:noFill/>
          <a:ln/>
        </p:spPr>
        <p:txBody>
          <a:bodyPr wrap="square" lIns="0" tIns="0" rIns="0" bIns="0" rtlCol="0" anchor="ctr">
            <a:normAutofit/>
          </a:bodyPr>
          <a:lstStyle/>
          <a:p>
            <a:pPr indent="0" marL="0">
              <a:buNone/>
            </a:pPr>
            <a:r>
              <a:rPr lang="en-US" sz="2500" b="1" dirty="0">
                <a:solidFill>
                  <a:srgbClr val="111827"/>
                </a:solidFill>
                <a:latin typeface="Aptos Display" pitchFamily="34" charset="0"/>
                <a:ea typeface="Aptos Display" pitchFamily="34" charset="-122"/>
                <a:cs typeface="Aptos Display" pitchFamily="34" charset="-120"/>
              </a:rPr>
              <a:t>Revenue streams: subscriptions anchor the model; usage and services accelerate expansion</a:t>
            </a:r>
            <a:endParaRPr lang="en-US" sz="2500" dirty="0"/>
          </a:p>
        </p:txBody>
      </p:sp>
      <p:sp>
        <p:nvSpPr>
          <p:cNvPr id="7" name="Shape 5"/>
          <p:cNvSpPr/>
          <p:nvPr/>
        </p:nvSpPr>
        <p:spPr>
          <a:xfrm>
            <a:off x="658368" y="1572768"/>
            <a:ext cx="1143000" cy="0"/>
          </a:xfrm>
          <a:prstGeom prst="line">
            <a:avLst/>
          </a:prstGeom>
          <a:noFill/>
          <a:ln w="25400">
            <a:solidFill>
              <a:srgbClr val="1E5BFF"/>
            </a:solidFill>
            <a:prstDash val="solid"/>
          </a:ln>
        </p:spPr>
      </p:sp>
      <p:sp>
        <p:nvSpPr>
          <p:cNvPr id="8" name="Text 6"/>
          <p:cNvSpPr/>
          <p:nvPr/>
        </p:nvSpPr>
        <p:spPr>
          <a:xfrm>
            <a:off x="475488" y="6473952"/>
            <a:ext cx="2011680" cy="164592"/>
          </a:xfrm>
          <a:prstGeom prst="rect">
            <a:avLst/>
          </a:prstGeom>
          <a:noFill/>
          <a:ln/>
        </p:spPr>
        <p:txBody>
          <a:bodyPr wrap="square" lIns="0" tIns="0" rIns="0" bIns="0" rtlCol="0" anchor="ctr"/>
          <a:lstStyle/>
          <a:p>
            <a:pPr indent="0" marL="0">
              <a:buNone/>
            </a:pPr>
            <a:r>
              <a:rPr lang="en-US" sz="700" dirty="0">
                <a:solidFill>
                  <a:srgbClr val="64748B"/>
                </a:solidFill>
              </a:rPr>
              <a:t>LokoAI confidential</a:t>
            </a:r>
            <a:endParaRPr lang="en-US" sz="700" dirty="0"/>
          </a:p>
        </p:txBody>
      </p:sp>
      <p:sp>
        <p:nvSpPr>
          <p:cNvPr id="9" name="Text 7"/>
          <p:cNvSpPr/>
          <p:nvPr/>
        </p:nvSpPr>
        <p:spPr>
          <a:xfrm>
            <a:off x="11201400" y="6446520"/>
            <a:ext cx="640080" cy="201168"/>
          </a:xfrm>
          <a:prstGeom prst="rect">
            <a:avLst/>
          </a:prstGeom>
          <a:noFill/>
          <a:ln/>
        </p:spPr>
        <p:txBody>
          <a:bodyPr wrap="square" lIns="0" tIns="0" rIns="0" bIns="0" rtlCol="0" anchor="ctr"/>
          <a:lstStyle/>
          <a:p>
            <a:pPr algn="r" indent="0" marL="0">
              <a:buNone/>
            </a:pPr>
            <a:r>
              <a:rPr lang="en-US" sz="800" b="1" dirty="0">
                <a:solidFill>
                  <a:srgbClr val="64748B"/>
                </a:solidFill>
              </a:rPr>
              <a:t>10</a:t>
            </a:r>
            <a:endParaRPr lang="en-US" sz="800" dirty="0"/>
          </a:p>
        </p:txBody>
      </p:sp>
      <p:sp>
        <p:nvSpPr>
          <p:cNvPr id="10" name="Text 8"/>
          <p:cNvSpPr/>
          <p:nvPr/>
        </p:nvSpPr>
        <p:spPr>
          <a:xfrm>
            <a:off x="2743200" y="6446520"/>
            <a:ext cx="6217920" cy="164592"/>
          </a:xfrm>
          <a:prstGeom prst="rect">
            <a:avLst/>
          </a:prstGeom>
          <a:noFill/>
          <a:ln/>
        </p:spPr>
        <p:txBody>
          <a:bodyPr wrap="square" lIns="0" tIns="0" rIns="0" bIns="0" rtlCol="0" anchor="ctr">
            <a:normAutofit/>
          </a:bodyPr>
          <a:lstStyle/>
          <a:p>
            <a:pPr algn="ctr" indent="0" marL="0">
              <a:buNone/>
            </a:pPr>
            <a:r>
              <a:rPr lang="en-US" sz="670" dirty="0">
                <a:solidFill>
                  <a:srgbClr val="7A8494"/>
                </a:solidFill>
              </a:rPr>
              <a:t>Source: Company model assumptions</a:t>
            </a:r>
            <a:endParaRPr lang="en-US" sz="670" dirty="0"/>
          </a:p>
        </p:txBody>
      </p:sp>
      <p:sp>
        <p:nvSpPr>
          <p:cNvPr id="11" name="Text 9"/>
          <p:cNvSpPr/>
          <p:nvPr/>
        </p:nvSpPr>
        <p:spPr>
          <a:xfrm>
            <a:off x="914400" y="1993392"/>
            <a:ext cx="1828800" cy="256032"/>
          </a:xfrm>
          <a:prstGeom prst="rect">
            <a:avLst/>
          </a:prstGeom>
          <a:noFill/>
          <a:ln/>
        </p:spPr>
        <p:txBody>
          <a:bodyPr wrap="square" lIns="0" tIns="0" rIns="0" bIns="0" rtlCol="0" anchor="ctr">
            <a:normAutofit/>
          </a:bodyPr>
          <a:lstStyle/>
          <a:p>
            <a:pPr indent="0" marL="0">
              <a:buNone/>
            </a:pPr>
            <a:r>
              <a:rPr lang="en-US" sz="850" dirty="0">
                <a:solidFill>
                  <a:srgbClr val="4B5563"/>
                </a:solidFill>
              </a:rPr>
              <a:t>Subscriptions</a:t>
            </a:r>
            <a:endParaRPr lang="en-US" sz="850" dirty="0"/>
          </a:p>
        </p:txBody>
      </p:sp>
      <p:sp>
        <p:nvSpPr>
          <p:cNvPr id="12" name="Shape 10"/>
          <p:cNvSpPr/>
          <p:nvPr/>
        </p:nvSpPr>
        <p:spPr>
          <a:xfrm>
            <a:off x="2743200" y="2039112"/>
            <a:ext cx="2971800" cy="173736"/>
          </a:xfrm>
          <a:prstGeom prst="rect">
            <a:avLst/>
          </a:prstGeom>
          <a:solidFill>
            <a:srgbClr val="E7ECF3"/>
          </a:solidFill>
          <a:ln w="12700">
            <a:solidFill>
              <a:srgbClr val="E7ECF3"/>
            </a:solidFill>
            <a:prstDash val="solid"/>
          </a:ln>
        </p:spPr>
      </p:sp>
      <p:sp>
        <p:nvSpPr>
          <p:cNvPr id="13" name="Shape 11"/>
          <p:cNvSpPr/>
          <p:nvPr/>
        </p:nvSpPr>
        <p:spPr>
          <a:xfrm>
            <a:off x="2743200" y="2039112"/>
            <a:ext cx="2872740" cy="173736"/>
          </a:xfrm>
          <a:prstGeom prst="rect">
            <a:avLst/>
          </a:prstGeom>
          <a:solidFill>
            <a:srgbClr val="1E5BFF"/>
          </a:solidFill>
          <a:ln w="12700">
            <a:solidFill>
              <a:srgbClr val="1E5BFF"/>
            </a:solidFill>
            <a:prstDash val="solid"/>
          </a:ln>
        </p:spPr>
      </p:sp>
      <p:sp>
        <p:nvSpPr>
          <p:cNvPr id="14" name="Text 12"/>
          <p:cNvSpPr/>
          <p:nvPr/>
        </p:nvSpPr>
        <p:spPr>
          <a:xfrm>
            <a:off x="5806440" y="1993392"/>
            <a:ext cx="685800" cy="201168"/>
          </a:xfrm>
          <a:prstGeom prst="rect">
            <a:avLst/>
          </a:prstGeom>
          <a:noFill/>
          <a:ln/>
        </p:spPr>
        <p:txBody>
          <a:bodyPr wrap="square" lIns="0" tIns="0" rIns="0" bIns="0" rtlCol="0" anchor="ctr"/>
          <a:lstStyle/>
          <a:p>
            <a:pPr indent="0" marL="0">
              <a:buNone/>
            </a:pPr>
            <a:r>
              <a:rPr lang="en-US" sz="800" b="1" dirty="0">
                <a:solidFill>
                  <a:srgbClr val="111827"/>
                </a:solidFill>
              </a:rPr>
              <a:t>58%</a:t>
            </a:r>
            <a:endParaRPr lang="en-US" sz="800" dirty="0"/>
          </a:p>
        </p:txBody>
      </p:sp>
      <p:sp>
        <p:nvSpPr>
          <p:cNvPr id="15" name="Text 13"/>
          <p:cNvSpPr/>
          <p:nvPr/>
        </p:nvSpPr>
        <p:spPr>
          <a:xfrm>
            <a:off x="914400" y="2505456"/>
            <a:ext cx="1828800" cy="256032"/>
          </a:xfrm>
          <a:prstGeom prst="rect">
            <a:avLst/>
          </a:prstGeom>
          <a:noFill/>
          <a:ln/>
        </p:spPr>
        <p:txBody>
          <a:bodyPr wrap="square" lIns="0" tIns="0" rIns="0" bIns="0" rtlCol="0" anchor="ctr">
            <a:normAutofit/>
          </a:bodyPr>
          <a:lstStyle/>
          <a:p>
            <a:pPr indent="0" marL="0">
              <a:buNone/>
            </a:pPr>
            <a:r>
              <a:rPr lang="en-US" sz="850" dirty="0">
                <a:solidFill>
                  <a:srgbClr val="4B5563"/>
                </a:solidFill>
              </a:rPr>
              <a:t>Usage credits</a:t>
            </a:r>
            <a:endParaRPr lang="en-US" sz="850" dirty="0"/>
          </a:p>
        </p:txBody>
      </p:sp>
      <p:sp>
        <p:nvSpPr>
          <p:cNvPr id="16" name="Shape 14"/>
          <p:cNvSpPr/>
          <p:nvPr/>
        </p:nvSpPr>
        <p:spPr>
          <a:xfrm>
            <a:off x="2743200" y="2551176"/>
            <a:ext cx="2971800" cy="173736"/>
          </a:xfrm>
          <a:prstGeom prst="rect">
            <a:avLst/>
          </a:prstGeom>
          <a:solidFill>
            <a:srgbClr val="E7ECF3"/>
          </a:solidFill>
          <a:ln w="12700">
            <a:solidFill>
              <a:srgbClr val="E7ECF3"/>
            </a:solidFill>
            <a:prstDash val="solid"/>
          </a:ln>
        </p:spPr>
      </p:sp>
      <p:sp>
        <p:nvSpPr>
          <p:cNvPr id="17" name="Shape 15"/>
          <p:cNvSpPr/>
          <p:nvPr/>
        </p:nvSpPr>
        <p:spPr>
          <a:xfrm>
            <a:off x="2743200" y="2551176"/>
            <a:ext cx="990600" cy="173736"/>
          </a:xfrm>
          <a:prstGeom prst="rect">
            <a:avLst/>
          </a:prstGeom>
          <a:solidFill>
            <a:srgbClr val="16B8C7"/>
          </a:solidFill>
          <a:ln w="12700">
            <a:solidFill>
              <a:srgbClr val="16B8C7"/>
            </a:solidFill>
            <a:prstDash val="solid"/>
          </a:ln>
        </p:spPr>
      </p:sp>
      <p:sp>
        <p:nvSpPr>
          <p:cNvPr id="18" name="Text 16"/>
          <p:cNvSpPr/>
          <p:nvPr/>
        </p:nvSpPr>
        <p:spPr>
          <a:xfrm>
            <a:off x="5806440" y="2505456"/>
            <a:ext cx="685800" cy="201168"/>
          </a:xfrm>
          <a:prstGeom prst="rect">
            <a:avLst/>
          </a:prstGeom>
          <a:noFill/>
          <a:ln/>
        </p:spPr>
        <p:txBody>
          <a:bodyPr wrap="square" lIns="0" tIns="0" rIns="0" bIns="0" rtlCol="0" anchor="ctr"/>
          <a:lstStyle/>
          <a:p>
            <a:pPr indent="0" marL="0">
              <a:buNone/>
            </a:pPr>
            <a:r>
              <a:rPr lang="en-US" sz="800" b="1" dirty="0">
                <a:solidFill>
                  <a:srgbClr val="111827"/>
                </a:solidFill>
              </a:rPr>
              <a:t>20%</a:t>
            </a:r>
            <a:endParaRPr lang="en-US" sz="800" dirty="0"/>
          </a:p>
        </p:txBody>
      </p:sp>
      <p:sp>
        <p:nvSpPr>
          <p:cNvPr id="19" name="Text 17"/>
          <p:cNvSpPr/>
          <p:nvPr/>
        </p:nvSpPr>
        <p:spPr>
          <a:xfrm>
            <a:off x="914400" y="3017520"/>
            <a:ext cx="1828800" cy="256032"/>
          </a:xfrm>
          <a:prstGeom prst="rect">
            <a:avLst/>
          </a:prstGeom>
          <a:noFill/>
          <a:ln/>
        </p:spPr>
        <p:txBody>
          <a:bodyPr wrap="square" lIns="0" tIns="0" rIns="0" bIns="0" rtlCol="0" anchor="ctr">
            <a:normAutofit/>
          </a:bodyPr>
          <a:lstStyle/>
          <a:p>
            <a:pPr indent="0" marL="0">
              <a:buNone/>
            </a:pPr>
            <a:r>
              <a:rPr lang="en-US" sz="850" dirty="0">
                <a:solidFill>
                  <a:srgbClr val="4B5563"/>
                </a:solidFill>
              </a:rPr>
              <a:t>Enterprise add-ons</a:t>
            </a:r>
            <a:endParaRPr lang="en-US" sz="850" dirty="0"/>
          </a:p>
        </p:txBody>
      </p:sp>
      <p:sp>
        <p:nvSpPr>
          <p:cNvPr id="20" name="Shape 18"/>
          <p:cNvSpPr/>
          <p:nvPr/>
        </p:nvSpPr>
        <p:spPr>
          <a:xfrm>
            <a:off x="2743200" y="3063240"/>
            <a:ext cx="2971800" cy="173736"/>
          </a:xfrm>
          <a:prstGeom prst="rect">
            <a:avLst/>
          </a:prstGeom>
          <a:solidFill>
            <a:srgbClr val="E7ECF3"/>
          </a:solidFill>
          <a:ln w="12700">
            <a:solidFill>
              <a:srgbClr val="E7ECF3"/>
            </a:solidFill>
            <a:prstDash val="solid"/>
          </a:ln>
        </p:spPr>
      </p:sp>
      <p:sp>
        <p:nvSpPr>
          <p:cNvPr id="21" name="Shape 19"/>
          <p:cNvSpPr/>
          <p:nvPr/>
        </p:nvSpPr>
        <p:spPr>
          <a:xfrm>
            <a:off x="2743200" y="3063240"/>
            <a:ext cx="594360" cy="173736"/>
          </a:xfrm>
          <a:prstGeom prst="rect">
            <a:avLst/>
          </a:prstGeom>
          <a:solidFill>
            <a:srgbClr val="10A37F"/>
          </a:solidFill>
          <a:ln w="12700">
            <a:solidFill>
              <a:srgbClr val="10A37F"/>
            </a:solidFill>
            <a:prstDash val="solid"/>
          </a:ln>
        </p:spPr>
      </p:sp>
      <p:sp>
        <p:nvSpPr>
          <p:cNvPr id="22" name="Text 20"/>
          <p:cNvSpPr/>
          <p:nvPr/>
        </p:nvSpPr>
        <p:spPr>
          <a:xfrm>
            <a:off x="5806440" y="3017520"/>
            <a:ext cx="685800" cy="201168"/>
          </a:xfrm>
          <a:prstGeom prst="rect">
            <a:avLst/>
          </a:prstGeom>
          <a:noFill/>
          <a:ln/>
        </p:spPr>
        <p:txBody>
          <a:bodyPr wrap="square" lIns="0" tIns="0" rIns="0" bIns="0" rtlCol="0" anchor="ctr"/>
          <a:lstStyle/>
          <a:p>
            <a:pPr indent="0" marL="0">
              <a:buNone/>
            </a:pPr>
            <a:r>
              <a:rPr lang="en-US" sz="800" b="1" dirty="0">
                <a:solidFill>
                  <a:srgbClr val="111827"/>
                </a:solidFill>
              </a:rPr>
              <a:t>12%</a:t>
            </a:r>
            <a:endParaRPr lang="en-US" sz="800" dirty="0"/>
          </a:p>
        </p:txBody>
      </p:sp>
      <p:sp>
        <p:nvSpPr>
          <p:cNvPr id="23" name="Text 21"/>
          <p:cNvSpPr/>
          <p:nvPr/>
        </p:nvSpPr>
        <p:spPr>
          <a:xfrm>
            <a:off x="914400" y="3529584"/>
            <a:ext cx="1828800" cy="256032"/>
          </a:xfrm>
          <a:prstGeom prst="rect">
            <a:avLst/>
          </a:prstGeom>
          <a:noFill/>
          <a:ln/>
        </p:spPr>
        <p:txBody>
          <a:bodyPr wrap="square" lIns="0" tIns="0" rIns="0" bIns="0" rtlCol="0" anchor="ctr">
            <a:normAutofit/>
          </a:bodyPr>
          <a:lstStyle/>
          <a:p>
            <a:pPr indent="0" marL="0">
              <a:buNone/>
            </a:pPr>
            <a:r>
              <a:rPr lang="en-US" sz="850" dirty="0">
                <a:solidFill>
                  <a:srgbClr val="4B5563"/>
                </a:solidFill>
              </a:rPr>
              <a:t>Marketplace rev-share</a:t>
            </a:r>
            <a:endParaRPr lang="en-US" sz="850" dirty="0"/>
          </a:p>
        </p:txBody>
      </p:sp>
      <p:sp>
        <p:nvSpPr>
          <p:cNvPr id="24" name="Shape 22"/>
          <p:cNvSpPr/>
          <p:nvPr/>
        </p:nvSpPr>
        <p:spPr>
          <a:xfrm>
            <a:off x="2743200" y="3575304"/>
            <a:ext cx="2971800" cy="173736"/>
          </a:xfrm>
          <a:prstGeom prst="rect">
            <a:avLst/>
          </a:prstGeom>
          <a:solidFill>
            <a:srgbClr val="E7ECF3"/>
          </a:solidFill>
          <a:ln w="12700">
            <a:solidFill>
              <a:srgbClr val="E7ECF3"/>
            </a:solidFill>
            <a:prstDash val="solid"/>
          </a:ln>
        </p:spPr>
      </p:sp>
      <p:sp>
        <p:nvSpPr>
          <p:cNvPr id="25" name="Shape 23"/>
          <p:cNvSpPr/>
          <p:nvPr/>
        </p:nvSpPr>
        <p:spPr>
          <a:xfrm>
            <a:off x="2743200" y="3575304"/>
            <a:ext cx="297180" cy="173736"/>
          </a:xfrm>
          <a:prstGeom prst="rect">
            <a:avLst/>
          </a:prstGeom>
          <a:solidFill>
            <a:srgbClr val="F59E0B"/>
          </a:solidFill>
          <a:ln w="12700">
            <a:solidFill>
              <a:srgbClr val="F59E0B"/>
            </a:solidFill>
            <a:prstDash val="solid"/>
          </a:ln>
        </p:spPr>
      </p:sp>
      <p:sp>
        <p:nvSpPr>
          <p:cNvPr id="26" name="Text 24"/>
          <p:cNvSpPr/>
          <p:nvPr/>
        </p:nvSpPr>
        <p:spPr>
          <a:xfrm>
            <a:off x="5806440" y="3529584"/>
            <a:ext cx="685800" cy="201168"/>
          </a:xfrm>
          <a:prstGeom prst="rect">
            <a:avLst/>
          </a:prstGeom>
          <a:noFill/>
          <a:ln/>
        </p:spPr>
        <p:txBody>
          <a:bodyPr wrap="square" lIns="0" tIns="0" rIns="0" bIns="0" rtlCol="0" anchor="ctr"/>
          <a:lstStyle/>
          <a:p>
            <a:pPr indent="0" marL="0">
              <a:buNone/>
            </a:pPr>
            <a:r>
              <a:rPr lang="en-US" sz="800" b="1" dirty="0">
                <a:solidFill>
                  <a:srgbClr val="111827"/>
                </a:solidFill>
              </a:rPr>
              <a:t>6%</a:t>
            </a:r>
            <a:endParaRPr lang="en-US" sz="800" dirty="0"/>
          </a:p>
        </p:txBody>
      </p:sp>
      <p:sp>
        <p:nvSpPr>
          <p:cNvPr id="27" name="Text 25"/>
          <p:cNvSpPr/>
          <p:nvPr/>
        </p:nvSpPr>
        <p:spPr>
          <a:xfrm>
            <a:off x="914400" y="4041648"/>
            <a:ext cx="1828800" cy="256032"/>
          </a:xfrm>
          <a:prstGeom prst="rect">
            <a:avLst/>
          </a:prstGeom>
          <a:noFill/>
          <a:ln/>
        </p:spPr>
        <p:txBody>
          <a:bodyPr wrap="square" lIns="0" tIns="0" rIns="0" bIns="0" rtlCol="0" anchor="ctr">
            <a:normAutofit/>
          </a:bodyPr>
          <a:lstStyle/>
          <a:p>
            <a:pPr indent="0" marL="0">
              <a:buNone/>
            </a:pPr>
            <a:r>
              <a:rPr lang="en-US" sz="850" dirty="0">
                <a:solidFill>
                  <a:srgbClr val="4B5563"/>
                </a:solidFill>
              </a:rPr>
              <a:t>Services / onboarding</a:t>
            </a:r>
            <a:endParaRPr lang="en-US" sz="850" dirty="0"/>
          </a:p>
        </p:txBody>
      </p:sp>
      <p:sp>
        <p:nvSpPr>
          <p:cNvPr id="28" name="Shape 26"/>
          <p:cNvSpPr/>
          <p:nvPr/>
        </p:nvSpPr>
        <p:spPr>
          <a:xfrm>
            <a:off x="2743200" y="4087368"/>
            <a:ext cx="2971800" cy="173736"/>
          </a:xfrm>
          <a:prstGeom prst="rect">
            <a:avLst/>
          </a:prstGeom>
          <a:solidFill>
            <a:srgbClr val="E7ECF3"/>
          </a:solidFill>
          <a:ln w="12700">
            <a:solidFill>
              <a:srgbClr val="E7ECF3"/>
            </a:solidFill>
            <a:prstDash val="solid"/>
          </a:ln>
        </p:spPr>
      </p:sp>
      <p:sp>
        <p:nvSpPr>
          <p:cNvPr id="29" name="Shape 27"/>
          <p:cNvSpPr/>
          <p:nvPr/>
        </p:nvSpPr>
        <p:spPr>
          <a:xfrm>
            <a:off x="2743200" y="4087368"/>
            <a:ext cx="198120" cy="173736"/>
          </a:xfrm>
          <a:prstGeom prst="rect">
            <a:avLst/>
          </a:prstGeom>
          <a:solidFill>
            <a:srgbClr val="E11D48"/>
          </a:solidFill>
          <a:ln w="12700">
            <a:solidFill>
              <a:srgbClr val="E11D48"/>
            </a:solidFill>
            <a:prstDash val="solid"/>
          </a:ln>
        </p:spPr>
      </p:sp>
      <p:sp>
        <p:nvSpPr>
          <p:cNvPr id="30" name="Text 28"/>
          <p:cNvSpPr/>
          <p:nvPr/>
        </p:nvSpPr>
        <p:spPr>
          <a:xfrm>
            <a:off x="5806440" y="4041648"/>
            <a:ext cx="685800" cy="201168"/>
          </a:xfrm>
          <a:prstGeom prst="rect">
            <a:avLst/>
          </a:prstGeom>
          <a:noFill/>
          <a:ln/>
        </p:spPr>
        <p:txBody>
          <a:bodyPr wrap="square" lIns="0" tIns="0" rIns="0" bIns="0" rtlCol="0" anchor="ctr"/>
          <a:lstStyle/>
          <a:p>
            <a:pPr indent="0" marL="0">
              <a:buNone/>
            </a:pPr>
            <a:r>
              <a:rPr lang="en-US" sz="800" b="1" dirty="0">
                <a:solidFill>
                  <a:srgbClr val="111827"/>
                </a:solidFill>
              </a:rPr>
              <a:t>4%</a:t>
            </a:r>
            <a:endParaRPr lang="en-US" sz="800" dirty="0"/>
          </a:p>
        </p:txBody>
      </p:sp>
      <p:sp>
        <p:nvSpPr>
          <p:cNvPr id="31" name="Shape 29"/>
          <p:cNvSpPr/>
          <p:nvPr/>
        </p:nvSpPr>
        <p:spPr>
          <a:xfrm>
            <a:off x="6949440" y="1920240"/>
            <a:ext cx="4206240" cy="713232"/>
          </a:xfrm>
          <a:prstGeom prst="rect">
            <a:avLst/>
          </a:prstGeom>
          <a:solidFill>
            <a:srgbClr val="FFFFFF"/>
          </a:solidFill>
          <a:ln w="12700">
            <a:solidFill>
              <a:srgbClr val="D7DEE8">
                <a:alpha val="80000"/>
              </a:srgbClr>
            </a:solidFill>
            <a:prstDash val="solid"/>
          </a:ln>
        </p:spPr>
      </p:sp>
      <p:sp>
        <p:nvSpPr>
          <p:cNvPr id="32" name="Shape 30"/>
          <p:cNvSpPr/>
          <p:nvPr/>
        </p:nvSpPr>
        <p:spPr>
          <a:xfrm>
            <a:off x="6949440" y="1920240"/>
            <a:ext cx="73152" cy="713232"/>
          </a:xfrm>
          <a:prstGeom prst="rect">
            <a:avLst/>
          </a:prstGeom>
          <a:solidFill>
            <a:srgbClr val="1E5BFF"/>
          </a:solidFill>
          <a:ln w="12700">
            <a:solidFill>
              <a:srgbClr val="1E5BFF"/>
            </a:solidFill>
            <a:prstDash val="solid"/>
          </a:ln>
        </p:spPr>
      </p:sp>
      <p:sp>
        <p:nvSpPr>
          <p:cNvPr id="33" name="Text 31"/>
          <p:cNvSpPr/>
          <p:nvPr/>
        </p:nvSpPr>
        <p:spPr>
          <a:xfrm>
            <a:off x="7178040" y="2084832"/>
            <a:ext cx="3840480" cy="256032"/>
          </a:xfrm>
          <a:prstGeom prst="rect">
            <a:avLst/>
          </a:prstGeom>
          <a:noFill/>
          <a:ln/>
        </p:spPr>
        <p:txBody>
          <a:bodyPr wrap="square" lIns="0" tIns="0" rIns="0" bIns="0" rtlCol="0" anchor="ctr"/>
          <a:lstStyle/>
          <a:p>
            <a:pPr indent="0" marL="0">
              <a:buNone/>
            </a:pPr>
            <a:r>
              <a:rPr lang="en-US" sz="1150" b="1" dirty="0">
                <a:solidFill>
                  <a:srgbClr val="111827"/>
                </a:solidFill>
              </a:rPr>
              <a:t>High-quality recurring base</a:t>
            </a:r>
            <a:endParaRPr lang="en-US" sz="1150" dirty="0"/>
          </a:p>
        </p:txBody>
      </p:sp>
      <p:sp>
        <p:nvSpPr>
          <p:cNvPr id="34" name="Text 32"/>
          <p:cNvSpPr/>
          <p:nvPr/>
        </p:nvSpPr>
        <p:spPr>
          <a:xfrm>
            <a:off x="7178040" y="2450592"/>
            <a:ext cx="3840480" cy="73152"/>
          </a:xfrm>
          <a:prstGeom prst="rect">
            <a:avLst/>
          </a:prstGeom>
          <a:noFill/>
          <a:ln/>
        </p:spPr>
        <p:txBody>
          <a:bodyPr wrap="square" lIns="0" tIns="0" rIns="0" bIns="0" rtlCol="0" anchor="ctr">
            <a:normAutofit/>
          </a:bodyPr>
          <a:lstStyle/>
          <a:p>
            <a:pPr indent="0" marL="0">
              <a:buNone/>
            </a:pPr>
            <a:r>
              <a:rPr lang="en-US" sz="870" dirty="0">
                <a:solidFill>
                  <a:srgbClr val="4B5563"/>
                </a:solidFill>
              </a:rPr>
              <a:t>Subscriptions create predictable ARR and customer commitment.</a:t>
            </a:r>
            <a:endParaRPr lang="en-US" sz="870" dirty="0"/>
          </a:p>
        </p:txBody>
      </p:sp>
      <p:sp>
        <p:nvSpPr>
          <p:cNvPr id="35" name="Shape 33"/>
          <p:cNvSpPr/>
          <p:nvPr/>
        </p:nvSpPr>
        <p:spPr>
          <a:xfrm>
            <a:off x="6949440" y="2880360"/>
            <a:ext cx="4206240" cy="713232"/>
          </a:xfrm>
          <a:prstGeom prst="rect">
            <a:avLst/>
          </a:prstGeom>
          <a:solidFill>
            <a:srgbClr val="FFFFFF"/>
          </a:solidFill>
          <a:ln w="12700">
            <a:solidFill>
              <a:srgbClr val="D7DEE8">
                <a:alpha val="80000"/>
              </a:srgbClr>
            </a:solidFill>
            <a:prstDash val="solid"/>
          </a:ln>
        </p:spPr>
      </p:sp>
      <p:sp>
        <p:nvSpPr>
          <p:cNvPr id="36" name="Shape 34"/>
          <p:cNvSpPr/>
          <p:nvPr/>
        </p:nvSpPr>
        <p:spPr>
          <a:xfrm>
            <a:off x="6949440" y="2880360"/>
            <a:ext cx="73152" cy="713232"/>
          </a:xfrm>
          <a:prstGeom prst="rect">
            <a:avLst/>
          </a:prstGeom>
          <a:solidFill>
            <a:srgbClr val="16B8C7"/>
          </a:solidFill>
          <a:ln w="12700">
            <a:solidFill>
              <a:srgbClr val="16B8C7"/>
            </a:solidFill>
            <a:prstDash val="solid"/>
          </a:ln>
        </p:spPr>
      </p:sp>
      <p:sp>
        <p:nvSpPr>
          <p:cNvPr id="37" name="Text 35"/>
          <p:cNvSpPr/>
          <p:nvPr/>
        </p:nvSpPr>
        <p:spPr>
          <a:xfrm>
            <a:off x="7178040" y="3044952"/>
            <a:ext cx="3840480" cy="256032"/>
          </a:xfrm>
          <a:prstGeom prst="rect">
            <a:avLst/>
          </a:prstGeom>
          <a:noFill/>
          <a:ln/>
        </p:spPr>
        <p:txBody>
          <a:bodyPr wrap="square" lIns="0" tIns="0" rIns="0" bIns="0" rtlCol="0" anchor="ctr"/>
          <a:lstStyle/>
          <a:p>
            <a:pPr indent="0" marL="0">
              <a:buNone/>
            </a:pPr>
            <a:r>
              <a:rPr lang="en-US" sz="1150" b="1" dirty="0">
                <a:solidFill>
                  <a:srgbClr val="111827"/>
                </a:solidFill>
              </a:rPr>
              <a:t>Usage aligns with value</a:t>
            </a:r>
            <a:endParaRPr lang="en-US" sz="1150" dirty="0"/>
          </a:p>
        </p:txBody>
      </p:sp>
      <p:sp>
        <p:nvSpPr>
          <p:cNvPr id="38" name="Text 36"/>
          <p:cNvSpPr/>
          <p:nvPr/>
        </p:nvSpPr>
        <p:spPr>
          <a:xfrm>
            <a:off x="7178040" y="3410712"/>
            <a:ext cx="3840480" cy="73152"/>
          </a:xfrm>
          <a:prstGeom prst="rect">
            <a:avLst/>
          </a:prstGeom>
          <a:noFill/>
          <a:ln/>
        </p:spPr>
        <p:txBody>
          <a:bodyPr wrap="square" lIns="0" tIns="0" rIns="0" bIns="0" rtlCol="0" anchor="ctr">
            <a:normAutofit/>
          </a:bodyPr>
          <a:lstStyle/>
          <a:p>
            <a:pPr indent="0" marL="0">
              <a:buNone/>
            </a:pPr>
            <a:r>
              <a:rPr lang="en-US" sz="870" dirty="0">
                <a:solidFill>
                  <a:srgbClr val="4B5563"/>
                </a:solidFill>
              </a:rPr>
              <a:t>Credits monetize model calls, sandboxes, deployments, and artifact generation.</a:t>
            </a:r>
            <a:endParaRPr lang="en-US" sz="870" dirty="0"/>
          </a:p>
        </p:txBody>
      </p:sp>
      <p:sp>
        <p:nvSpPr>
          <p:cNvPr id="39" name="Shape 37"/>
          <p:cNvSpPr/>
          <p:nvPr/>
        </p:nvSpPr>
        <p:spPr>
          <a:xfrm>
            <a:off x="6949440" y="3840480"/>
            <a:ext cx="4206240" cy="713232"/>
          </a:xfrm>
          <a:prstGeom prst="rect">
            <a:avLst/>
          </a:prstGeom>
          <a:solidFill>
            <a:srgbClr val="FFFFFF"/>
          </a:solidFill>
          <a:ln w="12700">
            <a:solidFill>
              <a:srgbClr val="D7DEE8">
                <a:alpha val="80000"/>
              </a:srgbClr>
            </a:solidFill>
            <a:prstDash val="solid"/>
          </a:ln>
        </p:spPr>
      </p:sp>
      <p:sp>
        <p:nvSpPr>
          <p:cNvPr id="40" name="Shape 38"/>
          <p:cNvSpPr/>
          <p:nvPr/>
        </p:nvSpPr>
        <p:spPr>
          <a:xfrm>
            <a:off x="6949440" y="3840480"/>
            <a:ext cx="73152" cy="713232"/>
          </a:xfrm>
          <a:prstGeom prst="rect">
            <a:avLst/>
          </a:prstGeom>
          <a:solidFill>
            <a:srgbClr val="10A37F"/>
          </a:solidFill>
          <a:ln w="12700">
            <a:solidFill>
              <a:srgbClr val="10A37F"/>
            </a:solidFill>
            <a:prstDash val="solid"/>
          </a:ln>
        </p:spPr>
      </p:sp>
      <p:sp>
        <p:nvSpPr>
          <p:cNvPr id="41" name="Text 39"/>
          <p:cNvSpPr/>
          <p:nvPr/>
        </p:nvSpPr>
        <p:spPr>
          <a:xfrm>
            <a:off x="7178040" y="4005072"/>
            <a:ext cx="3840480" cy="256032"/>
          </a:xfrm>
          <a:prstGeom prst="rect">
            <a:avLst/>
          </a:prstGeom>
          <a:noFill/>
          <a:ln/>
        </p:spPr>
        <p:txBody>
          <a:bodyPr wrap="square" lIns="0" tIns="0" rIns="0" bIns="0" rtlCol="0" anchor="ctr"/>
          <a:lstStyle/>
          <a:p>
            <a:pPr indent="0" marL="0">
              <a:buNone/>
            </a:pPr>
            <a:r>
              <a:rPr lang="en-US" sz="1150" b="1" dirty="0">
                <a:solidFill>
                  <a:srgbClr val="111827"/>
                </a:solidFill>
              </a:rPr>
              <a:t>Enterprise expands ARPA</a:t>
            </a:r>
            <a:endParaRPr lang="en-US" sz="1150" dirty="0"/>
          </a:p>
        </p:txBody>
      </p:sp>
      <p:sp>
        <p:nvSpPr>
          <p:cNvPr id="42" name="Text 40"/>
          <p:cNvSpPr/>
          <p:nvPr/>
        </p:nvSpPr>
        <p:spPr>
          <a:xfrm>
            <a:off x="7178040" y="4370832"/>
            <a:ext cx="3840480" cy="73152"/>
          </a:xfrm>
          <a:prstGeom prst="rect">
            <a:avLst/>
          </a:prstGeom>
          <a:noFill/>
          <a:ln/>
        </p:spPr>
        <p:txBody>
          <a:bodyPr wrap="square" lIns="0" tIns="0" rIns="0" bIns="0" rtlCol="0" anchor="ctr">
            <a:normAutofit/>
          </a:bodyPr>
          <a:lstStyle/>
          <a:p>
            <a:pPr indent="0" marL="0">
              <a:buNone/>
            </a:pPr>
            <a:r>
              <a:rPr lang="en-US" sz="870" dirty="0">
                <a:solidFill>
                  <a:srgbClr val="4B5563"/>
                </a:solidFill>
              </a:rPr>
              <a:t>Governance, private models, compliance exports, and support raise contract value.</a:t>
            </a:r>
            <a:endParaRPr lang="en-US" sz="870" dirty="0"/>
          </a:p>
        </p:txBody>
      </p:sp>
      <p:sp>
        <p:nvSpPr>
          <p:cNvPr id="43" name="Shape 41"/>
          <p:cNvSpPr/>
          <p:nvPr/>
        </p:nvSpPr>
        <p:spPr>
          <a:xfrm>
            <a:off x="6949440" y="4800600"/>
            <a:ext cx="4206240" cy="713232"/>
          </a:xfrm>
          <a:prstGeom prst="rect">
            <a:avLst/>
          </a:prstGeom>
          <a:solidFill>
            <a:srgbClr val="FFFFFF"/>
          </a:solidFill>
          <a:ln w="12700">
            <a:solidFill>
              <a:srgbClr val="D7DEE8">
                <a:alpha val="80000"/>
              </a:srgbClr>
            </a:solidFill>
            <a:prstDash val="solid"/>
          </a:ln>
        </p:spPr>
      </p:sp>
      <p:sp>
        <p:nvSpPr>
          <p:cNvPr id="44" name="Shape 42"/>
          <p:cNvSpPr/>
          <p:nvPr/>
        </p:nvSpPr>
        <p:spPr>
          <a:xfrm>
            <a:off x="6949440" y="4800600"/>
            <a:ext cx="73152" cy="713232"/>
          </a:xfrm>
          <a:prstGeom prst="rect">
            <a:avLst/>
          </a:prstGeom>
          <a:solidFill>
            <a:srgbClr val="F59E0B"/>
          </a:solidFill>
          <a:ln w="12700">
            <a:solidFill>
              <a:srgbClr val="F59E0B"/>
            </a:solidFill>
            <a:prstDash val="solid"/>
          </a:ln>
        </p:spPr>
      </p:sp>
      <p:sp>
        <p:nvSpPr>
          <p:cNvPr id="45" name="Text 43"/>
          <p:cNvSpPr/>
          <p:nvPr/>
        </p:nvSpPr>
        <p:spPr>
          <a:xfrm>
            <a:off x="7178040" y="4965192"/>
            <a:ext cx="3840480" cy="256032"/>
          </a:xfrm>
          <a:prstGeom prst="rect">
            <a:avLst/>
          </a:prstGeom>
          <a:noFill/>
          <a:ln/>
        </p:spPr>
        <p:txBody>
          <a:bodyPr wrap="square" lIns="0" tIns="0" rIns="0" bIns="0" rtlCol="0" anchor="ctr"/>
          <a:lstStyle/>
          <a:p>
            <a:pPr indent="0" marL="0">
              <a:buNone/>
            </a:pPr>
            <a:r>
              <a:rPr lang="en-US" sz="1150" b="1" dirty="0">
                <a:solidFill>
                  <a:srgbClr val="111827"/>
                </a:solidFill>
              </a:rPr>
              <a:t>Ecosystem optionality</a:t>
            </a:r>
            <a:endParaRPr lang="en-US" sz="1150" dirty="0"/>
          </a:p>
        </p:txBody>
      </p:sp>
      <p:sp>
        <p:nvSpPr>
          <p:cNvPr id="46" name="Text 44"/>
          <p:cNvSpPr/>
          <p:nvPr/>
        </p:nvSpPr>
        <p:spPr>
          <a:xfrm>
            <a:off x="7178040" y="5330952"/>
            <a:ext cx="3840480" cy="73152"/>
          </a:xfrm>
          <a:prstGeom prst="rect">
            <a:avLst/>
          </a:prstGeom>
          <a:noFill/>
          <a:ln/>
        </p:spPr>
        <p:txBody>
          <a:bodyPr wrap="square" lIns="0" tIns="0" rIns="0" bIns="0" rtlCol="0" anchor="ctr">
            <a:normAutofit/>
          </a:bodyPr>
          <a:lstStyle/>
          <a:p>
            <a:pPr indent="0" marL="0">
              <a:buNone/>
            </a:pPr>
            <a:r>
              <a:rPr lang="en-US" sz="870" dirty="0">
                <a:solidFill>
                  <a:srgbClr val="4B5563"/>
                </a:solidFill>
              </a:rPr>
              <a:t>Templates, agents, plugins, and implementation partners can become marketplace revenue.</a:t>
            </a:r>
            <a:endParaRPr lang="en-US" sz="87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75488" y="347472"/>
            <a:ext cx="201168" cy="201168"/>
          </a:xfrm>
          <a:prstGeom prst="rect">
            <a:avLst/>
          </a:prstGeom>
          <a:solidFill>
            <a:srgbClr val="1E5BFF"/>
          </a:solidFill>
          <a:ln w="12700">
            <a:solidFill>
              <a:srgbClr val="1E5BFF"/>
            </a:solidFill>
            <a:prstDash val="solid"/>
          </a:ln>
        </p:spPr>
      </p:sp>
      <p:sp>
        <p:nvSpPr>
          <p:cNvPr id="3" name="Shape 1"/>
          <p:cNvSpPr/>
          <p:nvPr/>
        </p:nvSpPr>
        <p:spPr>
          <a:xfrm>
            <a:off x="713232" y="347472"/>
            <a:ext cx="201168" cy="201168"/>
          </a:xfrm>
          <a:prstGeom prst="rect">
            <a:avLst/>
          </a:prstGeom>
          <a:solidFill>
            <a:srgbClr val="16B8C7"/>
          </a:solidFill>
          <a:ln w="12700">
            <a:solidFill>
              <a:srgbClr val="16B8C7"/>
            </a:solidFill>
            <a:prstDash val="solid"/>
          </a:ln>
        </p:spPr>
      </p:sp>
      <p:sp>
        <p:nvSpPr>
          <p:cNvPr id="4" name="Text 2"/>
          <p:cNvSpPr/>
          <p:nvPr/>
        </p:nvSpPr>
        <p:spPr>
          <a:xfrm>
            <a:off x="987552" y="310896"/>
            <a:ext cx="1097280" cy="228600"/>
          </a:xfrm>
          <a:prstGeom prst="rect">
            <a:avLst/>
          </a:prstGeom>
          <a:noFill/>
          <a:ln/>
        </p:spPr>
        <p:txBody>
          <a:bodyPr wrap="square" lIns="0" tIns="0" rIns="0" bIns="0" rtlCol="0" anchor="ctr"/>
          <a:lstStyle/>
          <a:p>
            <a:pPr indent="0" marL="0">
              <a:buNone/>
            </a:pPr>
            <a:r>
              <a:rPr lang="en-US" sz="1000" b="1" dirty="0">
                <a:solidFill>
                  <a:srgbClr val="111827"/>
                </a:solidFill>
              </a:rPr>
              <a:t>LokoAI</a:t>
            </a:r>
            <a:endParaRPr lang="en-US" sz="1000" dirty="0"/>
          </a:p>
        </p:txBody>
      </p:sp>
      <p:sp>
        <p:nvSpPr>
          <p:cNvPr id="5" name="Text 3"/>
          <p:cNvSpPr/>
          <p:nvPr/>
        </p:nvSpPr>
        <p:spPr>
          <a:xfrm>
            <a:off x="658368" y="713232"/>
            <a:ext cx="2651760" cy="164592"/>
          </a:xfrm>
          <a:prstGeom prst="rect">
            <a:avLst/>
          </a:prstGeom>
          <a:noFill/>
          <a:ln/>
        </p:spPr>
        <p:txBody>
          <a:bodyPr wrap="square" lIns="0" tIns="0" rIns="0" bIns="0" rtlCol="0" anchor="ctr"/>
          <a:lstStyle/>
          <a:p>
            <a:pPr indent="0" marL="0">
              <a:buNone/>
            </a:pPr>
            <a:r>
              <a:rPr lang="en-US" sz="750" b="1" dirty="0">
                <a:solidFill>
                  <a:srgbClr val="1E5BFF"/>
                </a:solidFill>
              </a:rPr>
              <a:t>PRICING</a:t>
            </a:r>
            <a:endParaRPr lang="en-US" sz="750" dirty="0"/>
          </a:p>
        </p:txBody>
      </p:sp>
      <p:sp>
        <p:nvSpPr>
          <p:cNvPr id="6" name="Text 4"/>
          <p:cNvSpPr/>
          <p:nvPr/>
        </p:nvSpPr>
        <p:spPr>
          <a:xfrm>
            <a:off x="658368" y="932688"/>
            <a:ext cx="10789920" cy="530352"/>
          </a:xfrm>
          <a:prstGeom prst="rect">
            <a:avLst/>
          </a:prstGeom>
          <a:noFill/>
          <a:ln/>
        </p:spPr>
        <p:txBody>
          <a:bodyPr wrap="square" lIns="0" tIns="0" rIns="0" bIns="0" rtlCol="0" anchor="ctr">
            <a:normAutofit/>
          </a:bodyPr>
          <a:lstStyle/>
          <a:p>
            <a:pPr indent="0" marL="0">
              <a:buNone/>
            </a:pPr>
            <a:r>
              <a:rPr lang="en-US" sz="2500" b="1" dirty="0">
                <a:solidFill>
                  <a:srgbClr val="111827"/>
                </a:solidFill>
                <a:latin typeface="Aptos Display" pitchFamily="34" charset="0"/>
                <a:ea typeface="Aptos Display" pitchFamily="34" charset="-122"/>
                <a:cs typeface="Aptos Display" pitchFamily="34" charset="-120"/>
              </a:rPr>
              <a:t>Pricing plans: simple entry, strong upgrade path, enterprise-ready economics</a:t>
            </a:r>
            <a:endParaRPr lang="en-US" sz="2500" dirty="0"/>
          </a:p>
        </p:txBody>
      </p:sp>
      <p:sp>
        <p:nvSpPr>
          <p:cNvPr id="7" name="Shape 5"/>
          <p:cNvSpPr/>
          <p:nvPr/>
        </p:nvSpPr>
        <p:spPr>
          <a:xfrm>
            <a:off x="658368" y="1572768"/>
            <a:ext cx="1143000" cy="0"/>
          </a:xfrm>
          <a:prstGeom prst="line">
            <a:avLst/>
          </a:prstGeom>
          <a:noFill/>
          <a:ln w="25400">
            <a:solidFill>
              <a:srgbClr val="1E5BFF"/>
            </a:solidFill>
            <a:prstDash val="solid"/>
          </a:ln>
        </p:spPr>
      </p:sp>
      <p:sp>
        <p:nvSpPr>
          <p:cNvPr id="8" name="Text 6"/>
          <p:cNvSpPr/>
          <p:nvPr/>
        </p:nvSpPr>
        <p:spPr>
          <a:xfrm>
            <a:off x="475488" y="6473952"/>
            <a:ext cx="2011680" cy="164592"/>
          </a:xfrm>
          <a:prstGeom prst="rect">
            <a:avLst/>
          </a:prstGeom>
          <a:noFill/>
          <a:ln/>
        </p:spPr>
        <p:txBody>
          <a:bodyPr wrap="square" lIns="0" tIns="0" rIns="0" bIns="0" rtlCol="0" anchor="ctr"/>
          <a:lstStyle/>
          <a:p>
            <a:pPr indent="0" marL="0">
              <a:buNone/>
            </a:pPr>
            <a:r>
              <a:rPr lang="en-US" sz="700" dirty="0">
                <a:solidFill>
                  <a:srgbClr val="64748B"/>
                </a:solidFill>
              </a:rPr>
              <a:t>LokoAI confidential</a:t>
            </a:r>
            <a:endParaRPr lang="en-US" sz="700" dirty="0"/>
          </a:p>
        </p:txBody>
      </p:sp>
      <p:sp>
        <p:nvSpPr>
          <p:cNvPr id="9" name="Text 7"/>
          <p:cNvSpPr/>
          <p:nvPr/>
        </p:nvSpPr>
        <p:spPr>
          <a:xfrm>
            <a:off x="11201400" y="6446520"/>
            <a:ext cx="640080" cy="201168"/>
          </a:xfrm>
          <a:prstGeom prst="rect">
            <a:avLst/>
          </a:prstGeom>
          <a:noFill/>
          <a:ln/>
        </p:spPr>
        <p:txBody>
          <a:bodyPr wrap="square" lIns="0" tIns="0" rIns="0" bIns="0" rtlCol="0" anchor="ctr"/>
          <a:lstStyle/>
          <a:p>
            <a:pPr algn="r" indent="0" marL="0">
              <a:buNone/>
            </a:pPr>
            <a:r>
              <a:rPr lang="en-US" sz="800" b="1" dirty="0">
                <a:solidFill>
                  <a:srgbClr val="64748B"/>
                </a:solidFill>
              </a:rPr>
              <a:t>11</a:t>
            </a:r>
            <a:endParaRPr lang="en-US" sz="800" dirty="0"/>
          </a:p>
        </p:txBody>
      </p:sp>
      <p:sp>
        <p:nvSpPr>
          <p:cNvPr id="10" name="Text 8"/>
          <p:cNvSpPr/>
          <p:nvPr/>
        </p:nvSpPr>
        <p:spPr>
          <a:xfrm>
            <a:off x="2743200" y="6446520"/>
            <a:ext cx="6217920" cy="164592"/>
          </a:xfrm>
          <a:prstGeom prst="rect">
            <a:avLst/>
          </a:prstGeom>
          <a:noFill/>
          <a:ln/>
        </p:spPr>
        <p:txBody>
          <a:bodyPr wrap="square" lIns="0" tIns="0" rIns="0" bIns="0" rtlCol="0" anchor="ctr">
            <a:normAutofit/>
          </a:bodyPr>
          <a:lstStyle/>
          <a:p>
            <a:pPr algn="ctr" indent="0" marL="0">
              <a:buNone/>
            </a:pPr>
            <a:r>
              <a:rPr lang="en-US" sz="670" dirty="0">
                <a:solidFill>
                  <a:srgbClr val="7A8494"/>
                </a:solidFill>
              </a:rPr>
              <a:t>Source: Public AI app-builder category pricing used as benchmark</a:t>
            </a:r>
            <a:endParaRPr lang="en-US" sz="67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85800" y="1828800"/>
          <a:ext cx="10881360" cy="3154680"/>
        </p:xfrm>
        <a:graphic>
          <a:graphicData uri="http://schemas.openxmlformats.org/drawingml/2006/table">
            <a:tbl>
              <a:tblPr/>
              <a:tblGrid>
                <a:gridCol w="1051560"/>
                <a:gridCol w="1645920"/>
                <a:gridCol w="1325880"/>
                <a:gridCol w="3794760"/>
                <a:gridCol w="3063240"/>
              </a:tblGrid>
              <a:tr h="525780">
                <a:tc>
                  <a:txBody>
                    <a:bodyPr/>
                    <a:lstStyle/>
                    <a:p>
                      <a:pPr indent="0" marL="0">
                        <a:buNone/>
                      </a:pPr>
                      <a:r>
                        <a:rPr lang="en-US" sz="850" b="1" dirty="0">
                          <a:solidFill>
                            <a:srgbClr val="FFFFFF"/>
                          </a:solidFill>
                        </a:rPr>
                        <a:t>Plan</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Target user</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Monthly price</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Included value</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Upgrade trigger</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r>
              <a:tr h="525780">
                <a:tc>
                  <a:txBody>
                    <a:bodyPr/>
                    <a:lstStyle/>
                    <a:p>
                      <a:pPr indent="0" marL="0">
                        <a:buNone/>
                      </a:pPr>
                      <a:r>
                        <a:rPr lang="en-US" sz="800" dirty="0">
                          <a:solidFill>
                            <a:srgbClr val="111827"/>
                          </a:solidFill>
                        </a:rPr>
                        <a:t>Free</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Explorers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$0</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Limited projects, community templates, basic model credits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Project cap / watermark removal</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r>
              <a:tr h="525780">
                <a:tc>
                  <a:txBody>
                    <a:bodyPr/>
                    <a:lstStyle/>
                    <a:p>
                      <a:pPr indent="0" marL="0">
                        <a:buNone/>
                      </a:pPr>
                      <a:r>
                        <a:rPr lang="en-US" sz="800" dirty="0">
                          <a:solidFill>
                            <a:srgbClr val="111827"/>
                          </a:solidFill>
                        </a:rPr>
                        <a:t>Creator</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Founders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$25</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More credits, app export, premium templates, file generation</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Frequent builds / custom domains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r>
              <a:tr h="525780">
                <a:tc>
                  <a:txBody>
                    <a:bodyPr/>
                    <a:lstStyle/>
                    <a:p>
                      <a:pPr indent="0" marL="0">
                        <a:buNone/>
                      </a:pPr>
                      <a:r>
                        <a:rPr lang="en-US" sz="800" dirty="0">
                          <a:solidFill>
                            <a:srgbClr val="111827"/>
                          </a:solidFill>
                        </a:rPr>
                        <a:t>Pro</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Power users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$49</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Advanced models, memory, terminal, code review, deployment</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Collaboration and governance</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r>
              <a:tr h="525780">
                <a:tc>
                  <a:txBody>
                    <a:bodyPr/>
                    <a:lstStyle/>
                    <a:p>
                      <a:pPr indent="0" marL="0">
                        <a:buNone/>
                      </a:pPr>
                      <a:r>
                        <a:rPr lang="en-US" sz="800" dirty="0">
                          <a:solidFill>
                            <a:srgbClr val="111827"/>
                          </a:solidFill>
                        </a:rPr>
                        <a:t>Team</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Agencies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$29/seat + usage</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Shared projects, roles, approvals, version history</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More seats and client workspaces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r>
              <a:tr h="525780">
                <a:tc>
                  <a:txBody>
                    <a:bodyPr/>
                    <a:lstStyle/>
                    <a:p>
                      <a:pPr indent="0" marL="0">
                        <a:buNone/>
                      </a:pPr>
                      <a:r>
                        <a:rPr lang="en-US" sz="800" dirty="0">
                          <a:solidFill>
                            <a:srgbClr val="111827"/>
                          </a:solidFill>
                        </a:rPr>
                        <a:t>Enterprise</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IT / innovation</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Custom ACV</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SSO, audit logs, private models, SLA, security review</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Org-wide workflow automation</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r>
            </a:tbl>
          </a:graphicData>
        </a:graphic>
      </p:graphicFrame>
      <p:sp>
        <p:nvSpPr>
          <p:cNvPr id="12" name="Shape 9"/>
          <p:cNvSpPr/>
          <p:nvPr/>
        </p:nvSpPr>
        <p:spPr>
          <a:xfrm>
            <a:off x="914400" y="5212080"/>
            <a:ext cx="2377440" cy="713232"/>
          </a:xfrm>
          <a:prstGeom prst="rect">
            <a:avLst/>
          </a:prstGeom>
          <a:solidFill>
            <a:srgbClr val="FFFFFF"/>
          </a:solidFill>
          <a:ln w="12700">
            <a:solidFill>
              <a:srgbClr val="D7DEE8">
                <a:alpha val="80000"/>
              </a:srgbClr>
            </a:solidFill>
            <a:prstDash val="solid"/>
          </a:ln>
        </p:spPr>
      </p:sp>
      <p:sp>
        <p:nvSpPr>
          <p:cNvPr id="13" name="Text 10"/>
          <p:cNvSpPr/>
          <p:nvPr/>
        </p:nvSpPr>
        <p:spPr>
          <a:xfrm>
            <a:off x="1115568" y="5413248"/>
            <a:ext cx="1975104" cy="475488"/>
          </a:xfrm>
          <a:prstGeom prst="rect">
            <a:avLst/>
          </a:prstGeom>
          <a:noFill/>
          <a:ln/>
        </p:spPr>
        <p:txBody>
          <a:bodyPr wrap="square" lIns="0" tIns="0" rIns="0" bIns="0" rtlCol="0" anchor="ctr">
            <a:normAutofit/>
          </a:bodyPr>
          <a:lstStyle/>
          <a:p>
            <a:pPr indent="0" marL="0">
              <a:buNone/>
            </a:pPr>
            <a:r>
              <a:rPr lang="en-US" sz="2600" b="1" dirty="0">
                <a:solidFill>
                  <a:srgbClr val="1E5BFF"/>
                </a:solidFill>
              </a:rPr>
              <a:t>$25</a:t>
            </a:r>
            <a:endParaRPr lang="en-US" sz="2600" dirty="0"/>
          </a:p>
        </p:txBody>
      </p:sp>
      <p:sp>
        <p:nvSpPr>
          <p:cNvPr id="14" name="Text 11"/>
          <p:cNvSpPr/>
          <p:nvPr/>
        </p:nvSpPr>
        <p:spPr>
          <a:xfrm>
            <a:off x="1115568" y="6035040"/>
            <a:ext cx="1975104" cy="-201168"/>
          </a:xfrm>
          <a:prstGeom prst="rect">
            <a:avLst/>
          </a:prstGeom>
          <a:noFill/>
          <a:ln/>
        </p:spPr>
        <p:txBody>
          <a:bodyPr wrap="square" lIns="0" tIns="0" rIns="0" bIns="0" rtlCol="0" anchor="ctr">
            <a:normAutofit/>
          </a:bodyPr>
          <a:lstStyle/>
          <a:p>
            <a:pPr indent="0" marL="0">
              <a:buNone/>
            </a:pPr>
            <a:r>
              <a:rPr lang="en-US" sz="1050" dirty="0">
                <a:solidFill>
                  <a:srgbClr val="4B5563"/>
                </a:solidFill>
              </a:rPr>
              <a:t>Market-compatible creator entry point</a:t>
            </a:r>
            <a:endParaRPr lang="en-US" sz="1050" dirty="0"/>
          </a:p>
        </p:txBody>
      </p:sp>
      <p:sp>
        <p:nvSpPr>
          <p:cNvPr id="15" name="Shape 12"/>
          <p:cNvSpPr/>
          <p:nvPr/>
        </p:nvSpPr>
        <p:spPr>
          <a:xfrm>
            <a:off x="3657600" y="5212080"/>
            <a:ext cx="2377440" cy="713232"/>
          </a:xfrm>
          <a:prstGeom prst="rect">
            <a:avLst/>
          </a:prstGeom>
          <a:solidFill>
            <a:srgbClr val="FFFFFF"/>
          </a:solidFill>
          <a:ln w="12700">
            <a:solidFill>
              <a:srgbClr val="D7DEE8">
                <a:alpha val="80000"/>
              </a:srgbClr>
            </a:solidFill>
            <a:prstDash val="solid"/>
          </a:ln>
        </p:spPr>
      </p:sp>
      <p:sp>
        <p:nvSpPr>
          <p:cNvPr id="16" name="Text 13"/>
          <p:cNvSpPr/>
          <p:nvPr/>
        </p:nvSpPr>
        <p:spPr>
          <a:xfrm>
            <a:off x="3858768" y="5413248"/>
            <a:ext cx="1975104" cy="475488"/>
          </a:xfrm>
          <a:prstGeom prst="rect">
            <a:avLst/>
          </a:prstGeom>
          <a:noFill/>
          <a:ln/>
        </p:spPr>
        <p:txBody>
          <a:bodyPr wrap="square" lIns="0" tIns="0" rIns="0" bIns="0" rtlCol="0" anchor="ctr">
            <a:normAutofit/>
          </a:bodyPr>
          <a:lstStyle/>
          <a:p>
            <a:pPr indent="0" marL="0">
              <a:buNone/>
            </a:pPr>
            <a:r>
              <a:rPr lang="en-US" sz="2600" b="1" dirty="0">
                <a:solidFill>
                  <a:srgbClr val="10A37F"/>
                </a:solidFill>
              </a:rPr>
              <a:t>80%+</a:t>
            </a:r>
            <a:endParaRPr lang="en-US" sz="2600" dirty="0"/>
          </a:p>
        </p:txBody>
      </p:sp>
      <p:sp>
        <p:nvSpPr>
          <p:cNvPr id="17" name="Text 14"/>
          <p:cNvSpPr/>
          <p:nvPr/>
        </p:nvSpPr>
        <p:spPr>
          <a:xfrm>
            <a:off x="3858768" y="6035040"/>
            <a:ext cx="1975104" cy="-201168"/>
          </a:xfrm>
          <a:prstGeom prst="rect">
            <a:avLst/>
          </a:prstGeom>
          <a:noFill/>
          <a:ln/>
        </p:spPr>
        <p:txBody>
          <a:bodyPr wrap="square" lIns="0" tIns="0" rIns="0" bIns="0" rtlCol="0" anchor="ctr">
            <a:normAutofit/>
          </a:bodyPr>
          <a:lstStyle/>
          <a:p>
            <a:pPr indent="0" marL="0">
              <a:buNone/>
            </a:pPr>
            <a:r>
              <a:rPr lang="en-US" sz="1050" dirty="0">
                <a:solidFill>
                  <a:srgbClr val="4B5563"/>
                </a:solidFill>
              </a:rPr>
              <a:t>Target mature gross margin</a:t>
            </a:r>
            <a:endParaRPr lang="en-US" sz="1050" dirty="0"/>
          </a:p>
        </p:txBody>
      </p:sp>
      <p:sp>
        <p:nvSpPr>
          <p:cNvPr id="18" name="Shape 15"/>
          <p:cNvSpPr/>
          <p:nvPr/>
        </p:nvSpPr>
        <p:spPr>
          <a:xfrm>
            <a:off x="6400800" y="5212080"/>
            <a:ext cx="2377440" cy="713232"/>
          </a:xfrm>
          <a:prstGeom prst="rect">
            <a:avLst/>
          </a:prstGeom>
          <a:solidFill>
            <a:srgbClr val="FFFFFF"/>
          </a:solidFill>
          <a:ln w="12700">
            <a:solidFill>
              <a:srgbClr val="D7DEE8">
                <a:alpha val="80000"/>
              </a:srgbClr>
            </a:solidFill>
            <a:prstDash val="solid"/>
          </a:ln>
        </p:spPr>
      </p:sp>
      <p:sp>
        <p:nvSpPr>
          <p:cNvPr id="19" name="Text 16"/>
          <p:cNvSpPr/>
          <p:nvPr/>
        </p:nvSpPr>
        <p:spPr>
          <a:xfrm>
            <a:off x="6601968" y="5413248"/>
            <a:ext cx="1975104" cy="475488"/>
          </a:xfrm>
          <a:prstGeom prst="rect">
            <a:avLst/>
          </a:prstGeom>
          <a:noFill/>
          <a:ln/>
        </p:spPr>
        <p:txBody>
          <a:bodyPr wrap="square" lIns="0" tIns="0" rIns="0" bIns="0" rtlCol="0" anchor="ctr">
            <a:normAutofit/>
          </a:bodyPr>
          <a:lstStyle/>
          <a:p>
            <a:pPr indent="0" marL="0">
              <a:buNone/>
            </a:pPr>
            <a:r>
              <a:rPr lang="en-US" sz="2600" b="1" dirty="0">
                <a:solidFill>
                  <a:srgbClr val="16B8C7"/>
                </a:solidFill>
              </a:rPr>
              <a:t>$18k+</a:t>
            </a:r>
            <a:endParaRPr lang="en-US" sz="2600" dirty="0"/>
          </a:p>
        </p:txBody>
      </p:sp>
      <p:sp>
        <p:nvSpPr>
          <p:cNvPr id="20" name="Text 17"/>
          <p:cNvSpPr/>
          <p:nvPr/>
        </p:nvSpPr>
        <p:spPr>
          <a:xfrm>
            <a:off x="6601968" y="6035040"/>
            <a:ext cx="1975104" cy="-201168"/>
          </a:xfrm>
          <a:prstGeom prst="rect">
            <a:avLst/>
          </a:prstGeom>
          <a:noFill/>
          <a:ln/>
        </p:spPr>
        <p:txBody>
          <a:bodyPr wrap="square" lIns="0" tIns="0" rIns="0" bIns="0" rtlCol="0" anchor="ctr">
            <a:normAutofit/>
          </a:bodyPr>
          <a:lstStyle/>
          <a:p>
            <a:pPr indent="0" marL="0">
              <a:buNone/>
            </a:pPr>
            <a:r>
              <a:rPr lang="en-US" sz="1050" dirty="0">
                <a:solidFill>
                  <a:srgbClr val="4B5563"/>
                </a:solidFill>
              </a:rPr>
              <a:t>Target initial enterprise ACV</a:t>
            </a:r>
            <a:endParaRPr lang="en-US" sz="1050" dirty="0"/>
          </a:p>
        </p:txBody>
      </p:sp>
      <p:sp>
        <p:nvSpPr>
          <p:cNvPr id="21" name="Shape 18"/>
          <p:cNvSpPr/>
          <p:nvPr/>
        </p:nvSpPr>
        <p:spPr>
          <a:xfrm>
            <a:off x="9144000" y="5212080"/>
            <a:ext cx="2377440" cy="713232"/>
          </a:xfrm>
          <a:prstGeom prst="rect">
            <a:avLst/>
          </a:prstGeom>
          <a:solidFill>
            <a:srgbClr val="FFFFFF"/>
          </a:solidFill>
          <a:ln w="12700">
            <a:solidFill>
              <a:srgbClr val="D7DEE8">
                <a:alpha val="80000"/>
              </a:srgbClr>
            </a:solidFill>
            <a:prstDash val="solid"/>
          </a:ln>
        </p:spPr>
      </p:sp>
      <p:sp>
        <p:nvSpPr>
          <p:cNvPr id="22" name="Text 19"/>
          <p:cNvSpPr/>
          <p:nvPr/>
        </p:nvSpPr>
        <p:spPr>
          <a:xfrm>
            <a:off x="9345168" y="5413248"/>
            <a:ext cx="1975104" cy="475488"/>
          </a:xfrm>
          <a:prstGeom prst="rect">
            <a:avLst/>
          </a:prstGeom>
          <a:noFill/>
          <a:ln/>
        </p:spPr>
        <p:txBody>
          <a:bodyPr wrap="square" lIns="0" tIns="0" rIns="0" bIns="0" rtlCol="0" anchor="ctr">
            <a:normAutofit/>
          </a:bodyPr>
          <a:lstStyle/>
          <a:p>
            <a:pPr indent="0" marL="0">
              <a:buNone/>
            </a:pPr>
            <a:r>
              <a:rPr lang="en-US" sz="2600" b="1" dirty="0">
                <a:solidFill>
                  <a:srgbClr val="F59E0B"/>
                </a:solidFill>
              </a:rPr>
              <a:t>NRR &gt;115%</a:t>
            </a:r>
            <a:endParaRPr lang="en-US" sz="2600" dirty="0"/>
          </a:p>
        </p:txBody>
      </p:sp>
      <p:sp>
        <p:nvSpPr>
          <p:cNvPr id="23" name="Text 20"/>
          <p:cNvSpPr/>
          <p:nvPr/>
        </p:nvSpPr>
        <p:spPr>
          <a:xfrm>
            <a:off x="9345168" y="6035040"/>
            <a:ext cx="1975104" cy="-201168"/>
          </a:xfrm>
          <a:prstGeom prst="rect">
            <a:avLst/>
          </a:prstGeom>
          <a:noFill/>
          <a:ln/>
        </p:spPr>
        <p:txBody>
          <a:bodyPr wrap="square" lIns="0" tIns="0" rIns="0" bIns="0" rtlCol="0" anchor="ctr">
            <a:normAutofit/>
          </a:bodyPr>
          <a:lstStyle/>
          <a:p>
            <a:pPr indent="0" marL="0">
              <a:buNone/>
            </a:pPr>
            <a:r>
              <a:rPr lang="en-US" sz="1050" dirty="0">
                <a:solidFill>
                  <a:srgbClr val="4B5563"/>
                </a:solidFill>
              </a:rPr>
              <a:t>Year-3 expansion target</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75488" y="347472"/>
            <a:ext cx="201168" cy="201168"/>
          </a:xfrm>
          <a:prstGeom prst="rect">
            <a:avLst/>
          </a:prstGeom>
          <a:solidFill>
            <a:srgbClr val="1E5BFF"/>
          </a:solidFill>
          <a:ln w="12700">
            <a:solidFill>
              <a:srgbClr val="1E5BFF"/>
            </a:solidFill>
            <a:prstDash val="solid"/>
          </a:ln>
        </p:spPr>
      </p:sp>
      <p:sp>
        <p:nvSpPr>
          <p:cNvPr id="3" name="Shape 1"/>
          <p:cNvSpPr/>
          <p:nvPr/>
        </p:nvSpPr>
        <p:spPr>
          <a:xfrm>
            <a:off x="713232" y="347472"/>
            <a:ext cx="201168" cy="201168"/>
          </a:xfrm>
          <a:prstGeom prst="rect">
            <a:avLst/>
          </a:prstGeom>
          <a:solidFill>
            <a:srgbClr val="16B8C7"/>
          </a:solidFill>
          <a:ln w="12700">
            <a:solidFill>
              <a:srgbClr val="16B8C7"/>
            </a:solidFill>
            <a:prstDash val="solid"/>
          </a:ln>
        </p:spPr>
      </p:sp>
      <p:sp>
        <p:nvSpPr>
          <p:cNvPr id="4" name="Text 2"/>
          <p:cNvSpPr/>
          <p:nvPr/>
        </p:nvSpPr>
        <p:spPr>
          <a:xfrm>
            <a:off x="987552" y="310896"/>
            <a:ext cx="1097280" cy="228600"/>
          </a:xfrm>
          <a:prstGeom prst="rect">
            <a:avLst/>
          </a:prstGeom>
          <a:noFill/>
          <a:ln/>
        </p:spPr>
        <p:txBody>
          <a:bodyPr wrap="square" lIns="0" tIns="0" rIns="0" bIns="0" rtlCol="0" anchor="ctr"/>
          <a:lstStyle/>
          <a:p>
            <a:pPr indent="0" marL="0">
              <a:buNone/>
            </a:pPr>
            <a:r>
              <a:rPr lang="en-US" sz="1000" b="1" dirty="0">
                <a:solidFill>
                  <a:srgbClr val="111827"/>
                </a:solidFill>
              </a:rPr>
              <a:t>LokoAI</a:t>
            </a:r>
            <a:endParaRPr lang="en-US" sz="1000" dirty="0"/>
          </a:p>
        </p:txBody>
      </p:sp>
      <p:sp>
        <p:nvSpPr>
          <p:cNvPr id="5" name="Text 3"/>
          <p:cNvSpPr/>
          <p:nvPr/>
        </p:nvSpPr>
        <p:spPr>
          <a:xfrm>
            <a:off x="658368" y="713232"/>
            <a:ext cx="2651760" cy="164592"/>
          </a:xfrm>
          <a:prstGeom prst="rect">
            <a:avLst/>
          </a:prstGeom>
          <a:noFill/>
          <a:ln/>
        </p:spPr>
        <p:txBody>
          <a:bodyPr wrap="square" lIns="0" tIns="0" rIns="0" bIns="0" rtlCol="0" anchor="ctr"/>
          <a:lstStyle/>
          <a:p>
            <a:pPr indent="0" marL="0">
              <a:buNone/>
            </a:pPr>
            <a:r>
              <a:rPr lang="en-US" sz="750" b="1" dirty="0">
                <a:solidFill>
                  <a:srgbClr val="1E5BFF"/>
                </a:solidFill>
              </a:rPr>
              <a:t>PERSONAS</a:t>
            </a:r>
            <a:endParaRPr lang="en-US" sz="750" dirty="0"/>
          </a:p>
        </p:txBody>
      </p:sp>
      <p:sp>
        <p:nvSpPr>
          <p:cNvPr id="6" name="Text 4"/>
          <p:cNvSpPr/>
          <p:nvPr/>
        </p:nvSpPr>
        <p:spPr>
          <a:xfrm>
            <a:off x="658368" y="932688"/>
            <a:ext cx="10789920" cy="530352"/>
          </a:xfrm>
          <a:prstGeom prst="rect">
            <a:avLst/>
          </a:prstGeom>
          <a:noFill/>
          <a:ln/>
        </p:spPr>
        <p:txBody>
          <a:bodyPr wrap="square" lIns="0" tIns="0" rIns="0" bIns="0" rtlCol="0" anchor="ctr">
            <a:normAutofit/>
          </a:bodyPr>
          <a:lstStyle/>
          <a:p>
            <a:pPr indent="0" marL="0">
              <a:buNone/>
            </a:pPr>
            <a:r>
              <a:rPr lang="en-US" sz="2500" b="1" dirty="0">
                <a:solidFill>
                  <a:srgbClr val="111827"/>
                </a:solidFill>
                <a:latin typeface="Aptos Display" pitchFamily="34" charset="0"/>
                <a:ea typeface="Aptos Display" pitchFamily="34" charset="-122"/>
                <a:cs typeface="Aptos Display" pitchFamily="34" charset="-120"/>
              </a:rPr>
              <a:t>Customer personas: four segments with urgent, measurable jobs to be done</a:t>
            </a:r>
            <a:endParaRPr lang="en-US" sz="2500" dirty="0"/>
          </a:p>
        </p:txBody>
      </p:sp>
      <p:sp>
        <p:nvSpPr>
          <p:cNvPr id="7" name="Shape 5"/>
          <p:cNvSpPr/>
          <p:nvPr/>
        </p:nvSpPr>
        <p:spPr>
          <a:xfrm>
            <a:off x="658368" y="1572768"/>
            <a:ext cx="1143000" cy="0"/>
          </a:xfrm>
          <a:prstGeom prst="line">
            <a:avLst/>
          </a:prstGeom>
          <a:noFill/>
          <a:ln w="25400">
            <a:solidFill>
              <a:srgbClr val="1E5BFF"/>
            </a:solidFill>
            <a:prstDash val="solid"/>
          </a:ln>
        </p:spPr>
      </p:sp>
      <p:sp>
        <p:nvSpPr>
          <p:cNvPr id="8" name="Text 6"/>
          <p:cNvSpPr/>
          <p:nvPr/>
        </p:nvSpPr>
        <p:spPr>
          <a:xfrm>
            <a:off x="475488" y="6473952"/>
            <a:ext cx="2011680" cy="164592"/>
          </a:xfrm>
          <a:prstGeom prst="rect">
            <a:avLst/>
          </a:prstGeom>
          <a:noFill/>
          <a:ln/>
        </p:spPr>
        <p:txBody>
          <a:bodyPr wrap="square" lIns="0" tIns="0" rIns="0" bIns="0" rtlCol="0" anchor="ctr"/>
          <a:lstStyle/>
          <a:p>
            <a:pPr indent="0" marL="0">
              <a:buNone/>
            </a:pPr>
            <a:r>
              <a:rPr lang="en-US" sz="700" dirty="0">
                <a:solidFill>
                  <a:srgbClr val="64748B"/>
                </a:solidFill>
              </a:rPr>
              <a:t>LokoAI confidential</a:t>
            </a:r>
            <a:endParaRPr lang="en-US" sz="700" dirty="0"/>
          </a:p>
        </p:txBody>
      </p:sp>
      <p:sp>
        <p:nvSpPr>
          <p:cNvPr id="9" name="Text 7"/>
          <p:cNvSpPr/>
          <p:nvPr/>
        </p:nvSpPr>
        <p:spPr>
          <a:xfrm>
            <a:off x="11201400" y="6446520"/>
            <a:ext cx="640080" cy="201168"/>
          </a:xfrm>
          <a:prstGeom prst="rect">
            <a:avLst/>
          </a:prstGeom>
          <a:noFill/>
          <a:ln/>
        </p:spPr>
        <p:txBody>
          <a:bodyPr wrap="square" lIns="0" tIns="0" rIns="0" bIns="0" rtlCol="0" anchor="ctr"/>
          <a:lstStyle/>
          <a:p>
            <a:pPr algn="r" indent="0" marL="0">
              <a:buNone/>
            </a:pPr>
            <a:r>
              <a:rPr lang="en-US" sz="800" b="1" dirty="0">
                <a:solidFill>
                  <a:srgbClr val="64748B"/>
                </a:solidFill>
              </a:rPr>
              <a:t>12</a:t>
            </a:r>
            <a:endParaRPr lang="en-US" sz="800" dirty="0"/>
          </a:p>
        </p:txBody>
      </p:sp>
      <p:sp>
        <p:nvSpPr>
          <p:cNvPr id="10" name="Text 8"/>
          <p:cNvSpPr/>
          <p:nvPr/>
        </p:nvSpPr>
        <p:spPr>
          <a:xfrm>
            <a:off x="2743200" y="6446520"/>
            <a:ext cx="6217920" cy="164592"/>
          </a:xfrm>
          <a:prstGeom prst="rect">
            <a:avLst/>
          </a:prstGeom>
          <a:noFill/>
          <a:ln/>
        </p:spPr>
        <p:txBody>
          <a:bodyPr wrap="square" lIns="0" tIns="0" rIns="0" bIns="0" rtlCol="0" anchor="ctr">
            <a:normAutofit/>
          </a:bodyPr>
          <a:lstStyle/>
          <a:p>
            <a:pPr algn="ctr" indent="0" marL="0">
              <a:buNone/>
            </a:pPr>
            <a:r>
              <a:rPr lang="en-US" sz="670" dirty="0">
                <a:solidFill>
                  <a:srgbClr val="7A8494"/>
                </a:solidFill>
              </a:rPr>
              <a:t>Source: Company segmentation assumptions</a:t>
            </a:r>
            <a:endParaRPr lang="en-US" sz="670" dirty="0"/>
          </a:p>
        </p:txBody>
      </p:sp>
      <p:sp>
        <p:nvSpPr>
          <p:cNvPr id="11" name="Shape 9"/>
          <p:cNvSpPr/>
          <p:nvPr/>
        </p:nvSpPr>
        <p:spPr>
          <a:xfrm>
            <a:off x="777240" y="1828800"/>
            <a:ext cx="2606040" cy="1920240"/>
          </a:xfrm>
          <a:prstGeom prst="rect">
            <a:avLst/>
          </a:prstGeom>
          <a:solidFill>
            <a:srgbClr val="FFFFFF"/>
          </a:solidFill>
          <a:ln w="12700">
            <a:solidFill>
              <a:srgbClr val="D7DEE8">
                <a:alpha val="80000"/>
              </a:srgbClr>
            </a:solidFill>
            <a:prstDash val="solid"/>
          </a:ln>
        </p:spPr>
      </p:sp>
      <p:sp>
        <p:nvSpPr>
          <p:cNvPr id="12" name="Shape 10"/>
          <p:cNvSpPr/>
          <p:nvPr/>
        </p:nvSpPr>
        <p:spPr>
          <a:xfrm>
            <a:off x="777240" y="1828800"/>
            <a:ext cx="73152" cy="1920240"/>
          </a:xfrm>
          <a:prstGeom prst="rect">
            <a:avLst/>
          </a:prstGeom>
          <a:solidFill>
            <a:srgbClr val="1E5BFF"/>
          </a:solidFill>
          <a:ln w="12700">
            <a:solidFill>
              <a:srgbClr val="1E5BFF"/>
            </a:solidFill>
            <a:prstDash val="solid"/>
          </a:ln>
        </p:spPr>
      </p:sp>
      <p:sp>
        <p:nvSpPr>
          <p:cNvPr id="13" name="Text 11"/>
          <p:cNvSpPr/>
          <p:nvPr/>
        </p:nvSpPr>
        <p:spPr>
          <a:xfrm>
            <a:off x="1005840" y="1993392"/>
            <a:ext cx="2240280" cy="256032"/>
          </a:xfrm>
          <a:prstGeom prst="rect">
            <a:avLst/>
          </a:prstGeom>
          <a:noFill/>
          <a:ln/>
        </p:spPr>
        <p:txBody>
          <a:bodyPr wrap="square" lIns="0" tIns="0" rIns="0" bIns="0" rtlCol="0" anchor="ctr"/>
          <a:lstStyle/>
          <a:p>
            <a:pPr indent="0" marL="0">
              <a:buNone/>
            </a:pPr>
            <a:r>
              <a:rPr lang="en-US" sz="1150" b="1" dirty="0">
                <a:solidFill>
                  <a:srgbClr val="111827"/>
                </a:solidFill>
              </a:rPr>
              <a:t>Solo founder</a:t>
            </a:r>
            <a:endParaRPr lang="en-US" sz="1150" dirty="0"/>
          </a:p>
        </p:txBody>
      </p:sp>
      <p:sp>
        <p:nvSpPr>
          <p:cNvPr id="14" name="Text 12"/>
          <p:cNvSpPr/>
          <p:nvPr/>
        </p:nvSpPr>
        <p:spPr>
          <a:xfrm>
            <a:off x="1005840" y="2359152"/>
            <a:ext cx="2240280" cy="1280160"/>
          </a:xfrm>
          <a:prstGeom prst="rect">
            <a:avLst/>
          </a:prstGeom>
          <a:noFill/>
          <a:ln/>
        </p:spPr>
        <p:txBody>
          <a:bodyPr wrap="square" lIns="0" tIns="0" rIns="0" bIns="0" rtlCol="0" anchor="ctr">
            <a:normAutofit/>
          </a:bodyPr>
          <a:lstStyle/>
          <a:p>
            <a:pPr indent="0" marL="0">
              <a:buNone/>
            </a:pPr>
            <a:r>
              <a:rPr lang="en-US" sz="870" dirty="0">
                <a:solidFill>
                  <a:srgbClr val="4B5563"/>
                </a:solidFill>
              </a:rPr>
              <a:t>Needs MVPs, landing pages, pitch collateral, analytics, and launch support without hiring a full team. Buys Creator or Pro.</a:t>
            </a:r>
            <a:endParaRPr lang="en-US" sz="870" dirty="0"/>
          </a:p>
        </p:txBody>
      </p:sp>
      <p:sp>
        <p:nvSpPr>
          <p:cNvPr id="15" name="Shape 13"/>
          <p:cNvSpPr/>
          <p:nvPr/>
        </p:nvSpPr>
        <p:spPr>
          <a:xfrm>
            <a:off x="3657600" y="1828800"/>
            <a:ext cx="2606040" cy="1920240"/>
          </a:xfrm>
          <a:prstGeom prst="rect">
            <a:avLst/>
          </a:prstGeom>
          <a:solidFill>
            <a:srgbClr val="FFFFFF"/>
          </a:solidFill>
          <a:ln w="12700">
            <a:solidFill>
              <a:srgbClr val="D7DEE8">
                <a:alpha val="80000"/>
              </a:srgbClr>
            </a:solidFill>
            <a:prstDash val="solid"/>
          </a:ln>
        </p:spPr>
      </p:sp>
      <p:sp>
        <p:nvSpPr>
          <p:cNvPr id="16" name="Shape 14"/>
          <p:cNvSpPr/>
          <p:nvPr/>
        </p:nvSpPr>
        <p:spPr>
          <a:xfrm>
            <a:off x="3657600" y="1828800"/>
            <a:ext cx="73152" cy="1920240"/>
          </a:xfrm>
          <a:prstGeom prst="rect">
            <a:avLst/>
          </a:prstGeom>
          <a:solidFill>
            <a:srgbClr val="16B8C7"/>
          </a:solidFill>
          <a:ln w="12700">
            <a:solidFill>
              <a:srgbClr val="16B8C7"/>
            </a:solidFill>
            <a:prstDash val="solid"/>
          </a:ln>
        </p:spPr>
      </p:sp>
      <p:sp>
        <p:nvSpPr>
          <p:cNvPr id="17" name="Text 15"/>
          <p:cNvSpPr/>
          <p:nvPr/>
        </p:nvSpPr>
        <p:spPr>
          <a:xfrm>
            <a:off x="3886200" y="1993392"/>
            <a:ext cx="2240280" cy="256032"/>
          </a:xfrm>
          <a:prstGeom prst="rect">
            <a:avLst/>
          </a:prstGeom>
          <a:noFill/>
          <a:ln/>
        </p:spPr>
        <p:txBody>
          <a:bodyPr wrap="square" lIns="0" tIns="0" rIns="0" bIns="0" rtlCol="0" anchor="ctr"/>
          <a:lstStyle/>
          <a:p>
            <a:pPr indent="0" marL="0">
              <a:buNone/>
            </a:pPr>
            <a:r>
              <a:rPr lang="en-US" sz="1150" b="1" dirty="0">
                <a:solidFill>
                  <a:srgbClr val="111827"/>
                </a:solidFill>
              </a:rPr>
              <a:t>Agency operator</a:t>
            </a:r>
            <a:endParaRPr lang="en-US" sz="1150" dirty="0"/>
          </a:p>
        </p:txBody>
      </p:sp>
      <p:sp>
        <p:nvSpPr>
          <p:cNvPr id="18" name="Text 16"/>
          <p:cNvSpPr/>
          <p:nvPr/>
        </p:nvSpPr>
        <p:spPr>
          <a:xfrm>
            <a:off x="3886200" y="2359152"/>
            <a:ext cx="2240280" cy="1280160"/>
          </a:xfrm>
          <a:prstGeom prst="rect">
            <a:avLst/>
          </a:prstGeom>
          <a:noFill/>
          <a:ln/>
        </p:spPr>
        <p:txBody>
          <a:bodyPr wrap="square" lIns="0" tIns="0" rIns="0" bIns="0" rtlCol="0" anchor="ctr">
            <a:normAutofit/>
          </a:bodyPr>
          <a:lstStyle/>
          <a:p>
            <a:pPr indent="0" marL="0">
              <a:buNone/>
            </a:pPr>
            <a:r>
              <a:rPr lang="en-US" sz="870" dirty="0">
                <a:solidFill>
                  <a:srgbClr val="4B5563"/>
                </a:solidFill>
              </a:rPr>
              <a:t>Needs to deliver client prototypes, branded artifacts, and repeatable builds faster with margin control. Buys Team.</a:t>
            </a:r>
            <a:endParaRPr lang="en-US" sz="870" dirty="0"/>
          </a:p>
        </p:txBody>
      </p:sp>
      <p:sp>
        <p:nvSpPr>
          <p:cNvPr id="19" name="Shape 17"/>
          <p:cNvSpPr/>
          <p:nvPr/>
        </p:nvSpPr>
        <p:spPr>
          <a:xfrm>
            <a:off x="6537960" y="1828800"/>
            <a:ext cx="2606040" cy="1920240"/>
          </a:xfrm>
          <a:prstGeom prst="rect">
            <a:avLst/>
          </a:prstGeom>
          <a:solidFill>
            <a:srgbClr val="FFFFFF"/>
          </a:solidFill>
          <a:ln w="12700">
            <a:solidFill>
              <a:srgbClr val="D7DEE8">
                <a:alpha val="80000"/>
              </a:srgbClr>
            </a:solidFill>
            <a:prstDash val="solid"/>
          </a:ln>
        </p:spPr>
      </p:sp>
      <p:sp>
        <p:nvSpPr>
          <p:cNvPr id="20" name="Shape 18"/>
          <p:cNvSpPr/>
          <p:nvPr/>
        </p:nvSpPr>
        <p:spPr>
          <a:xfrm>
            <a:off x="6537960" y="1828800"/>
            <a:ext cx="73152" cy="1920240"/>
          </a:xfrm>
          <a:prstGeom prst="rect">
            <a:avLst/>
          </a:prstGeom>
          <a:solidFill>
            <a:srgbClr val="10A37F"/>
          </a:solidFill>
          <a:ln w="12700">
            <a:solidFill>
              <a:srgbClr val="10A37F"/>
            </a:solidFill>
            <a:prstDash val="solid"/>
          </a:ln>
        </p:spPr>
      </p:sp>
      <p:sp>
        <p:nvSpPr>
          <p:cNvPr id="21" name="Text 19"/>
          <p:cNvSpPr/>
          <p:nvPr/>
        </p:nvSpPr>
        <p:spPr>
          <a:xfrm>
            <a:off x="6766560" y="1993392"/>
            <a:ext cx="2240280" cy="256032"/>
          </a:xfrm>
          <a:prstGeom prst="rect">
            <a:avLst/>
          </a:prstGeom>
          <a:noFill/>
          <a:ln/>
        </p:spPr>
        <p:txBody>
          <a:bodyPr wrap="square" lIns="0" tIns="0" rIns="0" bIns="0" rtlCol="0" anchor="ctr"/>
          <a:lstStyle/>
          <a:p>
            <a:pPr indent="0" marL="0">
              <a:buNone/>
            </a:pPr>
            <a:r>
              <a:rPr lang="en-US" sz="1150" b="1" dirty="0">
                <a:solidFill>
                  <a:srgbClr val="111827"/>
                </a:solidFill>
              </a:rPr>
              <a:t>Product team</a:t>
            </a:r>
            <a:endParaRPr lang="en-US" sz="1150" dirty="0"/>
          </a:p>
        </p:txBody>
      </p:sp>
      <p:sp>
        <p:nvSpPr>
          <p:cNvPr id="22" name="Text 20"/>
          <p:cNvSpPr/>
          <p:nvPr/>
        </p:nvSpPr>
        <p:spPr>
          <a:xfrm>
            <a:off x="6766560" y="2359152"/>
            <a:ext cx="2240280" cy="1280160"/>
          </a:xfrm>
          <a:prstGeom prst="rect">
            <a:avLst/>
          </a:prstGeom>
          <a:noFill/>
          <a:ln/>
        </p:spPr>
        <p:txBody>
          <a:bodyPr wrap="square" lIns="0" tIns="0" rIns="0" bIns="0" rtlCol="0" anchor="ctr">
            <a:normAutofit/>
          </a:bodyPr>
          <a:lstStyle/>
          <a:p>
            <a:pPr indent="0" marL="0">
              <a:buNone/>
            </a:pPr>
            <a:r>
              <a:rPr lang="en-US" sz="870" dirty="0">
                <a:solidFill>
                  <a:srgbClr val="4B5563"/>
                </a:solidFill>
              </a:rPr>
              <a:t>Needs experiments, internal tools, dashboards, and design-to-code workflows with developer oversight. Buys Team or Enterprise.</a:t>
            </a:r>
            <a:endParaRPr lang="en-US" sz="870" dirty="0"/>
          </a:p>
        </p:txBody>
      </p:sp>
      <p:sp>
        <p:nvSpPr>
          <p:cNvPr id="23" name="Shape 21"/>
          <p:cNvSpPr/>
          <p:nvPr/>
        </p:nvSpPr>
        <p:spPr>
          <a:xfrm>
            <a:off x="9418320" y="1828800"/>
            <a:ext cx="2606040" cy="1920240"/>
          </a:xfrm>
          <a:prstGeom prst="rect">
            <a:avLst/>
          </a:prstGeom>
          <a:solidFill>
            <a:srgbClr val="FFFFFF"/>
          </a:solidFill>
          <a:ln w="12700">
            <a:solidFill>
              <a:srgbClr val="D7DEE8">
                <a:alpha val="80000"/>
              </a:srgbClr>
            </a:solidFill>
            <a:prstDash val="solid"/>
          </a:ln>
        </p:spPr>
      </p:sp>
      <p:sp>
        <p:nvSpPr>
          <p:cNvPr id="24" name="Shape 22"/>
          <p:cNvSpPr/>
          <p:nvPr/>
        </p:nvSpPr>
        <p:spPr>
          <a:xfrm>
            <a:off x="9418320" y="1828800"/>
            <a:ext cx="73152" cy="1920240"/>
          </a:xfrm>
          <a:prstGeom prst="rect">
            <a:avLst/>
          </a:prstGeom>
          <a:solidFill>
            <a:srgbClr val="F59E0B"/>
          </a:solidFill>
          <a:ln w="12700">
            <a:solidFill>
              <a:srgbClr val="F59E0B"/>
            </a:solidFill>
            <a:prstDash val="solid"/>
          </a:ln>
        </p:spPr>
      </p:sp>
      <p:sp>
        <p:nvSpPr>
          <p:cNvPr id="25" name="Text 23"/>
          <p:cNvSpPr/>
          <p:nvPr/>
        </p:nvSpPr>
        <p:spPr>
          <a:xfrm>
            <a:off x="9646920" y="1993392"/>
            <a:ext cx="2240280" cy="256032"/>
          </a:xfrm>
          <a:prstGeom prst="rect">
            <a:avLst/>
          </a:prstGeom>
          <a:noFill/>
          <a:ln/>
        </p:spPr>
        <p:txBody>
          <a:bodyPr wrap="square" lIns="0" tIns="0" rIns="0" bIns="0" rtlCol="0" anchor="ctr"/>
          <a:lstStyle/>
          <a:p>
            <a:pPr indent="0" marL="0">
              <a:buNone/>
            </a:pPr>
            <a:r>
              <a:rPr lang="en-US" sz="1150" b="1" dirty="0">
                <a:solidFill>
                  <a:srgbClr val="111827"/>
                </a:solidFill>
              </a:rPr>
              <a:t>Enterprise innovation</a:t>
            </a:r>
            <a:endParaRPr lang="en-US" sz="1150" dirty="0"/>
          </a:p>
        </p:txBody>
      </p:sp>
      <p:sp>
        <p:nvSpPr>
          <p:cNvPr id="26" name="Text 24"/>
          <p:cNvSpPr/>
          <p:nvPr/>
        </p:nvSpPr>
        <p:spPr>
          <a:xfrm>
            <a:off x="9646920" y="2359152"/>
            <a:ext cx="2240280" cy="1280160"/>
          </a:xfrm>
          <a:prstGeom prst="rect">
            <a:avLst/>
          </a:prstGeom>
          <a:noFill/>
          <a:ln/>
        </p:spPr>
        <p:txBody>
          <a:bodyPr wrap="square" lIns="0" tIns="0" rIns="0" bIns="0" rtlCol="0" anchor="ctr">
            <a:normAutofit/>
          </a:bodyPr>
          <a:lstStyle/>
          <a:p>
            <a:pPr indent="0" marL="0">
              <a:buNone/>
            </a:pPr>
            <a:r>
              <a:rPr lang="en-US" sz="870" dirty="0">
                <a:solidFill>
                  <a:srgbClr val="4B5563"/>
                </a:solidFill>
              </a:rPr>
              <a:t>Needs governed AI builders for business units, with IT controls, auditability, SSO, and vendor oversight. Buys Enterprise.</a:t>
            </a:r>
            <a:endParaRPr lang="en-US" sz="87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914400" y="4343400"/>
          <a:ext cx="10058400" cy="1325880"/>
        </p:xfrm>
        <a:graphic>
          <a:graphicData uri="http://schemas.openxmlformats.org/drawingml/2006/table">
            <a:tbl>
              <a:tblPr/>
              <a:tblGrid>
                <a:gridCol w="1280160"/>
                <a:gridCol w="2926080"/>
                <a:gridCol w="2286000"/>
                <a:gridCol w="3566160"/>
              </a:tblGrid>
              <a:tr h="265176">
                <a:tc>
                  <a:txBody>
                    <a:bodyPr/>
                    <a:lstStyle/>
                    <a:p>
                      <a:pPr indent="0" marL="0">
                        <a:buNone/>
                      </a:pPr>
                      <a:r>
                        <a:rPr lang="en-US" sz="850" b="1" dirty="0">
                          <a:solidFill>
                            <a:srgbClr val="FFFFFF"/>
                          </a:solidFill>
                        </a:rPr>
                        <a:t>Persona</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Core pain</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Success metric</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Primary wedge</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r>
              <a:tr h="265176">
                <a:tc>
                  <a:txBody>
                    <a:bodyPr/>
                    <a:lstStyle/>
                    <a:p>
                      <a:pPr indent="0" marL="0">
                        <a:buNone/>
                      </a:pPr>
                      <a:r>
                        <a:rPr lang="en-US" sz="800" dirty="0">
                          <a:solidFill>
                            <a:srgbClr val="111827"/>
                          </a:solidFill>
                        </a:rPr>
                        <a:t>Founder</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Speed to MVP</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Launch in days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Prompt-to-app + pitch assets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r>
              <a:tr h="265176">
                <a:tc>
                  <a:txBody>
                    <a:bodyPr/>
                    <a:lstStyle/>
                    <a:p>
                      <a:pPr indent="0" marL="0">
                        <a:buNone/>
                      </a:pPr>
                      <a:r>
                        <a:rPr lang="en-US" sz="800" dirty="0">
                          <a:solidFill>
                            <a:srgbClr val="111827"/>
                          </a:solidFill>
                        </a:rPr>
                        <a:t>Agency</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Delivery margin</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Hours saved per client</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Reusable templates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r>
              <a:tr h="265176">
                <a:tc>
                  <a:txBody>
                    <a:bodyPr/>
                    <a:lstStyle/>
                    <a:p>
                      <a:pPr indent="0" marL="0">
                        <a:buNone/>
                      </a:pPr>
                      <a:r>
                        <a:rPr lang="en-US" sz="800" dirty="0">
                          <a:solidFill>
                            <a:srgbClr val="111827"/>
                          </a:solidFill>
                        </a:rPr>
                        <a:t>Product</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Experiment velocity</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Validated prototypes/month</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Team workspace</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r>
              <a:tr h="265176">
                <a:tc>
                  <a:txBody>
                    <a:bodyPr/>
                    <a:lstStyle/>
                    <a:p>
                      <a:pPr indent="0" marL="0">
                        <a:buNone/>
                      </a:pPr>
                      <a:r>
                        <a:rPr lang="en-US" sz="800" dirty="0">
                          <a:solidFill>
                            <a:srgbClr val="111827"/>
                          </a:solidFill>
                        </a:rPr>
                        <a:t>Enterprise</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AI governance</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Policy-compliant workflows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Audit + controls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75488" y="347472"/>
            <a:ext cx="201168" cy="201168"/>
          </a:xfrm>
          <a:prstGeom prst="rect">
            <a:avLst/>
          </a:prstGeom>
          <a:solidFill>
            <a:srgbClr val="1E5BFF"/>
          </a:solidFill>
          <a:ln w="12700">
            <a:solidFill>
              <a:srgbClr val="1E5BFF"/>
            </a:solidFill>
            <a:prstDash val="solid"/>
          </a:ln>
        </p:spPr>
      </p:sp>
      <p:sp>
        <p:nvSpPr>
          <p:cNvPr id="3" name="Shape 1"/>
          <p:cNvSpPr/>
          <p:nvPr/>
        </p:nvSpPr>
        <p:spPr>
          <a:xfrm>
            <a:off x="713232" y="347472"/>
            <a:ext cx="201168" cy="201168"/>
          </a:xfrm>
          <a:prstGeom prst="rect">
            <a:avLst/>
          </a:prstGeom>
          <a:solidFill>
            <a:srgbClr val="16B8C7"/>
          </a:solidFill>
          <a:ln w="12700">
            <a:solidFill>
              <a:srgbClr val="16B8C7"/>
            </a:solidFill>
            <a:prstDash val="solid"/>
          </a:ln>
        </p:spPr>
      </p:sp>
      <p:sp>
        <p:nvSpPr>
          <p:cNvPr id="4" name="Text 2"/>
          <p:cNvSpPr/>
          <p:nvPr/>
        </p:nvSpPr>
        <p:spPr>
          <a:xfrm>
            <a:off x="987552" y="310896"/>
            <a:ext cx="1097280" cy="228600"/>
          </a:xfrm>
          <a:prstGeom prst="rect">
            <a:avLst/>
          </a:prstGeom>
          <a:noFill/>
          <a:ln/>
        </p:spPr>
        <p:txBody>
          <a:bodyPr wrap="square" lIns="0" tIns="0" rIns="0" bIns="0" rtlCol="0" anchor="ctr"/>
          <a:lstStyle/>
          <a:p>
            <a:pPr indent="0" marL="0">
              <a:buNone/>
            </a:pPr>
            <a:r>
              <a:rPr lang="en-US" sz="1000" b="1" dirty="0">
                <a:solidFill>
                  <a:srgbClr val="111827"/>
                </a:solidFill>
              </a:rPr>
              <a:t>LokoAI</a:t>
            </a:r>
            <a:endParaRPr lang="en-US" sz="1000" dirty="0"/>
          </a:p>
        </p:txBody>
      </p:sp>
      <p:sp>
        <p:nvSpPr>
          <p:cNvPr id="5" name="Text 3"/>
          <p:cNvSpPr/>
          <p:nvPr/>
        </p:nvSpPr>
        <p:spPr>
          <a:xfrm>
            <a:off x="658368" y="713232"/>
            <a:ext cx="2651760" cy="164592"/>
          </a:xfrm>
          <a:prstGeom prst="rect">
            <a:avLst/>
          </a:prstGeom>
          <a:noFill/>
          <a:ln/>
        </p:spPr>
        <p:txBody>
          <a:bodyPr wrap="square" lIns="0" tIns="0" rIns="0" bIns="0" rtlCol="0" anchor="ctr"/>
          <a:lstStyle/>
          <a:p>
            <a:pPr indent="0" marL="0">
              <a:buNone/>
            </a:pPr>
            <a:r>
              <a:rPr lang="en-US" sz="750" b="1" dirty="0">
                <a:solidFill>
                  <a:srgbClr val="1E5BFF"/>
                </a:solidFill>
              </a:rPr>
              <a:t>GTM</a:t>
            </a:r>
            <a:endParaRPr lang="en-US" sz="750" dirty="0"/>
          </a:p>
        </p:txBody>
      </p:sp>
      <p:sp>
        <p:nvSpPr>
          <p:cNvPr id="6" name="Text 4"/>
          <p:cNvSpPr/>
          <p:nvPr/>
        </p:nvSpPr>
        <p:spPr>
          <a:xfrm>
            <a:off x="658368" y="932688"/>
            <a:ext cx="10789920" cy="530352"/>
          </a:xfrm>
          <a:prstGeom prst="rect">
            <a:avLst/>
          </a:prstGeom>
          <a:noFill/>
          <a:ln/>
        </p:spPr>
        <p:txBody>
          <a:bodyPr wrap="square" lIns="0" tIns="0" rIns="0" bIns="0" rtlCol="0" anchor="ctr">
            <a:normAutofit/>
          </a:bodyPr>
          <a:lstStyle/>
          <a:p>
            <a:pPr indent="0" marL="0">
              <a:buNone/>
            </a:pPr>
            <a:r>
              <a:rPr lang="en-US" sz="2500" b="1" dirty="0">
                <a:solidFill>
                  <a:srgbClr val="111827"/>
                </a:solidFill>
                <a:latin typeface="Aptos Display" pitchFamily="34" charset="0"/>
                <a:ea typeface="Aptos Display" pitchFamily="34" charset="-122"/>
                <a:cs typeface="Aptos Display" pitchFamily="34" charset="-120"/>
              </a:rPr>
              <a:t>Go-to-market strategy: product-led growth with enterprise pull-through</a:t>
            </a:r>
            <a:endParaRPr lang="en-US" sz="2500" dirty="0"/>
          </a:p>
        </p:txBody>
      </p:sp>
      <p:sp>
        <p:nvSpPr>
          <p:cNvPr id="7" name="Shape 5"/>
          <p:cNvSpPr/>
          <p:nvPr/>
        </p:nvSpPr>
        <p:spPr>
          <a:xfrm>
            <a:off x="658368" y="1572768"/>
            <a:ext cx="1143000" cy="0"/>
          </a:xfrm>
          <a:prstGeom prst="line">
            <a:avLst/>
          </a:prstGeom>
          <a:noFill/>
          <a:ln w="25400">
            <a:solidFill>
              <a:srgbClr val="1E5BFF"/>
            </a:solidFill>
            <a:prstDash val="solid"/>
          </a:ln>
        </p:spPr>
      </p:sp>
      <p:sp>
        <p:nvSpPr>
          <p:cNvPr id="8" name="Text 6"/>
          <p:cNvSpPr/>
          <p:nvPr/>
        </p:nvSpPr>
        <p:spPr>
          <a:xfrm>
            <a:off x="475488" y="6473952"/>
            <a:ext cx="2011680" cy="164592"/>
          </a:xfrm>
          <a:prstGeom prst="rect">
            <a:avLst/>
          </a:prstGeom>
          <a:noFill/>
          <a:ln/>
        </p:spPr>
        <p:txBody>
          <a:bodyPr wrap="square" lIns="0" tIns="0" rIns="0" bIns="0" rtlCol="0" anchor="ctr"/>
          <a:lstStyle/>
          <a:p>
            <a:pPr indent="0" marL="0">
              <a:buNone/>
            </a:pPr>
            <a:r>
              <a:rPr lang="en-US" sz="700" dirty="0">
                <a:solidFill>
                  <a:srgbClr val="64748B"/>
                </a:solidFill>
              </a:rPr>
              <a:t>LokoAI confidential</a:t>
            </a:r>
            <a:endParaRPr lang="en-US" sz="700" dirty="0"/>
          </a:p>
        </p:txBody>
      </p:sp>
      <p:sp>
        <p:nvSpPr>
          <p:cNvPr id="9" name="Text 7"/>
          <p:cNvSpPr/>
          <p:nvPr/>
        </p:nvSpPr>
        <p:spPr>
          <a:xfrm>
            <a:off x="11201400" y="6446520"/>
            <a:ext cx="640080" cy="201168"/>
          </a:xfrm>
          <a:prstGeom prst="rect">
            <a:avLst/>
          </a:prstGeom>
          <a:noFill/>
          <a:ln/>
        </p:spPr>
        <p:txBody>
          <a:bodyPr wrap="square" lIns="0" tIns="0" rIns="0" bIns="0" rtlCol="0" anchor="ctr"/>
          <a:lstStyle/>
          <a:p>
            <a:pPr algn="r" indent="0" marL="0">
              <a:buNone/>
            </a:pPr>
            <a:r>
              <a:rPr lang="en-US" sz="800" b="1" dirty="0">
                <a:solidFill>
                  <a:srgbClr val="64748B"/>
                </a:solidFill>
              </a:rPr>
              <a:t>13</a:t>
            </a:r>
            <a:endParaRPr lang="en-US" sz="800" dirty="0"/>
          </a:p>
        </p:txBody>
      </p:sp>
      <p:sp>
        <p:nvSpPr>
          <p:cNvPr id="10" name="Text 8"/>
          <p:cNvSpPr/>
          <p:nvPr/>
        </p:nvSpPr>
        <p:spPr>
          <a:xfrm>
            <a:off x="2743200" y="6446520"/>
            <a:ext cx="6217920" cy="164592"/>
          </a:xfrm>
          <a:prstGeom prst="rect">
            <a:avLst/>
          </a:prstGeom>
          <a:noFill/>
          <a:ln/>
        </p:spPr>
        <p:txBody>
          <a:bodyPr wrap="square" lIns="0" tIns="0" rIns="0" bIns="0" rtlCol="0" anchor="ctr">
            <a:normAutofit/>
          </a:bodyPr>
          <a:lstStyle/>
          <a:p>
            <a:pPr algn="ctr" indent="0" marL="0">
              <a:buNone/>
            </a:pPr>
            <a:r>
              <a:rPr lang="en-US" sz="670" dirty="0">
                <a:solidFill>
                  <a:srgbClr val="7A8494"/>
                </a:solidFill>
              </a:rPr>
              <a:t>Source: Company go-to-market assumptions</a:t>
            </a:r>
            <a:endParaRPr lang="en-US" sz="670" dirty="0"/>
          </a:p>
        </p:txBody>
      </p:sp>
      <p:sp>
        <p:nvSpPr>
          <p:cNvPr id="11" name="Shape 9"/>
          <p:cNvSpPr/>
          <p:nvPr/>
        </p:nvSpPr>
        <p:spPr>
          <a:xfrm>
            <a:off x="868680" y="2011680"/>
            <a:ext cx="502920" cy="502920"/>
          </a:xfrm>
          <a:prstGeom prst="ellipse">
            <a:avLst/>
          </a:prstGeom>
          <a:solidFill>
            <a:srgbClr val="1E5BFF"/>
          </a:solidFill>
          <a:ln w="12700">
            <a:solidFill>
              <a:srgbClr val="1E5BFF"/>
            </a:solidFill>
            <a:prstDash val="solid"/>
          </a:ln>
        </p:spPr>
      </p:sp>
      <p:sp>
        <p:nvSpPr>
          <p:cNvPr id="12" name="Text 10"/>
          <p:cNvSpPr/>
          <p:nvPr/>
        </p:nvSpPr>
        <p:spPr>
          <a:xfrm>
            <a:off x="868680" y="2139696"/>
            <a:ext cx="502920" cy="137160"/>
          </a:xfrm>
          <a:prstGeom prst="rect">
            <a:avLst/>
          </a:prstGeom>
          <a:noFill/>
          <a:ln/>
        </p:spPr>
        <p:txBody>
          <a:bodyPr wrap="square" lIns="0" tIns="0" rIns="0" bIns="0" rtlCol="0" anchor="ctr"/>
          <a:lstStyle/>
          <a:p>
            <a:pPr algn="ctr" indent="0" marL="0">
              <a:buNone/>
            </a:pPr>
            <a:r>
              <a:rPr lang="en-US" sz="800" b="1" dirty="0">
                <a:solidFill>
                  <a:srgbClr val="FFFFFF"/>
                </a:solidFill>
              </a:rPr>
              <a:t>1</a:t>
            </a:r>
            <a:endParaRPr lang="en-US" sz="800" dirty="0"/>
          </a:p>
        </p:txBody>
      </p:sp>
      <p:sp>
        <p:nvSpPr>
          <p:cNvPr id="13" name="Shape 11"/>
          <p:cNvSpPr/>
          <p:nvPr/>
        </p:nvSpPr>
        <p:spPr>
          <a:xfrm>
            <a:off x="1371600" y="2258568"/>
            <a:ext cx="1691640" cy="0"/>
          </a:xfrm>
          <a:prstGeom prst="line">
            <a:avLst/>
          </a:prstGeom>
          <a:noFill/>
          <a:ln w="19050">
            <a:solidFill>
              <a:srgbClr val="D7DEE8"/>
            </a:solidFill>
            <a:prstDash val="solid"/>
          </a:ln>
        </p:spPr>
      </p:sp>
      <p:sp>
        <p:nvSpPr>
          <p:cNvPr id="14" name="Text 12"/>
          <p:cNvSpPr/>
          <p:nvPr/>
        </p:nvSpPr>
        <p:spPr>
          <a:xfrm>
            <a:off x="640080" y="2788920"/>
            <a:ext cx="1691640" cy="320040"/>
          </a:xfrm>
          <a:prstGeom prst="rect">
            <a:avLst/>
          </a:prstGeom>
          <a:noFill/>
          <a:ln/>
        </p:spPr>
        <p:txBody>
          <a:bodyPr wrap="square" lIns="0" tIns="0" rIns="0" bIns="0" rtlCol="0" anchor="ctr">
            <a:normAutofit/>
          </a:bodyPr>
          <a:lstStyle/>
          <a:p>
            <a:pPr algn="ctr" indent="0" marL="0">
              <a:buNone/>
            </a:pPr>
            <a:r>
              <a:rPr lang="en-US" sz="1050" b="1" dirty="0">
                <a:solidFill>
                  <a:srgbClr val="111827"/>
                </a:solidFill>
              </a:rPr>
              <a:t>Seed the builder community</a:t>
            </a:r>
            <a:endParaRPr lang="en-US" sz="1050" dirty="0"/>
          </a:p>
        </p:txBody>
      </p:sp>
      <p:sp>
        <p:nvSpPr>
          <p:cNvPr id="15" name="Text 13"/>
          <p:cNvSpPr/>
          <p:nvPr/>
        </p:nvSpPr>
        <p:spPr>
          <a:xfrm>
            <a:off x="576072" y="3364992"/>
            <a:ext cx="1828800" cy="960120"/>
          </a:xfrm>
          <a:prstGeom prst="rect">
            <a:avLst/>
          </a:prstGeom>
          <a:noFill/>
          <a:ln/>
        </p:spPr>
        <p:txBody>
          <a:bodyPr wrap="square" lIns="0" tIns="0" rIns="0" bIns="0" rtlCol="0" anchor="ctr">
            <a:normAutofit/>
          </a:bodyPr>
          <a:lstStyle/>
          <a:p>
            <a:pPr algn="ctr" indent="0" marL="0">
              <a:buNone/>
            </a:pPr>
            <a:r>
              <a:rPr lang="en-US" sz="820" dirty="0">
                <a:solidFill>
                  <a:srgbClr val="4B5563"/>
                </a:solidFill>
              </a:rPr>
              <a:t>Templates, public builds, founder challenges, and launch contests create organic demand.</a:t>
            </a:r>
            <a:endParaRPr lang="en-US" sz="820" dirty="0"/>
          </a:p>
        </p:txBody>
      </p:sp>
      <p:sp>
        <p:nvSpPr>
          <p:cNvPr id="16" name="Shape 14"/>
          <p:cNvSpPr/>
          <p:nvPr/>
        </p:nvSpPr>
        <p:spPr>
          <a:xfrm>
            <a:off x="3108960" y="2011680"/>
            <a:ext cx="502920" cy="502920"/>
          </a:xfrm>
          <a:prstGeom prst="ellipse">
            <a:avLst/>
          </a:prstGeom>
          <a:solidFill>
            <a:srgbClr val="16B8C7"/>
          </a:solidFill>
          <a:ln w="12700">
            <a:solidFill>
              <a:srgbClr val="16B8C7"/>
            </a:solidFill>
            <a:prstDash val="solid"/>
          </a:ln>
        </p:spPr>
      </p:sp>
      <p:sp>
        <p:nvSpPr>
          <p:cNvPr id="17" name="Text 15"/>
          <p:cNvSpPr/>
          <p:nvPr/>
        </p:nvSpPr>
        <p:spPr>
          <a:xfrm>
            <a:off x="3108960" y="2139696"/>
            <a:ext cx="502920" cy="137160"/>
          </a:xfrm>
          <a:prstGeom prst="rect">
            <a:avLst/>
          </a:prstGeom>
          <a:noFill/>
          <a:ln/>
        </p:spPr>
        <p:txBody>
          <a:bodyPr wrap="square" lIns="0" tIns="0" rIns="0" bIns="0" rtlCol="0" anchor="ctr"/>
          <a:lstStyle/>
          <a:p>
            <a:pPr algn="ctr" indent="0" marL="0">
              <a:buNone/>
            </a:pPr>
            <a:r>
              <a:rPr lang="en-US" sz="800" b="1" dirty="0">
                <a:solidFill>
                  <a:srgbClr val="FFFFFF"/>
                </a:solidFill>
              </a:rPr>
              <a:t>2</a:t>
            </a:r>
            <a:endParaRPr lang="en-US" sz="800" dirty="0"/>
          </a:p>
        </p:txBody>
      </p:sp>
      <p:sp>
        <p:nvSpPr>
          <p:cNvPr id="18" name="Shape 16"/>
          <p:cNvSpPr/>
          <p:nvPr/>
        </p:nvSpPr>
        <p:spPr>
          <a:xfrm>
            <a:off x="3611880" y="2258568"/>
            <a:ext cx="1691640" cy="0"/>
          </a:xfrm>
          <a:prstGeom prst="line">
            <a:avLst/>
          </a:prstGeom>
          <a:noFill/>
          <a:ln w="19050">
            <a:solidFill>
              <a:srgbClr val="D7DEE8"/>
            </a:solidFill>
            <a:prstDash val="solid"/>
          </a:ln>
        </p:spPr>
      </p:sp>
      <p:sp>
        <p:nvSpPr>
          <p:cNvPr id="19" name="Text 17"/>
          <p:cNvSpPr/>
          <p:nvPr/>
        </p:nvSpPr>
        <p:spPr>
          <a:xfrm>
            <a:off x="2880360" y="2788920"/>
            <a:ext cx="1691640" cy="320040"/>
          </a:xfrm>
          <a:prstGeom prst="rect">
            <a:avLst/>
          </a:prstGeom>
          <a:noFill/>
          <a:ln/>
        </p:spPr>
        <p:txBody>
          <a:bodyPr wrap="square" lIns="0" tIns="0" rIns="0" bIns="0" rtlCol="0" anchor="ctr">
            <a:normAutofit/>
          </a:bodyPr>
          <a:lstStyle/>
          <a:p>
            <a:pPr algn="ctr" indent="0" marL="0">
              <a:buNone/>
            </a:pPr>
            <a:r>
              <a:rPr lang="en-US" sz="1050" b="1" dirty="0">
                <a:solidFill>
                  <a:srgbClr val="111827"/>
                </a:solidFill>
              </a:rPr>
              <a:t>Convert high-intent users</a:t>
            </a:r>
            <a:endParaRPr lang="en-US" sz="1050" dirty="0"/>
          </a:p>
        </p:txBody>
      </p:sp>
      <p:sp>
        <p:nvSpPr>
          <p:cNvPr id="20" name="Text 18"/>
          <p:cNvSpPr/>
          <p:nvPr/>
        </p:nvSpPr>
        <p:spPr>
          <a:xfrm>
            <a:off x="2816352" y="3364992"/>
            <a:ext cx="1828800" cy="960120"/>
          </a:xfrm>
          <a:prstGeom prst="rect">
            <a:avLst/>
          </a:prstGeom>
          <a:noFill/>
          <a:ln/>
        </p:spPr>
        <p:txBody>
          <a:bodyPr wrap="square" lIns="0" tIns="0" rIns="0" bIns="0" rtlCol="0" anchor="ctr">
            <a:normAutofit/>
          </a:bodyPr>
          <a:lstStyle/>
          <a:p>
            <a:pPr algn="ctr" indent="0" marL="0">
              <a:buNone/>
            </a:pPr>
            <a:r>
              <a:rPr lang="en-US" sz="820" dirty="0">
                <a:solidFill>
                  <a:srgbClr val="4B5563"/>
                </a:solidFill>
              </a:rPr>
              <a:t>In-product limits, premium models, export, deploy, and collaboration triggers move free users to paid.</a:t>
            </a:r>
            <a:endParaRPr lang="en-US" sz="820" dirty="0"/>
          </a:p>
        </p:txBody>
      </p:sp>
      <p:sp>
        <p:nvSpPr>
          <p:cNvPr id="21" name="Shape 19"/>
          <p:cNvSpPr/>
          <p:nvPr/>
        </p:nvSpPr>
        <p:spPr>
          <a:xfrm>
            <a:off x="5349240" y="2011680"/>
            <a:ext cx="502920" cy="502920"/>
          </a:xfrm>
          <a:prstGeom prst="ellipse">
            <a:avLst/>
          </a:prstGeom>
          <a:solidFill>
            <a:srgbClr val="10A37F"/>
          </a:solidFill>
          <a:ln w="12700">
            <a:solidFill>
              <a:srgbClr val="10A37F"/>
            </a:solidFill>
            <a:prstDash val="solid"/>
          </a:ln>
        </p:spPr>
      </p:sp>
      <p:sp>
        <p:nvSpPr>
          <p:cNvPr id="22" name="Text 20"/>
          <p:cNvSpPr/>
          <p:nvPr/>
        </p:nvSpPr>
        <p:spPr>
          <a:xfrm>
            <a:off x="5349240" y="2139696"/>
            <a:ext cx="502920" cy="137160"/>
          </a:xfrm>
          <a:prstGeom prst="rect">
            <a:avLst/>
          </a:prstGeom>
          <a:noFill/>
          <a:ln/>
        </p:spPr>
        <p:txBody>
          <a:bodyPr wrap="square" lIns="0" tIns="0" rIns="0" bIns="0" rtlCol="0" anchor="ctr"/>
          <a:lstStyle/>
          <a:p>
            <a:pPr algn="ctr" indent="0" marL="0">
              <a:buNone/>
            </a:pPr>
            <a:r>
              <a:rPr lang="en-US" sz="800" b="1" dirty="0">
                <a:solidFill>
                  <a:srgbClr val="FFFFFF"/>
                </a:solidFill>
              </a:rPr>
              <a:t>3</a:t>
            </a:r>
            <a:endParaRPr lang="en-US" sz="800" dirty="0"/>
          </a:p>
        </p:txBody>
      </p:sp>
      <p:sp>
        <p:nvSpPr>
          <p:cNvPr id="23" name="Shape 21"/>
          <p:cNvSpPr/>
          <p:nvPr/>
        </p:nvSpPr>
        <p:spPr>
          <a:xfrm>
            <a:off x="5852160" y="2258568"/>
            <a:ext cx="1691640" cy="0"/>
          </a:xfrm>
          <a:prstGeom prst="line">
            <a:avLst/>
          </a:prstGeom>
          <a:noFill/>
          <a:ln w="19050">
            <a:solidFill>
              <a:srgbClr val="D7DEE8"/>
            </a:solidFill>
            <a:prstDash val="solid"/>
          </a:ln>
        </p:spPr>
      </p:sp>
      <p:sp>
        <p:nvSpPr>
          <p:cNvPr id="24" name="Text 22"/>
          <p:cNvSpPr/>
          <p:nvPr/>
        </p:nvSpPr>
        <p:spPr>
          <a:xfrm>
            <a:off x="5120640" y="2788920"/>
            <a:ext cx="1691640" cy="320040"/>
          </a:xfrm>
          <a:prstGeom prst="rect">
            <a:avLst/>
          </a:prstGeom>
          <a:noFill/>
          <a:ln/>
        </p:spPr>
        <p:txBody>
          <a:bodyPr wrap="square" lIns="0" tIns="0" rIns="0" bIns="0" rtlCol="0" anchor="ctr">
            <a:normAutofit/>
          </a:bodyPr>
          <a:lstStyle/>
          <a:p>
            <a:pPr algn="ctr" indent="0" marL="0">
              <a:buNone/>
            </a:pPr>
            <a:r>
              <a:rPr lang="en-US" sz="1050" b="1" dirty="0">
                <a:solidFill>
                  <a:srgbClr val="111827"/>
                </a:solidFill>
              </a:rPr>
              <a:t>Package repeatable verticals</a:t>
            </a:r>
            <a:endParaRPr lang="en-US" sz="1050" dirty="0"/>
          </a:p>
        </p:txBody>
      </p:sp>
      <p:sp>
        <p:nvSpPr>
          <p:cNvPr id="25" name="Text 23"/>
          <p:cNvSpPr/>
          <p:nvPr/>
        </p:nvSpPr>
        <p:spPr>
          <a:xfrm>
            <a:off x="5056632" y="3364992"/>
            <a:ext cx="1828800" cy="960120"/>
          </a:xfrm>
          <a:prstGeom prst="rect">
            <a:avLst/>
          </a:prstGeom>
          <a:noFill/>
          <a:ln/>
        </p:spPr>
        <p:txBody>
          <a:bodyPr wrap="square" lIns="0" tIns="0" rIns="0" bIns="0" rtlCol="0" anchor="ctr">
            <a:normAutofit/>
          </a:bodyPr>
          <a:lstStyle/>
          <a:p>
            <a:pPr algn="ctr" indent="0" marL="0">
              <a:buNone/>
            </a:pPr>
            <a:r>
              <a:rPr lang="en-US" sz="820" dirty="0">
                <a:solidFill>
                  <a:srgbClr val="4B5563"/>
                </a:solidFill>
              </a:rPr>
              <a:t>Agency kits, SaaS starter kits, internal-tool kits, and presentation/document workflows improve conversion.</a:t>
            </a:r>
            <a:endParaRPr lang="en-US" sz="820" dirty="0"/>
          </a:p>
        </p:txBody>
      </p:sp>
      <p:sp>
        <p:nvSpPr>
          <p:cNvPr id="26" name="Shape 24"/>
          <p:cNvSpPr/>
          <p:nvPr/>
        </p:nvSpPr>
        <p:spPr>
          <a:xfrm>
            <a:off x="7589520" y="2011680"/>
            <a:ext cx="502920" cy="502920"/>
          </a:xfrm>
          <a:prstGeom prst="ellipse">
            <a:avLst/>
          </a:prstGeom>
          <a:solidFill>
            <a:srgbClr val="F59E0B"/>
          </a:solidFill>
          <a:ln w="12700">
            <a:solidFill>
              <a:srgbClr val="F59E0B"/>
            </a:solidFill>
            <a:prstDash val="solid"/>
          </a:ln>
        </p:spPr>
      </p:sp>
      <p:sp>
        <p:nvSpPr>
          <p:cNvPr id="27" name="Text 25"/>
          <p:cNvSpPr/>
          <p:nvPr/>
        </p:nvSpPr>
        <p:spPr>
          <a:xfrm>
            <a:off x="7589520" y="2139696"/>
            <a:ext cx="502920" cy="137160"/>
          </a:xfrm>
          <a:prstGeom prst="rect">
            <a:avLst/>
          </a:prstGeom>
          <a:noFill/>
          <a:ln/>
        </p:spPr>
        <p:txBody>
          <a:bodyPr wrap="square" lIns="0" tIns="0" rIns="0" bIns="0" rtlCol="0" anchor="ctr"/>
          <a:lstStyle/>
          <a:p>
            <a:pPr algn="ctr" indent="0" marL="0">
              <a:buNone/>
            </a:pPr>
            <a:r>
              <a:rPr lang="en-US" sz="800" b="1" dirty="0">
                <a:solidFill>
                  <a:srgbClr val="FFFFFF"/>
                </a:solidFill>
              </a:rPr>
              <a:t>4</a:t>
            </a:r>
            <a:endParaRPr lang="en-US" sz="800" dirty="0"/>
          </a:p>
        </p:txBody>
      </p:sp>
      <p:sp>
        <p:nvSpPr>
          <p:cNvPr id="28" name="Shape 26"/>
          <p:cNvSpPr/>
          <p:nvPr/>
        </p:nvSpPr>
        <p:spPr>
          <a:xfrm>
            <a:off x="8092440" y="2258568"/>
            <a:ext cx="1691640" cy="0"/>
          </a:xfrm>
          <a:prstGeom prst="line">
            <a:avLst/>
          </a:prstGeom>
          <a:noFill/>
          <a:ln w="19050">
            <a:solidFill>
              <a:srgbClr val="D7DEE8"/>
            </a:solidFill>
            <a:prstDash val="solid"/>
          </a:ln>
        </p:spPr>
      </p:sp>
      <p:sp>
        <p:nvSpPr>
          <p:cNvPr id="29" name="Text 27"/>
          <p:cNvSpPr/>
          <p:nvPr/>
        </p:nvSpPr>
        <p:spPr>
          <a:xfrm>
            <a:off x="7360920" y="2788920"/>
            <a:ext cx="1691640" cy="320040"/>
          </a:xfrm>
          <a:prstGeom prst="rect">
            <a:avLst/>
          </a:prstGeom>
          <a:noFill/>
          <a:ln/>
        </p:spPr>
        <p:txBody>
          <a:bodyPr wrap="square" lIns="0" tIns="0" rIns="0" bIns="0" rtlCol="0" anchor="ctr">
            <a:normAutofit/>
          </a:bodyPr>
          <a:lstStyle/>
          <a:p>
            <a:pPr algn="ctr" indent="0" marL="0">
              <a:buNone/>
            </a:pPr>
            <a:r>
              <a:rPr lang="en-US" sz="1050" b="1" dirty="0">
                <a:solidFill>
                  <a:srgbClr val="111827"/>
                </a:solidFill>
              </a:rPr>
              <a:t>Land teams</a:t>
            </a:r>
            <a:endParaRPr lang="en-US" sz="1050" dirty="0"/>
          </a:p>
        </p:txBody>
      </p:sp>
      <p:sp>
        <p:nvSpPr>
          <p:cNvPr id="30" name="Text 28"/>
          <p:cNvSpPr/>
          <p:nvPr/>
        </p:nvSpPr>
        <p:spPr>
          <a:xfrm>
            <a:off x="7296912" y="3364992"/>
            <a:ext cx="1828800" cy="960120"/>
          </a:xfrm>
          <a:prstGeom prst="rect">
            <a:avLst/>
          </a:prstGeom>
          <a:noFill/>
          <a:ln/>
        </p:spPr>
        <p:txBody>
          <a:bodyPr wrap="square" lIns="0" tIns="0" rIns="0" bIns="0" rtlCol="0" anchor="ctr">
            <a:normAutofit/>
          </a:bodyPr>
          <a:lstStyle/>
          <a:p>
            <a:pPr algn="ctr" indent="0" marL="0">
              <a:buNone/>
            </a:pPr>
            <a:r>
              <a:rPr lang="en-US" sz="820" dirty="0">
                <a:solidFill>
                  <a:srgbClr val="4B5563"/>
                </a:solidFill>
              </a:rPr>
              <a:t>Shared workspaces, role-based review, project history, and billing consolidation create team adoption.</a:t>
            </a:r>
            <a:endParaRPr lang="en-US" sz="820" dirty="0"/>
          </a:p>
        </p:txBody>
      </p:sp>
      <p:sp>
        <p:nvSpPr>
          <p:cNvPr id="31" name="Shape 29"/>
          <p:cNvSpPr/>
          <p:nvPr/>
        </p:nvSpPr>
        <p:spPr>
          <a:xfrm>
            <a:off x="9829800" y="2011680"/>
            <a:ext cx="502920" cy="502920"/>
          </a:xfrm>
          <a:prstGeom prst="ellipse">
            <a:avLst/>
          </a:prstGeom>
          <a:solidFill>
            <a:srgbClr val="E11D48"/>
          </a:solidFill>
          <a:ln w="12700">
            <a:solidFill>
              <a:srgbClr val="E11D48"/>
            </a:solidFill>
            <a:prstDash val="solid"/>
          </a:ln>
        </p:spPr>
      </p:sp>
      <p:sp>
        <p:nvSpPr>
          <p:cNvPr id="32" name="Text 30"/>
          <p:cNvSpPr/>
          <p:nvPr/>
        </p:nvSpPr>
        <p:spPr>
          <a:xfrm>
            <a:off x="9829800" y="2139696"/>
            <a:ext cx="502920" cy="137160"/>
          </a:xfrm>
          <a:prstGeom prst="rect">
            <a:avLst/>
          </a:prstGeom>
          <a:noFill/>
          <a:ln/>
        </p:spPr>
        <p:txBody>
          <a:bodyPr wrap="square" lIns="0" tIns="0" rIns="0" bIns="0" rtlCol="0" anchor="ctr"/>
          <a:lstStyle/>
          <a:p>
            <a:pPr algn="ctr" indent="0" marL="0">
              <a:buNone/>
            </a:pPr>
            <a:r>
              <a:rPr lang="en-US" sz="800" b="1" dirty="0">
                <a:solidFill>
                  <a:srgbClr val="FFFFFF"/>
                </a:solidFill>
              </a:rPr>
              <a:t>5</a:t>
            </a:r>
            <a:endParaRPr lang="en-US" sz="800" dirty="0"/>
          </a:p>
        </p:txBody>
      </p:sp>
      <p:sp>
        <p:nvSpPr>
          <p:cNvPr id="33" name="Shape 31"/>
          <p:cNvSpPr/>
          <p:nvPr/>
        </p:nvSpPr>
        <p:spPr>
          <a:xfrm>
            <a:off x="10332720" y="2258568"/>
            <a:ext cx="0" cy="0"/>
          </a:xfrm>
          <a:prstGeom prst="line">
            <a:avLst/>
          </a:prstGeom>
          <a:noFill/>
          <a:ln w="19050">
            <a:solidFill>
              <a:srgbClr val="D7DEE8"/>
            </a:solidFill>
            <a:prstDash val="solid"/>
          </a:ln>
        </p:spPr>
      </p:sp>
      <p:sp>
        <p:nvSpPr>
          <p:cNvPr id="34" name="Text 32"/>
          <p:cNvSpPr/>
          <p:nvPr/>
        </p:nvSpPr>
        <p:spPr>
          <a:xfrm>
            <a:off x="9601200" y="2788920"/>
            <a:ext cx="1691640" cy="320040"/>
          </a:xfrm>
          <a:prstGeom prst="rect">
            <a:avLst/>
          </a:prstGeom>
          <a:noFill/>
          <a:ln/>
        </p:spPr>
        <p:txBody>
          <a:bodyPr wrap="square" lIns="0" tIns="0" rIns="0" bIns="0" rtlCol="0" anchor="ctr">
            <a:normAutofit/>
          </a:bodyPr>
          <a:lstStyle/>
          <a:p>
            <a:pPr algn="ctr" indent="0" marL="0">
              <a:buNone/>
            </a:pPr>
            <a:r>
              <a:rPr lang="en-US" sz="1050" b="1" dirty="0">
                <a:solidFill>
                  <a:srgbClr val="111827"/>
                </a:solidFill>
              </a:rPr>
              <a:t>Expand enterprise</a:t>
            </a:r>
            <a:endParaRPr lang="en-US" sz="1050" dirty="0"/>
          </a:p>
        </p:txBody>
      </p:sp>
      <p:sp>
        <p:nvSpPr>
          <p:cNvPr id="35" name="Text 33"/>
          <p:cNvSpPr/>
          <p:nvPr/>
        </p:nvSpPr>
        <p:spPr>
          <a:xfrm>
            <a:off x="9537192" y="3364992"/>
            <a:ext cx="1828800" cy="960120"/>
          </a:xfrm>
          <a:prstGeom prst="rect">
            <a:avLst/>
          </a:prstGeom>
          <a:noFill/>
          <a:ln/>
        </p:spPr>
        <p:txBody>
          <a:bodyPr wrap="square" lIns="0" tIns="0" rIns="0" bIns="0" rtlCol="0" anchor="ctr">
            <a:normAutofit/>
          </a:bodyPr>
          <a:lstStyle/>
          <a:p>
            <a:pPr algn="ctr" indent="0" marL="0">
              <a:buNone/>
            </a:pPr>
            <a:r>
              <a:rPr lang="en-US" sz="820" dirty="0">
                <a:solidFill>
                  <a:srgbClr val="4B5563"/>
                </a:solidFill>
              </a:rPr>
              <a:t>Security, compliance, model controls, audit trails, and private deployment support drive annual contracts.</a:t>
            </a:r>
            <a:endParaRPr lang="en-US" sz="820" dirty="0"/>
          </a:p>
        </p:txBody>
      </p:sp>
      <p:sp>
        <p:nvSpPr>
          <p:cNvPr id="36" name="Shape 34"/>
          <p:cNvSpPr/>
          <p:nvPr/>
        </p:nvSpPr>
        <p:spPr>
          <a:xfrm>
            <a:off x="914400" y="5166360"/>
            <a:ext cx="10058400" cy="594360"/>
          </a:xfrm>
          <a:prstGeom prst="rect">
            <a:avLst/>
          </a:prstGeom>
          <a:solidFill>
            <a:srgbClr val="FFFFFF"/>
          </a:solidFill>
          <a:ln w="12700">
            <a:solidFill>
              <a:srgbClr val="D7DEE8">
                <a:alpha val="80000"/>
              </a:srgbClr>
            </a:solidFill>
            <a:prstDash val="solid"/>
          </a:ln>
        </p:spPr>
      </p:sp>
      <p:sp>
        <p:nvSpPr>
          <p:cNvPr id="37" name="Shape 35"/>
          <p:cNvSpPr/>
          <p:nvPr/>
        </p:nvSpPr>
        <p:spPr>
          <a:xfrm>
            <a:off x="914400" y="5166360"/>
            <a:ext cx="73152" cy="594360"/>
          </a:xfrm>
          <a:prstGeom prst="rect">
            <a:avLst/>
          </a:prstGeom>
          <a:solidFill>
            <a:srgbClr val="1E5BFF"/>
          </a:solidFill>
          <a:ln w="12700">
            <a:solidFill>
              <a:srgbClr val="1E5BFF"/>
            </a:solidFill>
            <a:prstDash val="solid"/>
          </a:ln>
        </p:spPr>
      </p:sp>
      <p:sp>
        <p:nvSpPr>
          <p:cNvPr id="38" name="Text 36"/>
          <p:cNvSpPr/>
          <p:nvPr/>
        </p:nvSpPr>
        <p:spPr>
          <a:xfrm>
            <a:off x="1143000" y="5330952"/>
            <a:ext cx="9692640" cy="256032"/>
          </a:xfrm>
          <a:prstGeom prst="rect">
            <a:avLst/>
          </a:prstGeom>
          <a:noFill/>
          <a:ln/>
        </p:spPr>
        <p:txBody>
          <a:bodyPr wrap="square" lIns="0" tIns="0" rIns="0" bIns="0" rtlCol="0" anchor="ctr"/>
          <a:lstStyle/>
          <a:p>
            <a:pPr indent="0" marL="0">
              <a:buNone/>
            </a:pPr>
            <a:r>
              <a:rPr lang="en-US" sz="1150" b="1" dirty="0">
                <a:solidFill>
                  <a:srgbClr val="111827"/>
                </a:solidFill>
              </a:rPr>
              <a:t>Operating cadence</a:t>
            </a:r>
            <a:endParaRPr lang="en-US" sz="1150" dirty="0"/>
          </a:p>
        </p:txBody>
      </p:sp>
      <p:sp>
        <p:nvSpPr>
          <p:cNvPr id="39" name="Text 37"/>
          <p:cNvSpPr/>
          <p:nvPr/>
        </p:nvSpPr>
        <p:spPr>
          <a:xfrm>
            <a:off x="1143000" y="5696712"/>
            <a:ext cx="9692640" cy="-45720"/>
          </a:xfrm>
          <a:prstGeom prst="rect">
            <a:avLst/>
          </a:prstGeom>
          <a:noFill/>
          <a:ln/>
        </p:spPr>
        <p:txBody>
          <a:bodyPr wrap="square" lIns="0" tIns="0" rIns="0" bIns="0" rtlCol="0" anchor="ctr">
            <a:normAutofit/>
          </a:bodyPr>
          <a:lstStyle/>
          <a:p>
            <a:pPr indent="0" marL="0">
              <a:buNone/>
            </a:pPr>
            <a:r>
              <a:rPr lang="en-US" sz="870" dirty="0">
                <a:solidFill>
                  <a:srgbClr val="4B5563"/>
                </a:solidFill>
              </a:rPr>
              <a:t>Weekly shipped templates, monthly product-led campaigns, quarterly vertical launches, and founder/customer proof packs for enterprise sales.</a:t>
            </a:r>
            <a:endParaRPr lang="en-US" sz="87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75488" y="347472"/>
            <a:ext cx="201168" cy="201168"/>
          </a:xfrm>
          <a:prstGeom prst="rect">
            <a:avLst/>
          </a:prstGeom>
          <a:solidFill>
            <a:srgbClr val="1E5BFF"/>
          </a:solidFill>
          <a:ln w="12700">
            <a:solidFill>
              <a:srgbClr val="1E5BFF"/>
            </a:solidFill>
            <a:prstDash val="solid"/>
          </a:ln>
        </p:spPr>
      </p:sp>
      <p:sp>
        <p:nvSpPr>
          <p:cNvPr id="3" name="Shape 1"/>
          <p:cNvSpPr/>
          <p:nvPr/>
        </p:nvSpPr>
        <p:spPr>
          <a:xfrm>
            <a:off x="713232" y="347472"/>
            <a:ext cx="201168" cy="201168"/>
          </a:xfrm>
          <a:prstGeom prst="rect">
            <a:avLst/>
          </a:prstGeom>
          <a:solidFill>
            <a:srgbClr val="16B8C7"/>
          </a:solidFill>
          <a:ln w="12700">
            <a:solidFill>
              <a:srgbClr val="16B8C7"/>
            </a:solidFill>
            <a:prstDash val="solid"/>
          </a:ln>
        </p:spPr>
      </p:sp>
      <p:sp>
        <p:nvSpPr>
          <p:cNvPr id="4" name="Text 2"/>
          <p:cNvSpPr/>
          <p:nvPr/>
        </p:nvSpPr>
        <p:spPr>
          <a:xfrm>
            <a:off x="987552" y="310896"/>
            <a:ext cx="1097280" cy="228600"/>
          </a:xfrm>
          <a:prstGeom prst="rect">
            <a:avLst/>
          </a:prstGeom>
          <a:noFill/>
          <a:ln/>
        </p:spPr>
        <p:txBody>
          <a:bodyPr wrap="square" lIns="0" tIns="0" rIns="0" bIns="0" rtlCol="0" anchor="ctr"/>
          <a:lstStyle/>
          <a:p>
            <a:pPr indent="0" marL="0">
              <a:buNone/>
            </a:pPr>
            <a:r>
              <a:rPr lang="en-US" sz="1000" b="1" dirty="0">
                <a:solidFill>
                  <a:srgbClr val="111827"/>
                </a:solidFill>
              </a:rPr>
              <a:t>LokoAI</a:t>
            </a:r>
            <a:endParaRPr lang="en-US" sz="1000" dirty="0"/>
          </a:p>
        </p:txBody>
      </p:sp>
      <p:sp>
        <p:nvSpPr>
          <p:cNvPr id="5" name="Text 3"/>
          <p:cNvSpPr/>
          <p:nvPr/>
        </p:nvSpPr>
        <p:spPr>
          <a:xfrm>
            <a:off x="658368" y="713232"/>
            <a:ext cx="2651760" cy="164592"/>
          </a:xfrm>
          <a:prstGeom prst="rect">
            <a:avLst/>
          </a:prstGeom>
          <a:noFill/>
          <a:ln/>
        </p:spPr>
        <p:txBody>
          <a:bodyPr wrap="square" lIns="0" tIns="0" rIns="0" bIns="0" rtlCol="0" anchor="ctr"/>
          <a:lstStyle/>
          <a:p>
            <a:pPr indent="0" marL="0">
              <a:buNone/>
            </a:pPr>
            <a:r>
              <a:rPr lang="en-US" sz="750" b="1" dirty="0">
                <a:solidFill>
                  <a:srgbClr val="1E5BFF"/>
                </a:solidFill>
              </a:rPr>
              <a:t>MARKETING FUNNEL</a:t>
            </a:r>
            <a:endParaRPr lang="en-US" sz="750" dirty="0"/>
          </a:p>
        </p:txBody>
      </p:sp>
      <p:sp>
        <p:nvSpPr>
          <p:cNvPr id="6" name="Text 4"/>
          <p:cNvSpPr/>
          <p:nvPr/>
        </p:nvSpPr>
        <p:spPr>
          <a:xfrm>
            <a:off x="658368" y="932688"/>
            <a:ext cx="10789920" cy="530352"/>
          </a:xfrm>
          <a:prstGeom prst="rect">
            <a:avLst/>
          </a:prstGeom>
          <a:noFill/>
          <a:ln/>
        </p:spPr>
        <p:txBody>
          <a:bodyPr wrap="square" lIns="0" tIns="0" rIns="0" bIns="0" rtlCol="0" anchor="ctr">
            <a:normAutofit/>
          </a:bodyPr>
          <a:lstStyle/>
          <a:p>
            <a:pPr indent="0" marL="0">
              <a:buNone/>
            </a:pPr>
            <a:r>
              <a:rPr lang="en-US" sz="2500" b="1" dirty="0">
                <a:solidFill>
                  <a:srgbClr val="111827"/>
                </a:solidFill>
                <a:latin typeface="Aptos Display" pitchFamily="34" charset="0"/>
                <a:ea typeface="Aptos Display" pitchFamily="34" charset="-122"/>
                <a:cs typeface="Aptos Display" pitchFamily="34" charset="-120"/>
              </a:rPr>
              <a:t>Marketing funnel: convert prompt curiosity into retained build velocity</a:t>
            </a:r>
            <a:endParaRPr lang="en-US" sz="2500" dirty="0"/>
          </a:p>
        </p:txBody>
      </p:sp>
      <p:sp>
        <p:nvSpPr>
          <p:cNvPr id="7" name="Shape 5"/>
          <p:cNvSpPr/>
          <p:nvPr/>
        </p:nvSpPr>
        <p:spPr>
          <a:xfrm>
            <a:off x="658368" y="1572768"/>
            <a:ext cx="1143000" cy="0"/>
          </a:xfrm>
          <a:prstGeom prst="line">
            <a:avLst/>
          </a:prstGeom>
          <a:noFill/>
          <a:ln w="25400">
            <a:solidFill>
              <a:srgbClr val="1E5BFF"/>
            </a:solidFill>
            <a:prstDash val="solid"/>
          </a:ln>
        </p:spPr>
      </p:sp>
      <p:sp>
        <p:nvSpPr>
          <p:cNvPr id="8" name="Text 6"/>
          <p:cNvSpPr/>
          <p:nvPr/>
        </p:nvSpPr>
        <p:spPr>
          <a:xfrm>
            <a:off x="475488" y="6473952"/>
            <a:ext cx="2011680" cy="164592"/>
          </a:xfrm>
          <a:prstGeom prst="rect">
            <a:avLst/>
          </a:prstGeom>
          <a:noFill/>
          <a:ln/>
        </p:spPr>
        <p:txBody>
          <a:bodyPr wrap="square" lIns="0" tIns="0" rIns="0" bIns="0" rtlCol="0" anchor="ctr"/>
          <a:lstStyle/>
          <a:p>
            <a:pPr indent="0" marL="0">
              <a:buNone/>
            </a:pPr>
            <a:r>
              <a:rPr lang="en-US" sz="700" dirty="0">
                <a:solidFill>
                  <a:srgbClr val="64748B"/>
                </a:solidFill>
              </a:rPr>
              <a:t>LokoAI confidential</a:t>
            </a:r>
            <a:endParaRPr lang="en-US" sz="700" dirty="0"/>
          </a:p>
        </p:txBody>
      </p:sp>
      <p:sp>
        <p:nvSpPr>
          <p:cNvPr id="9" name="Text 7"/>
          <p:cNvSpPr/>
          <p:nvPr/>
        </p:nvSpPr>
        <p:spPr>
          <a:xfrm>
            <a:off x="11201400" y="6446520"/>
            <a:ext cx="640080" cy="201168"/>
          </a:xfrm>
          <a:prstGeom prst="rect">
            <a:avLst/>
          </a:prstGeom>
          <a:noFill/>
          <a:ln/>
        </p:spPr>
        <p:txBody>
          <a:bodyPr wrap="square" lIns="0" tIns="0" rIns="0" bIns="0" rtlCol="0" anchor="ctr"/>
          <a:lstStyle/>
          <a:p>
            <a:pPr algn="r" indent="0" marL="0">
              <a:buNone/>
            </a:pPr>
            <a:r>
              <a:rPr lang="en-US" sz="800" b="1" dirty="0">
                <a:solidFill>
                  <a:srgbClr val="64748B"/>
                </a:solidFill>
              </a:rPr>
              <a:t>14</a:t>
            </a:r>
            <a:endParaRPr lang="en-US" sz="800" dirty="0"/>
          </a:p>
        </p:txBody>
      </p:sp>
      <p:sp>
        <p:nvSpPr>
          <p:cNvPr id="10" name="Text 8"/>
          <p:cNvSpPr/>
          <p:nvPr/>
        </p:nvSpPr>
        <p:spPr>
          <a:xfrm>
            <a:off x="2743200" y="6446520"/>
            <a:ext cx="6217920" cy="164592"/>
          </a:xfrm>
          <a:prstGeom prst="rect">
            <a:avLst/>
          </a:prstGeom>
          <a:noFill/>
          <a:ln/>
        </p:spPr>
        <p:txBody>
          <a:bodyPr wrap="square" lIns="0" tIns="0" rIns="0" bIns="0" rtlCol="0" anchor="ctr">
            <a:normAutofit/>
          </a:bodyPr>
          <a:lstStyle/>
          <a:p>
            <a:pPr algn="ctr" indent="0" marL="0">
              <a:buNone/>
            </a:pPr>
            <a:r>
              <a:rPr lang="en-US" sz="670" dirty="0">
                <a:solidFill>
                  <a:srgbClr val="7A8494"/>
                </a:solidFill>
              </a:rPr>
              <a:t>Source: Company funnel assumptions</a:t>
            </a:r>
            <a:endParaRPr lang="en-US" sz="670" dirty="0"/>
          </a:p>
        </p:txBody>
      </p:sp>
      <p:sp>
        <p:nvSpPr>
          <p:cNvPr id="11" name="Shape 9"/>
          <p:cNvSpPr/>
          <p:nvPr/>
        </p:nvSpPr>
        <p:spPr>
          <a:xfrm>
            <a:off x="2057400" y="1874520"/>
            <a:ext cx="8046720" cy="502920"/>
          </a:xfrm>
          <a:prstGeom prst="trapezoid">
            <a:avLst/>
          </a:prstGeom>
          <a:solidFill>
            <a:srgbClr val="1E5BFF">
              <a:alpha val="96000"/>
            </a:srgbClr>
          </a:solidFill>
          <a:ln w="12700">
            <a:solidFill>
              <a:srgbClr val="1E5BFF"/>
            </a:solidFill>
            <a:prstDash val="solid"/>
          </a:ln>
        </p:spPr>
      </p:sp>
      <p:sp>
        <p:nvSpPr>
          <p:cNvPr id="12" name="Text 10"/>
          <p:cNvSpPr/>
          <p:nvPr/>
        </p:nvSpPr>
        <p:spPr>
          <a:xfrm>
            <a:off x="2194560" y="2011680"/>
            <a:ext cx="1280160" cy="128016"/>
          </a:xfrm>
          <a:prstGeom prst="rect">
            <a:avLst/>
          </a:prstGeom>
          <a:noFill/>
          <a:ln/>
        </p:spPr>
        <p:txBody>
          <a:bodyPr wrap="square" lIns="0" tIns="0" rIns="0" bIns="0" rtlCol="0" anchor="ctr"/>
          <a:lstStyle/>
          <a:p>
            <a:pPr indent="0" marL="0">
              <a:buNone/>
            </a:pPr>
            <a:r>
              <a:rPr lang="en-US" sz="800" b="1" dirty="0">
                <a:solidFill>
                  <a:srgbClr val="FFFFFF"/>
                </a:solidFill>
              </a:rPr>
              <a:t>Audience</a:t>
            </a:r>
            <a:endParaRPr lang="en-US" sz="800" dirty="0"/>
          </a:p>
        </p:txBody>
      </p:sp>
      <p:sp>
        <p:nvSpPr>
          <p:cNvPr id="13" name="Text 11"/>
          <p:cNvSpPr/>
          <p:nvPr/>
        </p:nvSpPr>
        <p:spPr>
          <a:xfrm>
            <a:off x="3520440" y="1993392"/>
            <a:ext cx="6309360" cy="164592"/>
          </a:xfrm>
          <a:prstGeom prst="rect">
            <a:avLst/>
          </a:prstGeom>
          <a:noFill/>
          <a:ln/>
        </p:spPr>
        <p:txBody>
          <a:bodyPr wrap="square" lIns="0" tIns="0" rIns="0" bIns="0" rtlCol="0" anchor="ctr">
            <a:normAutofit/>
          </a:bodyPr>
          <a:lstStyle/>
          <a:p>
            <a:pPr indent="0" marL="0">
              <a:buNone/>
            </a:pPr>
            <a:r>
              <a:rPr lang="en-US" sz="780" dirty="0">
                <a:solidFill>
                  <a:srgbClr val="FFFFFF"/>
                </a:solidFill>
              </a:rPr>
              <a:t>Creator, founder, agency, product communities</a:t>
            </a:r>
            <a:endParaRPr lang="en-US" sz="780" dirty="0"/>
          </a:p>
        </p:txBody>
      </p:sp>
      <p:sp>
        <p:nvSpPr>
          <p:cNvPr id="14" name="Shape 12"/>
          <p:cNvSpPr/>
          <p:nvPr/>
        </p:nvSpPr>
        <p:spPr>
          <a:xfrm>
            <a:off x="2788920" y="2532888"/>
            <a:ext cx="6583680" cy="502920"/>
          </a:xfrm>
          <a:prstGeom prst="trapezoid">
            <a:avLst/>
          </a:prstGeom>
          <a:solidFill>
            <a:srgbClr val="16B8C7">
              <a:alpha val="96000"/>
            </a:srgbClr>
          </a:solidFill>
          <a:ln w="12700">
            <a:solidFill>
              <a:srgbClr val="16B8C7"/>
            </a:solidFill>
            <a:prstDash val="solid"/>
          </a:ln>
        </p:spPr>
      </p:sp>
      <p:sp>
        <p:nvSpPr>
          <p:cNvPr id="15" name="Text 13"/>
          <p:cNvSpPr/>
          <p:nvPr/>
        </p:nvSpPr>
        <p:spPr>
          <a:xfrm>
            <a:off x="2926080" y="2670048"/>
            <a:ext cx="1280160" cy="128016"/>
          </a:xfrm>
          <a:prstGeom prst="rect">
            <a:avLst/>
          </a:prstGeom>
          <a:noFill/>
          <a:ln/>
        </p:spPr>
        <p:txBody>
          <a:bodyPr wrap="square" lIns="0" tIns="0" rIns="0" bIns="0" rtlCol="0" anchor="ctr"/>
          <a:lstStyle/>
          <a:p>
            <a:pPr indent="0" marL="0">
              <a:buNone/>
            </a:pPr>
            <a:r>
              <a:rPr lang="en-US" sz="800" b="1" dirty="0">
                <a:solidFill>
                  <a:srgbClr val="FFFFFF"/>
                </a:solidFill>
              </a:rPr>
              <a:t>Activation</a:t>
            </a:r>
            <a:endParaRPr lang="en-US" sz="800" dirty="0"/>
          </a:p>
        </p:txBody>
      </p:sp>
      <p:sp>
        <p:nvSpPr>
          <p:cNvPr id="16" name="Text 14"/>
          <p:cNvSpPr/>
          <p:nvPr/>
        </p:nvSpPr>
        <p:spPr>
          <a:xfrm>
            <a:off x="4251960" y="2651760"/>
            <a:ext cx="4846320" cy="164592"/>
          </a:xfrm>
          <a:prstGeom prst="rect">
            <a:avLst/>
          </a:prstGeom>
          <a:noFill/>
          <a:ln/>
        </p:spPr>
        <p:txBody>
          <a:bodyPr wrap="square" lIns="0" tIns="0" rIns="0" bIns="0" rtlCol="0" anchor="ctr">
            <a:normAutofit/>
          </a:bodyPr>
          <a:lstStyle/>
          <a:p>
            <a:pPr indent="0" marL="0">
              <a:buNone/>
            </a:pPr>
            <a:r>
              <a:rPr lang="en-US" sz="780" dirty="0">
                <a:solidFill>
                  <a:srgbClr val="FFFFFF"/>
                </a:solidFill>
              </a:rPr>
              <a:t>First generated app or artifact in under 10 minutes</a:t>
            </a:r>
            <a:endParaRPr lang="en-US" sz="780" dirty="0"/>
          </a:p>
        </p:txBody>
      </p:sp>
      <p:sp>
        <p:nvSpPr>
          <p:cNvPr id="17" name="Shape 15"/>
          <p:cNvSpPr/>
          <p:nvPr/>
        </p:nvSpPr>
        <p:spPr>
          <a:xfrm>
            <a:off x="3566160" y="3191256"/>
            <a:ext cx="5029200" cy="502920"/>
          </a:xfrm>
          <a:prstGeom prst="trapezoid">
            <a:avLst/>
          </a:prstGeom>
          <a:solidFill>
            <a:srgbClr val="10A37F">
              <a:alpha val="96000"/>
            </a:srgbClr>
          </a:solidFill>
          <a:ln w="12700">
            <a:solidFill>
              <a:srgbClr val="10A37F"/>
            </a:solidFill>
            <a:prstDash val="solid"/>
          </a:ln>
        </p:spPr>
      </p:sp>
      <p:sp>
        <p:nvSpPr>
          <p:cNvPr id="18" name="Text 16"/>
          <p:cNvSpPr/>
          <p:nvPr/>
        </p:nvSpPr>
        <p:spPr>
          <a:xfrm>
            <a:off x="3703320" y="3328416"/>
            <a:ext cx="1280160" cy="128016"/>
          </a:xfrm>
          <a:prstGeom prst="rect">
            <a:avLst/>
          </a:prstGeom>
          <a:noFill/>
          <a:ln/>
        </p:spPr>
        <p:txBody>
          <a:bodyPr wrap="square" lIns="0" tIns="0" rIns="0" bIns="0" rtlCol="0" anchor="ctr"/>
          <a:lstStyle/>
          <a:p>
            <a:pPr indent="0" marL="0">
              <a:buNone/>
            </a:pPr>
            <a:r>
              <a:rPr lang="en-US" sz="800" b="1" dirty="0">
                <a:solidFill>
                  <a:srgbClr val="FFFFFF"/>
                </a:solidFill>
              </a:rPr>
              <a:t>Conversion</a:t>
            </a:r>
            <a:endParaRPr lang="en-US" sz="800" dirty="0"/>
          </a:p>
        </p:txBody>
      </p:sp>
      <p:sp>
        <p:nvSpPr>
          <p:cNvPr id="19" name="Text 17"/>
          <p:cNvSpPr/>
          <p:nvPr/>
        </p:nvSpPr>
        <p:spPr>
          <a:xfrm>
            <a:off x="5029200" y="3310128"/>
            <a:ext cx="3291840" cy="164592"/>
          </a:xfrm>
          <a:prstGeom prst="rect">
            <a:avLst/>
          </a:prstGeom>
          <a:noFill/>
          <a:ln/>
        </p:spPr>
        <p:txBody>
          <a:bodyPr wrap="square" lIns="0" tIns="0" rIns="0" bIns="0" rtlCol="0" anchor="ctr">
            <a:normAutofit/>
          </a:bodyPr>
          <a:lstStyle/>
          <a:p>
            <a:pPr indent="0" marL="0">
              <a:buNone/>
            </a:pPr>
            <a:r>
              <a:rPr lang="en-US" sz="780" dirty="0">
                <a:solidFill>
                  <a:srgbClr val="FFFFFF"/>
                </a:solidFill>
              </a:rPr>
              <a:t>Upgrade for credits, export, deploy, team sharing</a:t>
            </a:r>
            <a:endParaRPr lang="en-US" sz="780" dirty="0"/>
          </a:p>
        </p:txBody>
      </p:sp>
      <p:sp>
        <p:nvSpPr>
          <p:cNvPr id="20" name="Shape 18"/>
          <p:cNvSpPr/>
          <p:nvPr/>
        </p:nvSpPr>
        <p:spPr>
          <a:xfrm>
            <a:off x="4389120" y="3849624"/>
            <a:ext cx="3383280" cy="502920"/>
          </a:xfrm>
          <a:prstGeom prst="trapezoid">
            <a:avLst/>
          </a:prstGeom>
          <a:solidFill>
            <a:srgbClr val="F59E0B">
              <a:alpha val="96000"/>
            </a:srgbClr>
          </a:solidFill>
          <a:ln w="12700">
            <a:solidFill>
              <a:srgbClr val="F59E0B"/>
            </a:solidFill>
            <a:prstDash val="solid"/>
          </a:ln>
        </p:spPr>
      </p:sp>
      <p:sp>
        <p:nvSpPr>
          <p:cNvPr id="21" name="Text 19"/>
          <p:cNvSpPr/>
          <p:nvPr/>
        </p:nvSpPr>
        <p:spPr>
          <a:xfrm>
            <a:off x="4526280" y="3986784"/>
            <a:ext cx="1280160" cy="128016"/>
          </a:xfrm>
          <a:prstGeom prst="rect">
            <a:avLst/>
          </a:prstGeom>
          <a:noFill/>
          <a:ln/>
        </p:spPr>
        <p:txBody>
          <a:bodyPr wrap="square" lIns="0" tIns="0" rIns="0" bIns="0" rtlCol="0" anchor="ctr"/>
          <a:lstStyle/>
          <a:p>
            <a:pPr indent="0" marL="0">
              <a:buNone/>
            </a:pPr>
            <a:r>
              <a:rPr lang="en-US" sz="800" b="1" dirty="0">
                <a:solidFill>
                  <a:srgbClr val="FFFFFF"/>
                </a:solidFill>
              </a:rPr>
              <a:t>Expansion</a:t>
            </a:r>
            <a:endParaRPr lang="en-US" sz="800" dirty="0"/>
          </a:p>
        </p:txBody>
      </p:sp>
      <p:sp>
        <p:nvSpPr>
          <p:cNvPr id="22" name="Text 20"/>
          <p:cNvSpPr/>
          <p:nvPr/>
        </p:nvSpPr>
        <p:spPr>
          <a:xfrm>
            <a:off x="5852160" y="3968496"/>
            <a:ext cx="1645920" cy="164592"/>
          </a:xfrm>
          <a:prstGeom prst="rect">
            <a:avLst/>
          </a:prstGeom>
          <a:noFill/>
          <a:ln/>
        </p:spPr>
        <p:txBody>
          <a:bodyPr wrap="square" lIns="0" tIns="0" rIns="0" bIns="0" rtlCol="0" anchor="ctr">
            <a:normAutofit/>
          </a:bodyPr>
          <a:lstStyle/>
          <a:p>
            <a:pPr indent="0" marL="0">
              <a:buNone/>
            </a:pPr>
            <a:r>
              <a:rPr lang="en-US" sz="780" dirty="0">
                <a:solidFill>
                  <a:srgbClr val="FFFFFF"/>
                </a:solidFill>
              </a:rPr>
              <a:t>Seats, workspaces, governance, enterprise support</a:t>
            </a:r>
            <a:endParaRPr lang="en-US" sz="780" dirty="0"/>
          </a:p>
        </p:txBody>
      </p:sp>
      <p:sp>
        <p:nvSpPr>
          <p:cNvPr id="23" name="Shape 21"/>
          <p:cNvSpPr/>
          <p:nvPr/>
        </p:nvSpPr>
        <p:spPr>
          <a:xfrm>
            <a:off x="5029200" y="4507992"/>
            <a:ext cx="2103120" cy="502920"/>
          </a:xfrm>
          <a:prstGeom prst="trapezoid">
            <a:avLst/>
          </a:prstGeom>
          <a:solidFill>
            <a:srgbClr val="E11D48">
              <a:alpha val="96000"/>
            </a:srgbClr>
          </a:solidFill>
          <a:ln w="12700">
            <a:solidFill>
              <a:srgbClr val="E11D48"/>
            </a:solidFill>
            <a:prstDash val="solid"/>
          </a:ln>
        </p:spPr>
      </p:sp>
      <p:sp>
        <p:nvSpPr>
          <p:cNvPr id="24" name="Text 22"/>
          <p:cNvSpPr/>
          <p:nvPr/>
        </p:nvSpPr>
        <p:spPr>
          <a:xfrm>
            <a:off x="5166360" y="4645152"/>
            <a:ext cx="1280160" cy="128016"/>
          </a:xfrm>
          <a:prstGeom prst="rect">
            <a:avLst/>
          </a:prstGeom>
          <a:noFill/>
          <a:ln/>
        </p:spPr>
        <p:txBody>
          <a:bodyPr wrap="square" lIns="0" tIns="0" rIns="0" bIns="0" rtlCol="0" anchor="ctr"/>
          <a:lstStyle/>
          <a:p>
            <a:pPr indent="0" marL="0">
              <a:buNone/>
            </a:pPr>
            <a:r>
              <a:rPr lang="en-US" sz="800" b="1" dirty="0">
                <a:solidFill>
                  <a:srgbClr val="FFFFFF"/>
                </a:solidFill>
              </a:rPr>
              <a:t>Advocacy</a:t>
            </a:r>
            <a:endParaRPr lang="en-US" sz="800" dirty="0"/>
          </a:p>
        </p:txBody>
      </p:sp>
      <p:sp>
        <p:nvSpPr>
          <p:cNvPr id="25" name="Text 23"/>
          <p:cNvSpPr/>
          <p:nvPr/>
        </p:nvSpPr>
        <p:spPr>
          <a:xfrm>
            <a:off x="6492240" y="4626864"/>
            <a:ext cx="365760" cy="164592"/>
          </a:xfrm>
          <a:prstGeom prst="rect">
            <a:avLst/>
          </a:prstGeom>
          <a:noFill/>
          <a:ln/>
        </p:spPr>
        <p:txBody>
          <a:bodyPr wrap="square" lIns="0" tIns="0" rIns="0" bIns="0" rtlCol="0" anchor="ctr">
            <a:normAutofit/>
          </a:bodyPr>
          <a:lstStyle/>
          <a:p>
            <a:pPr indent="0" marL="0">
              <a:buNone/>
            </a:pPr>
            <a:r>
              <a:rPr lang="en-US" sz="780" dirty="0">
                <a:solidFill>
                  <a:srgbClr val="FFFFFF"/>
                </a:solidFill>
              </a:rPr>
              <a:t>Public builds, templates, partner marketplace</a:t>
            </a:r>
            <a:endParaRPr lang="en-US" sz="78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1234440" y="5349240"/>
          <a:ext cx="9692640" cy="1051560"/>
        </p:xfrm>
        <a:graphic>
          <a:graphicData uri="http://schemas.openxmlformats.org/drawingml/2006/table">
            <a:tbl>
              <a:tblPr/>
              <a:tblGrid>
                <a:gridCol w="2743200"/>
                <a:gridCol w="1920240"/>
                <a:gridCol w="1920240"/>
                <a:gridCol w="1920240"/>
              </a:tblGrid>
              <a:tr h="210312">
                <a:tc>
                  <a:txBody>
                    <a:bodyPr/>
                    <a:lstStyle/>
                    <a:p>
                      <a:pPr indent="0" marL="0">
                        <a:buNone/>
                      </a:pPr>
                      <a:r>
                        <a:rPr lang="en-US" sz="850" b="1" dirty="0">
                          <a:solidFill>
                            <a:srgbClr val="FFFFFF"/>
                          </a:solidFill>
                        </a:rPr>
                        <a:t>Metric</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Yr 1 target</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Yr 2 target</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Yr 3 target</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r>
              <a:tr h="210312">
                <a:tc>
                  <a:txBody>
                    <a:bodyPr/>
                    <a:lstStyle/>
                    <a:p>
                      <a:pPr indent="0" marL="0">
                        <a:buNone/>
                      </a:pPr>
                      <a:r>
                        <a:rPr lang="en-US" sz="800" dirty="0">
                          <a:solidFill>
                            <a:srgbClr val="111827"/>
                          </a:solidFill>
                        </a:rPr>
                        <a:t>Website-to-signup</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6%</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8%</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10%</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r>
              <a:tr h="210312">
                <a:tc>
                  <a:txBody>
                    <a:bodyPr/>
                    <a:lstStyle/>
                    <a:p>
                      <a:pPr indent="0" marL="0">
                        <a:buNone/>
                      </a:pPr>
                      <a:r>
                        <a:rPr lang="en-US" sz="800" dirty="0">
                          <a:solidFill>
                            <a:srgbClr val="111827"/>
                          </a:solidFill>
                        </a:rPr>
                        <a:t>Activation rate</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45%</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55%</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62%</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r>
              <a:tr h="210312">
                <a:tc>
                  <a:txBody>
                    <a:bodyPr/>
                    <a:lstStyle/>
                    <a:p>
                      <a:pPr indent="0" marL="0">
                        <a:buNone/>
                      </a:pPr>
                      <a:r>
                        <a:rPr lang="en-US" sz="800" dirty="0">
                          <a:solidFill>
                            <a:srgbClr val="111827"/>
                          </a:solidFill>
                        </a:rPr>
                        <a:t>Free-to-paid</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5%</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7%</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9%</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r>
              <a:tr h="210312">
                <a:tc>
                  <a:txBody>
                    <a:bodyPr/>
                    <a:lstStyle/>
                    <a:p>
                      <a:pPr indent="0" marL="0">
                        <a:buNone/>
                      </a:pPr>
                      <a:r>
                        <a:rPr lang="en-US" sz="800" dirty="0">
                          <a:solidFill>
                            <a:srgbClr val="111827"/>
                          </a:solidFill>
                        </a:rPr>
                        <a:t>Logo retention</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72%</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80%</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86%</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75488" y="347472"/>
            <a:ext cx="201168" cy="201168"/>
          </a:xfrm>
          <a:prstGeom prst="rect">
            <a:avLst/>
          </a:prstGeom>
          <a:solidFill>
            <a:srgbClr val="1E5BFF"/>
          </a:solidFill>
          <a:ln w="12700">
            <a:solidFill>
              <a:srgbClr val="1E5BFF"/>
            </a:solidFill>
            <a:prstDash val="solid"/>
          </a:ln>
        </p:spPr>
      </p:sp>
      <p:sp>
        <p:nvSpPr>
          <p:cNvPr id="3" name="Shape 1"/>
          <p:cNvSpPr/>
          <p:nvPr/>
        </p:nvSpPr>
        <p:spPr>
          <a:xfrm>
            <a:off x="713232" y="347472"/>
            <a:ext cx="201168" cy="201168"/>
          </a:xfrm>
          <a:prstGeom prst="rect">
            <a:avLst/>
          </a:prstGeom>
          <a:solidFill>
            <a:srgbClr val="16B8C7"/>
          </a:solidFill>
          <a:ln w="12700">
            <a:solidFill>
              <a:srgbClr val="16B8C7"/>
            </a:solidFill>
            <a:prstDash val="solid"/>
          </a:ln>
        </p:spPr>
      </p:sp>
      <p:sp>
        <p:nvSpPr>
          <p:cNvPr id="4" name="Text 2"/>
          <p:cNvSpPr/>
          <p:nvPr/>
        </p:nvSpPr>
        <p:spPr>
          <a:xfrm>
            <a:off x="987552" y="310896"/>
            <a:ext cx="1097280" cy="228600"/>
          </a:xfrm>
          <a:prstGeom prst="rect">
            <a:avLst/>
          </a:prstGeom>
          <a:noFill/>
          <a:ln/>
        </p:spPr>
        <p:txBody>
          <a:bodyPr wrap="square" lIns="0" tIns="0" rIns="0" bIns="0" rtlCol="0" anchor="ctr"/>
          <a:lstStyle/>
          <a:p>
            <a:pPr indent="0" marL="0">
              <a:buNone/>
            </a:pPr>
            <a:r>
              <a:rPr lang="en-US" sz="1000" b="1" dirty="0">
                <a:solidFill>
                  <a:srgbClr val="111827"/>
                </a:solidFill>
              </a:rPr>
              <a:t>LokoAI</a:t>
            </a:r>
            <a:endParaRPr lang="en-US" sz="1000" dirty="0"/>
          </a:p>
        </p:txBody>
      </p:sp>
      <p:sp>
        <p:nvSpPr>
          <p:cNvPr id="5" name="Text 3"/>
          <p:cNvSpPr/>
          <p:nvPr/>
        </p:nvSpPr>
        <p:spPr>
          <a:xfrm>
            <a:off x="658368" y="713232"/>
            <a:ext cx="2651760" cy="164592"/>
          </a:xfrm>
          <a:prstGeom prst="rect">
            <a:avLst/>
          </a:prstGeom>
          <a:noFill/>
          <a:ln/>
        </p:spPr>
        <p:txBody>
          <a:bodyPr wrap="square" lIns="0" tIns="0" rIns="0" bIns="0" rtlCol="0" anchor="ctr"/>
          <a:lstStyle/>
          <a:p>
            <a:pPr indent="0" marL="0">
              <a:buNone/>
            </a:pPr>
            <a:r>
              <a:rPr lang="en-US" sz="750" b="1" dirty="0">
                <a:solidFill>
                  <a:srgbClr val="1E5BFF"/>
                </a:solidFill>
              </a:rPr>
              <a:t>FINANCIAL PROJECTIONS</a:t>
            </a:r>
            <a:endParaRPr lang="en-US" sz="750" dirty="0"/>
          </a:p>
        </p:txBody>
      </p:sp>
      <p:sp>
        <p:nvSpPr>
          <p:cNvPr id="6" name="Text 4"/>
          <p:cNvSpPr/>
          <p:nvPr/>
        </p:nvSpPr>
        <p:spPr>
          <a:xfrm>
            <a:off x="658368" y="932688"/>
            <a:ext cx="10789920" cy="530352"/>
          </a:xfrm>
          <a:prstGeom prst="rect">
            <a:avLst/>
          </a:prstGeom>
          <a:noFill/>
          <a:ln/>
        </p:spPr>
        <p:txBody>
          <a:bodyPr wrap="square" lIns="0" tIns="0" rIns="0" bIns="0" rtlCol="0" anchor="ctr">
            <a:normAutofit/>
          </a:bodyPr>
          <a:lstStyle/>
          <a:p>
            <a:pPr indent="0" marL="0">
              <a:buNone/>
            </a:pPr>
            <a:r>
              <a:rPr lang="en-US" sz="2500" b="1" dirty="0">
                <a:solidFill>
                  <a:srgbClr val="111827"/>
                </a:solidFill>
                <a:latin typeface="Aptos Display" pitchFamily="34" charset="0"/>
                <a:ea typeface="Aptos Display" pitchFamily="34" charset="-122"/>
                <a:cs typeface="Aptos Display" pitchFamily="34" charset="-120"/>
              </a:rPr>
              <a:t>Financial projections: path to $12.4M ARR by year three</a:t>
            </a:r>
            <a:endParaRPr lang="en-US" sz="2500" dirty="0"/>
          </a:p>
        </p:txBody>
      </p:sp>
      <p:sp>
        <p:nvSpPr>
          <p:cNvPr id="7" name="Shape 5"/>
          <p:cNvSpPr/>
          <p:nvPr/>
        </p:nvSpPr>
        <p:spPr>
          <a:xfrm>
            <a:off x="658368" y="1572768"/>
            <a:ext cx="1143000" cy="0"/>
          </a:xfrm>
          <a:prstGeom prst="line">
            <a:avLst/>
          </a:prstGeom>
          <a:noFill/>
          <a:ln w="25400">
            <a:solidFill>
              <a:srgbClr val="1E5BFF"/>
            </a:solidFill>
            <a:prstDash val="solid"/>
          </a:ln>
        </p:spPr>
      </p:sp>
      <p:sp>
        <p:nvSpPr>
          <p:cNvPr id="8" name="Text 6"/>
          <p:cNvSpPr/>
          <p:nvPr/>
        </p:nvSpPr>
        <p:spPr>
          <a:xfrm>
            <a:off x="475488" y="6473952"/>
            <a:ext cx="2011680" cy="164592"/>
          </a:xfrm>
          <a:prstGeom prst="rect">
            <a:avLst/>
          </a:prstGeom>
          <a:noFill/>
          <a:ln/>
        </p:spPr>
        <p:txBody>
          <a:bodyPr wrap="square" lIns="0" tIns="0" rIns="0" bIns="0" rtlCol="0" anchor="ctr"/>
          <a:lstStyle/>
          <a:p>
            <a:pPr indent="0" marL="0">
              <a:buNone/>
            </a:pPr>
            <a:r>
              <a:rPr lang="en-US" sz="700" dirty="0">
                <a:solidFill>
                  <a:srgbClr val="64748B"/>
                </a:solidFill>
              </a:rPr>
              <a:t>LokoAI confidential</a:t>
            </a:r>
            <a:endParaRPr lang="en-US" sz="700" dirty="0"/>
          </a:p>
        </p:txBody>
      </p:sp>
      <p:sp>
        <p:nvSpPr>
          <p:cNvPr id="9" name="Text 7"/>
          <p:cNvSpPr/>
          <p:nvPr/>
        </p:nvSpPr>
        <p:spPr>
          <a:xfrm>
            <a:off x="11201400" y="6446520"/>
            <a:ext cx="640080" cy="201168"/>
          </a:xfrm>
          <a:prstGeom prst="rect">
            <a:avLst/>
          </a:prstGeom>
          <a:noFill/>
          <a:ln/>
        </p:spPr>
        <p:txBody>
          <a:bodyPr wrap="square" lIns="0" tIns="0" rIns="0" bIns="0" rtlCol="0" anchor="ctr"/>
          <a:lstStyle/>
          <a:p>
            <a:pPr algn="r" indent="0" marL="0">
              <a:buNone/>
            </a:pPr>
            <a:r>
              <a:rPr lang="en-US" sz="800" b="1" dirty="0">
                <a:solidFill>
                  <a:srgbClr val="64748B"/>
                </a:solidFill>
              </a:rPr>
              <a:t>15</a:t>
            </a:r>
            <a:endParaRPr lang="en-US" sz="800" dirty="0"/>
          </a:p>
        </p:txBody>
      </p:sp>
      <p:sp>
        <p:nvSpPr>
          <p:cNvPr id="10" name="Text 8"/>
          <p:cNvSpPr/>
          <p:nvPr/>
        </p:nvSpPr>
        <p:spPr>
          <a:xfrm>
            <a:off x="2743200" y="6446520"/>
            <a:ext cx="6217920" cy="164592"/>
          </a:xfrm>
          <a:prstGeom prst="rect">
            <a:avLst/>
          </a:prstGeom>
          <a:noFill/>
          <a:ln/>
        </p:spPr>
        <p:txBody>
          <a:bodyPr wrap="square" lIns="0" tIns="0" rIns="0" bIns="0" rtlCol="0" anchor="ctr">
            <a:normAutofit/>
          </a:bodyPr>
          <a:lstStyle/>
          <a:p>
            <a:pPr algn="ctr" indent="0" marL="0">
              <a:buNone/>
            </a:pPr>
            <a:r>
              <a:rPr lang="en-US" sz="670" dirty="0">
                <a:solidFill>
                  <a:srgbClr val="7A8494"/>
                </a:solidFill>
              </a:rPr>
              <a:t>Source: Management assumptions; category pricing benchmarks</a:t>
            </a:r>
            <a:endParaRPr lang="en-US" sz="670" dirty="0"/>
          </a:p>
        </p:txBody>
      </p:sp>
      <p:sp>
        <p:nvSpPr>
          <p:cNvPr id="11" name="Shape 9"/>
          <p:cNvSpPr/>
          <p:nvPr/>
        </p:nvSpPr>
        <p:spPr>
          <a:xfrm>
            <a:off x="960120" y="4139619"/>
            <a:ext cx="944880" cy="203781"/>
          </a:xfrm>
          <a:prstGeom prst="rect">
            <a:avLst/>
          </a:prstGeom>
          <a:solidFill>
            <a:srgbClr val="1E5BFF"/>
          </a:solidFill>
          <a:ln w="12700">
            <a:solidFill>
              <a:srgbClr val="1E5BFF"/>
            </a:solidFill>
            <a:prstDash val="solid"/>
          </a:ln>
        </p:spPr>
      </p:sp>
      <p:sp>
        <p:nvSpPr>
          <p:cNvPr id="12" name="Text 10"/>
          <p:cNvSpPr/>
          <p:nvPr/>
        </p:nvSpPr>
        <p:spPr>
          <a:xfrm>
            <a:off x="914400" y="4434840"/>
            <a:ext cx="1127760" cy="164592"/>
          </a:xfrm>
          <a:prstGeom prst="rect">
            <a:avLst/>
          </a:prstGeom>
          <a:noFill/>
          <a:ln/>
        </p:spPr>
        <p:txBody>
          <a:bodyPr wrap="square" lIns="0" tIns="0" rIns="0" bIns="0" rtlCol="0" anchor="ctr"/>
          <a:lstStyle/>
          <a:p>
            <a:pPr algn="ctr" indent="0" marL="0">
              <a:buNone/>
            </a:pPr>
            <a:r>
              <a:rPr lang="en-US" sz="700" dirty="0">
                <a:solidFill>
                  <a:srgbClr val="4B5563"/>
                </a:solidFill>
              </a:rPr>
              <a:t>Y1</a:t>
            </a:r>
            <a:endParaRPr lang="en-US" sz="700" dirty="0"/>
          </a:p>
        </p:txBody>
      </p:sp>
      <p:sp>
        <p:nvSpPr>
          <p:cNvPr id="13" name="Text 11"/>
          <p:cNvSpPr/>
          <p:nvPr/>
        </p:nvSpPr>
        <p:spPr>
          <a:xfrm>
            <a:off x="914400" y="3883587"/>
            <a:ext cx="1127760" cy="164592"/>
          </a:xfrm>
          <a:prstGeom prst="rect">
            <a:avLst/>
          </a:prstGeom>
          <a:noFill/>
          <a:ln/>
        </p:spPr>
        <p:txBody>
          <a:bodyPr wrap="square" lIns="0" tIns="0" rIns="0" bIns="0" rtlCol="0" anchor="ctr"/>
          <a:lstStyle/>
          <a:p>
            <a:pPr algn="ctr" indent="0" marL="0">
              <a:buNone/>
            </a:pPr>
            <a:r>
              <a:rPr lang="en-US" sz="700" b="1" dirty="0">
                <a:solidFill>
                  <a:srgbClr val="111827"/>
                </a:solidFill>
              </a:rPr>
              <a:t>$1.2M</a:t>
            </a:r>
            <a:endParaRPr lang="en-US" sz="700" dirty="0"/>
          </a:p>
        </p:txBody>
      </p:sp>
      <p:sp>
        <p:nvSpPr>
          <p:cNvPr id="14" name="Shape 12"/>
          <p:cNvSpPr/>
          <p:nvPr/>
        </p:nvSpPr>
        <p:spPr>
          <a:xfrm>
            <a:off x="2087880" y="3528278"/>
            <a:ext cx="944880" cy="815122"/>
          </a:xfrm>
          <a:prstGeom prst="rect">
            <a:avLst/>
          </a:prstGeom>
          <a:solidFill>
            <a:srgbClr val="16B8C7"/>
          </a:solidFill>
          <a:ln w="12700">
            <a:solidFill>
              <a:srgbClr val="16B8C7"/>
            </a:solidFill>
            <a:prstDash val="solid"/>
          </a:ln>
        </p:spPr>
      </p:sp>
      <p:sp>
        <p:nvSpPr>
          <p:cNvPr id="15" name="Text 13"/>
          <p:cNvSpPr/>
          <p:nvPr/>
        </p:nvSpPr>
        <p:spPr>
          <a:xfrm>
            <a:off x="2042160" y="4434840"/>
            <a:ext cx="1127760" cy="164592"/>
          </a:xfrm>
          <a:prstGeom prst="rect">
            <a:avLst/>
          </a:prstGeom>
          <a:noFill/>
          <a:ln/>
        </p:spPr>
        <p:txBody>
          <a:bodyPr wrap="square" lIns="0" tIns="0" rIns="0" bIns="0" rtlCol="0" anchor="ctr"/>
          <a:lstStyle/>
          <a:p>
            <a:pPr algn="ctr" indent="0" marL="0">
              <a:buNone/>
            </a:pPr>
            <a:r>
              <a:rPr lang="en-US" sz="700" dirty="0">
                <a:solidFill>
                  <a:srgbClr val="4B5563"/>
                </a:solidFill>
              </a:rPr>
              <a:t>Y2</a:t>
            </a:r>
            <a:endParaRPr lang="en-US" sz="700" dirty="0"/>
          </a:p>
        </p:txBody>
      </p:sp>
      <p:sp>
        <p:nvSpPr>
          <p:cNvPr id="16" name="Text 14"/>
          <p:cNvSpPr/>
          <p:nvPr/>
        </p:nvSpPr>
        <p:spPr>
          <a:xfrm>
            <a:off x="2042160" y="3272246"/>
            <a:ext cx="1127760" cy="164592"/>
          </a:xfrm>
          <a:prstGeom prst="rect">
            <a:avLst/>
          </a:prstGeom>
          <a:noFill/>
          <a:ln/>
        </p:spPr>
        <p:txBody>
          <a:bodyPr wrap="square" lIns="0" tIns="0" rIns="0" bIns="0" rtlCol="0" anchor="ctr"/>
          <a:lstStyle/>
          <a:p>
            <a:pPr algn="ctr" indent="0" marL="0">
              <a:buNone/>
            </a:pPr>
            <a:r>
              <a:rPr lang="en-US" sz="700" b="1" dirty="0">
                <a:solidFill>
                  <a:srgbClr val="111827"/>
                </a:solidFill>
              </a:rPr>
              <a:t>$4.8M</a:t>
            </a:r>
            <a:endParaRPr lang="en-US" sz="700" dirty="0"/>
          </a:p>
        </p:txBody>
      </p:sp>
      <p:sp>
        <p:nvSpPr>
          <p:cNvPr id="17" name="Shape 15"/>
          <p:cNvSpPr/>
          <p:nvPr/>
        </p:nvSpPr>
        <p:spPr>
          <a:xfrm>
            <a:off x="3215640" y="2237667"/>
            <a:ext cx="944880" cy="2105733"/>
          </a:xfrm>
          <a:prstGeom prst="rect">
            <a:avLst/>
          </a:prstGeom>
          <a:solidFill>
            <a:srgbClr val="10A37F"/>
          </a:solidFill>
          <a:ln w="12700">
            <a:solidFill>
              <a:srgbClr val="10A37F"/>
            </a:solidFill>
            <a:prstDash val="solid"/>
          </a:ln>
        </p:spPr>
      </p:sp>
      <p:sp>
        <p:nvSpPr>
          <p:cNvPr id="18" name="Text 16"/>
          <p:cNvSpPr/>
          <p:nvPr/>
        </p:nvSpPr>
        <p:spPr>
          <a:xfrm>
            <a:off x="3169920" y="4434840"/>
            <a:ext cx="1127760" cy="164592"/>
          </a:xfrm>
          <a:prstGeom prst="rect">
            <a:avLst/>
          </a:prstGeom>
          <a:noFill/>
          <a:ln/>
        </p:spPr>
        <p:txBody>
          <a:bodyPr wrap="square" lIns="0" tIns="0" rIns="0" bIns="0" rtlCol="0" anchor="ctr"/>
          <a:lstStyle/>
          <a:p>
            <a:pPr algn="ctr" indent="0" marL="0">
              <a:buNone/>
            </a:pPr>
            <a:r>
              <a:rPr lang="en-US" sz="700" dirty="0">
                <a:solidFill>
                  <a:srgbClr val="4B5563"/>
                </a:solidFill>
              </a:rPr>
              <a:t>Y3</a:t>
            </a:r>
            <a:endParaRPr lang="en-US" sz="700" dirty="0"/>
          </a:p>
        </p:txBody>
      </p:sp>
      <p:sp>
        <p:nvSpPr>
          <p:cNvPr id="19" name="Text 17"/>
          <p:cNvSpPr/>
          <p:nvPr/>
        </p:nvSpPr>
        <p:spPr>
          <a:xfrm>
            <a:off x="3169920" y="1981635"/>
            <a:ext cx="1127760" cy="164592"/>
          </a:xfrm>
          <a:prstGeom prst="rect">
            <a:avLst/>
          </a:prstGeom>
          <a:noFill/>
          <a:ln/>
        </p:spPr>
        <p:txBody>
          <a:bodyPr wrap="square" lIns="0" tIns="0" rIns="0" bIns="0" rtlCol="0" anchor="ctr"/>
          <a:lstStyle/>
          <a:p>
            <a:pPr algn="ctr" indent="0" marL="0">
              <a:buNone/>
            </a:pPr>
            <a:r>
              <a:rPr lang="en-US" sz="700" b="1" dirty="0">
                <a:solidFill>
                  <a:srgbClr val="111827"/>
                </a:solidFill>
              </a:rPr>
              <a:t>$12.4M</a:t>
            </a:r>
            <a:endParaRPr lang="en-US" sz="7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800600" y="1828800"/>
          <a:ext cx="6720840" cy="3017520"/>
        </p:xfrm>
        <a:graphic>
          <a:graphicData uri="http://schemas.openxmlformats.org/drawingml/2006/table">
            <a:tbl>
              <a:tblPr/>
              <a:tblGrid>
                <a:gridCol w="2240280"/>
                <a:gridCol w="1691640"/>
                <a:gridCol w="1691640"/>
                <a:gridCol w="1691640"/>
              </a:tblGrid>
              <a:tr h="431074">
                <a:tc>
                  <a:txBody>
                    <a:bodyPr/>
                    <a:lstStyle/>
                    <a:p>
                      <a:pPr indent="0" marL="0">
                        <a:buNone/>
                      </a:pPr>
                      <a:r>
                        <a:rPr lang="en-US" sz="850" b="1" dirty="0">
                          <a:solidFill>
                            <a:srgbClr val="FFFFFF"/>
                          </a:solidFill>
                        </a:rPr>
                        <a:t>Metric</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Year 1</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Year 2</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Year 3</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r>
              <a:tr h="431074">
                <a:tc>
                  <a:txBody>
                    <a:bodyPr/>
                    <a:lstStyle/>
                    <a:p>
                      <a:pPr indent="0" marL="0">
                        <a:buNone/>
                      </a:pPr>
                      <a:r>
                        <a:rPr lang="en-US" sz="800" dirty="0">
                          <a:solidFill>
                            <a:srgbClr val="111827"/>
                          </a:solidFill>
                        </a:rPr>
                        <a:t>Paid customers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2,100</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8,000</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18,000</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r>
              <a:tr h="431074">
                <a:tc>
                  <a:txBody>
                    <a:bodyPr/>
                    <a:lstStyle/>
                    <a:p>
                      <a:pPr indent="0" marL="0">
                        <a:buNone/>
                      </a:pPr>
                      <a:r>
                        <a:rPr lang="en-US" sz="800" dirty="0">
                          <a:solidFill>
                            <a:srgbClr val="111827"/>
                          </a:solidFill>
                        </a:rPr>
                        <a:t>Team / enterprise logos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25</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115</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340</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r>
              <a:tr h="431074">
                <a:tc>
                  <a:txBody>
                    <a:bodyPr/>
                    <a:lstStyle/>
                    <a:p>
                      <a:pPr indent="0" marL="0">
                        <a:buNone/>
                      </a:pPr>
                      <a:r>
                        <a:rPr lang="en-US" sz="800" dirty="0">
                          <a:solidFill>
                            <a:srgbClr val="111827"/>
                          </a:solidFill>
                        </a:rPr>
                        <a:t>ARR</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$1.2M</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$4.8M</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$12.4M</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r>
              <a:tr h="431074">
                <a:tc>
                  <a:txBody>
                    <a:bodyPr/>
                    <a:lstStyle/>
                    <a:p>
                      <a:pPr indent="0" marL="0">
                        <a:buNone/>
                      </a:pPr>
                      <a:r>
                        <a:rPr lang="en-US" sz="800" dirty="0">
                          <a:solidFill>
                            <a:srgbClr val="111827"/>
                          </a:solidFill>
                        </a:rPr>
                        <a:t>Gross margin</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72%</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79%</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84%</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r>
              <a:tr h="431074">
                <a:tc>
                  <a:txBody>
                    <a:bodyPr/>
                    <a:lstStyle/>
                    <a:p>
                      <a:pPr indent="0" marL="0">
                        <a:buNone/>
                      </a:pPr>
                      <a:r>
                        <a:rPr lang="en-US" sz="800" dirty="0">
                          <a:solidFill>
                            <a:srgbClr val="111827"/>
                          </a:solidFill>
                        </a:rPr>
                        <a:t>Net revenue retention</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98%</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108%</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118%</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r>
              <a:tr h="431074">
                <a:tc>
                  <a:txBody>
                    <a:bodyPr/>
                    <a:lstStyle/>
                    <a:p>
                      <a:pPr indent="0" marL="0">
                        <a:buNone/>
                      </a:pPr>
                      <a:r>
                        <a:rPr lang="en-US" sz="800" dirty="0">
                          <a:solidFill>
                            <a:srgbClr val="111827"/>
                          </a:solidFill>
                        </a:rPr>
                        <a:t>EBITDA margin</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-55%</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-28%</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-6%</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r>
            </a:tbl>
          </a:graphicData>
        </a:graphic>
      </p:graphicFrame>
      <p:sp>
        <p:nvSpPr>
          <p:cNvPr id="21" name="Shape 18"/>
          <p:cNvSpPr/>
          <p:nvPr/>
        </p:nvSpPr>
        <p:spPr>
          <a:xfrm>
            <a:off x="914400" y="5257800"/>
            <a:ext cx="10378440" cy="566928"/>
          </a:xfrm>
          <a:prstGeom prst="rect">
            <a:avLst/>
          </a:prstGeom>
          <a:solidFill>
            <a:srgbClr val="FFFFFF"/>
          </a:solidFill>
          <a:ln w="12700">
            <a:solidFill>
              <a:srgbClr val="D7DEE8">
                <a:alpha val="80000"/>
              </a:srgbClr>
            </a:solidFill>
            <a:prstDash val="solid"/>
          </a:ln>
        </p:spPr>
      </p:sp>
      <p:sp>
        <p:nvSpPr>
          <p:cNvPr id="22" name="Shape 19"/>
          <p:cNvSpPr/>
          <p:nvPr/>
        </p:nvSpPr>
        <p:spPr>
          <a:xfrm>
            <a:off x="914400" y="5257800"/>
            <a:ext cx="73152" cy="566928"/>
          </a:xfrm>
          <a:prstGeom prst="rect">
            <a:avLst/>
          </a:prstGeom>
          <a:solidFill>
            <a:srgbClr val="10A37F"/>
          </a:solidFill>
          <a:ln w="12700">
            <a:solidFill>
              <a:srgbClr val="10A37F"/>
            </a:solidFill>
            <a:prstDash val="solid"/>
          </a:ln>
        </p:spPr>
      </p:sp>
      <p:sp>
        <p:nvSpPr>
          <p:cNvPr id="23" name="Text 20"/>
          <p:cNvSpPr/>
          <p:nvPr/>
        </p:nvSpPr>
        <p:spPr>
          <a:xfrm>
            <a:off x="1143000" y="5422392"/>
            <a:ext cx="10012680" cy="256032"/>
          </a:xfrm>
          <a:prstGeom prst="rect">
            <a:avLst/>
          </a:prstGeom>
          <a:noFill/>
          <a:ln/>
        </p:spPr>
        <p:txBody>
          <a:bodyPr wrap="square" lIns="0" tIns="0" rIns="0" bIns="0" rtlCol="0" anchor="ctr"/>
          <a:lstStyle/>
          <a:p>
            <a:pPr indent="0" marL="0">
              <a:buNone/>
            </a:pPr>
            <a:r>
              <a:rPr lang="en-US" sz="1150" b="1" dirty="0">
                <a:solidFill>
                  <a:srgbClr val="111827"/>
                </a:solidFill>
              </a:rPr>
              <a:t>Model logic</a:t>
            </a:r>
            <a:endParaRPr lang="en-US" sz="1150" dirty="0"/>
          </a:p>
        </p:txBody>
      </p:sp>
      <p:sp>
        <p:nvSpPr>
          <p:cNvPr id="24" name="Text 21"/>
          <p:cNvSpPr/>
          <p:nvPr/>
        </p:nvSpPr>
        <p:spPr>
          <a:xfrm>
            <a:off x="1143000" y="5788152"/>
            <a:ext cx="10012680" cy="-73152"/>
          </a:xfrm>
          <a:prstGeom prst="rect">
            <a:avLst/>
          </a:prstGeom>
          <a:noFill/>
          <a:ln/>
        </p:spPr>
        <p:txBody>
          <a:bodyPr wrap="square" lIns="0" tIns="0" rIns="0" bIns="0" rtlCol="0" anchor="ctr">
            <a:normAutofit/>
          </a:bodyPr>
          <a:lstStyle/>
          <a:p>
            <a:pPr indent="0" marL="0">
              <a:buNone/>
            </a:pPr>
            <a:r>
              <a:rPr lang="en-US" sz="870" dirty="0">
                <a:solidFill>
                  <a:srgbClr val="4B5563"/>
                </a:solidFill>
              </a:rPr>
              <a:t>Revenue scales through creator subscriptions first, then higher-ARPA team workspaces and enterprise governance contracts.</a:t>
            </a:r>
            <a:endParaRPr lang="en-US" sz="87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75488" y="347472"/>
            <a:ext cx="201168" cy="201168"/>
          </a:xfrm>
          <a:prstGeom prst="rect">
            <a:avLst/>
          </a:prstGeom>
          <a:solidFill>
            <a:srgbClr val="1E5BFF"/>
          </a:solidFill>
          <a:ln w="12700">
            <a:solidFill>
              <a:srgbClr val="1E5BFF"/>
            </a:solidFill>
            <a:prstDash val="solid"/>
          </a:ln>
        </p:spPr>
      </p:sp>
      <p:sp>
        <p:nvSpPr>
          <p:cNvPr id="3" name="Shape 1"/>
          <p:cNvSpPr/>
          <p:nvPr/>
        </p:nvSpPr>
        <p:spPr>
          <a:xfrm>
            <a:off x="713232" y="347472"/>
            <a:ext cx="201168" cy="201168"/>
          </a:xfrm>
          <a:prstGeom prst="rect">
            <a:avLst/>
          </a:prstGeom>
          <a:solidFill>
            <a:srgbClr val="16B8C7"/>
          </a:solidFill>
          <a:ln w="12700">
            <a:solidFill>
              <a:srgbClr val="16B8C7"/>
            </a:solidFill>
            <a:prstDash val="solid"/>
          </a:ln>
        </p:spPr>
      </p:sp>
      <p:sp>
        <p:nvSpPr>
          <p:cNvPr id="4" name="Text 2"/>
          <p:cNvSpPr/>
          <p:nvPr/>
        </p:nvSpPr>
        <p:spPr>
          <a:xfrm>
            <a:off x="987552" y="310896"/>
            <a:ext cx="1097280" cy="228600"/>
          </a:xfrm>
          <a:prstGeom prst="rect">
            <a:avLst/>
          </a:prstGeom>
          <a:noFill/>
          <a:ln/>
        </p:spPr>
        <p:txBody>
          <a:bodyPr wrap="square" lIns="0" tIns="0" rIns="0" bIns="0" rtlCol="0" anchor="ctr"/>
          <a:lstStyle/>
          <a:p>
            <a:pPr indent="0" marL="0">
              <a:buNone/>
            </a:pPr>
            <a:r>
              <a:rPr lang="en-US" sz="1000" b="1" dirty="0">
                <a:solidFill>
                  <a:srgbClr val="111827"/>
                </a:solidFill>
              </a:rPr>
              <a:t>LokoAI</a:t>
            </a:r>
            <a:endParaRPr lang="en-US" sz="1000" dirty="0"/>
          </a:p>
        </p:txBody>
      </p:sp>
      <p:sp>
        <p:nvSpPr>
          <p:cNvPr id="5" name="Text 3"/>
          <p:cNvSpPr/>
          <p:nvPr/>
        </p:nvSpPr>
        <p:spPr>
          <a:xfrm>
            <a:off x="658368" y="713232"/>
            <a:ext cx="2651760" cy="164592"/>
          </a:xfrm>
          <a:prstGeom prst="rect">
            <a:avLst/>
          </a:prstGeom>
          <a:noFill/>
          <a:ln/>
        </p:spPr>
        <p:txBody>
          <a:bodyPr wrap="square" lIns="0" tIns="0" rIns="0" bIns="0" rtlCol="0" anchor="ctr"/>
          <a:lstStyle/>
          <a:p>
            <a:pPr indent="0" marL="0">
              <a:buNone/>
            </a:pPr>
            <a:r>
              <a:rPr lang="en-US" sz="750" b="1" dirty="0">
                <a:solidFill>
                  <a:srgbClr val="1E5BFF"/>
                </a:solidFill>
              </a:rPr>
              <a:t>FINANCIAL MODEL</a:t>
            </a:r>
            <a:endParaRPr lang="en-US" sz="750" dirty="0"/>
          </a:p>
        </p:txBody>
      </p:sp>
      <p:sp>
        <p:nvSpPr>
          <p:cNvPr id="6" name="Text 4"/>
          <p:cNvSpPr/>
          <p:nvPr/>
        </p:nvSpPr>
        <p:spPr>
          <a:xfrm>
            <a:off x="658368" y="932688"/>
            <a:ext cx="10789920" cy="530352"/>
          </a:xfrm>
          <a:prstGeom prst="rect">
            <a:avLst/>
          </a:prstGeom>
          <a:noFill/>
          <a:ln/>
        </p:spPr>
        <p:txBody>
          <a:bodyPr wrap="square" lIns="0" tIns="0" rIns="0" bIns="0" rtlCol="0" anchor="ctr">
            <a:normAutofit/>
          </a:bodyPr>
          <a:lstStyle/>
          <a:p>
            <a:pPr indent="0" marL="0">
              <a:buNone/>
            </a:pPr>
            <a:r>
              <a:rPr lang="en-US" sz="2500" b="1" dirty="0">
                <a:solidFill>
                  <a:srgbClr val="111827"/>
                </a:solidFill>
                <a:latin typeface="Aptos Display" pitchFamily="34" charset="0"/>
                <a:ea typeface="Aptos Display" pitchFamily="34" charset="-122"/>
                <a:cs typeface="Aptos Display" pitchFamily="34" charset="-120"/>
              </a:rPr>
              <a:t>Unit economics: usage-aware pricing protects margin while retaining product-led growth</a:t>
            </a:r>
            <a:endParaRPr lang="en-US" sz="2500" dirty="0"/>
          </a:p>
        </p:txBody>
      </p:sp>
      <p:sp>
        <p:nvSpPr>
          <p:cNvPr id="7" name="Shape 5"/>
          <p:cNvSpPr/>
          <p:nvPr/>
        </p:nvSpPr>
        <p:spPr>
          <a:xfrm>
            <a:off x="658368" y="1572768"/>
            <a:ext cx="1143000" cy="0"/>
          </a:xfrm>
          <a:prstGeom prst="line">
            <a:avLst/>
          </a:prstGeom>
          <a:noFill/>
          <a:ln w="25400">
            <a:solidFill>
              <a:srgbClr val="1E5BFF"/>
            </a:solidFill>
            <a:prstDash val="solid"/>
          </a:ln>
        </p:spPr>
      </p:sp>
      <p:sp>
        <p:nvSpPr>
          <p:cNvPr id="8" name="Text 6"/>
          <p:cNvSpPr/>
          <p:nvPr/>
        </p:nvSpPr>
        <p:spPr>
          <a:xfrm>
            <a:off x="475488" y="6473952"/>
            <a:ext cx="2011680" cy="164592"/>
          </a:xfrm>
          <a:prstGeom prst="rect">
            <a:avLst/>
          </a:prstGeom>
          <a:noFill/>
          <a:ln/>
        </p:spPr>
        <p:txBody>
          <a:bodyPr wrap="square" lIns="0" tIns="0" rIns="0" bIns="0" rtlCol="0" anchor="ctr"/>
          <a:lstStyle/>
          <a:p>
            <a:pPr indent="0" marL="0">
              <a:buNone/>
            </a:pPr>
            <a:r>
              <a:rPr lang="en-US" sz="700" dirty="0">
                <a:solidFill>
                  <a:srgbClr val="64748B"/>
                </a:solidFill>
              </a:rPr>
              <a:t>LokoAI confidential</a:t>
            </a:r>
            <a:endParaRPr lang="en-US" sz="700" dirty="0"/>
          </a:p>
        </p:txBody>
      </p:sp>
      <p:sp>
        <p:nvSpPr>
          <p:cNvPr id="9" name="Text 7"/>
          <p:cNvSpPr/>
          <p:nvPr/>
        </p:nvSpPr>
        <p:spPr>
          <a:xfrm>
            <a:off x="11201400" y="6446520"/>
            <a:ext cx="640080" cy="201168"/>
          </a:xfrm>
          <a:prstGeom prst="rect">
            <a:avLst/>
          </a:prstGeom>
          <a:noFill/>
          <a:ln/>
        </p:spPr>
        <p:txBody>
          <a:bodyPr wrap="square" lIns="0" tIns="0" rIns="0" bIns="0" rtlCol="0" anchor="ctr"/>
          <a:lstStyle/>
          <a:p>
            <a:pPr algn="r" indent="0" marL="0">
              <a:buNone/>
            </a:pPr>
            <a:r>
              <a:rPr lang="en-US" sz="800" b="1" dirty="0">
                <a:solidFill>
                  <a:srgbClr val="64748B"/>
                </a:solidFill>
              </a:rPr>
              <a:t>16</a:t>
            </a:r>
            <a:endParaRPr lang="en-US" sz="800" dirty="0"/>
          </a:p>
        </p:txBody>
      </p:sp>
      <p:sp>
        <p:nvSpPr>
          <p:cNvPr id="10" name="Text 8"/>
          <p:cNvSpPr/>
          <p:nvPr/>
        </p:nvSpPr>
        <p:spPr>
          <a:xfrm>
            <a:off x="2743200" y="6446520"/>
            <a:ext cx="6217920" cy="164592"/>
          </a:xfrm>
          <a:prstGeom prst="rect">
            <a:avLst/>
          </a:prstGeom>
          <a:noFill/>
          <a:ln/>
        </p:spPr>
        <p:txBody>
          <a:bodyPr wrap="square" lIns="0" tIns="0" rIns="0" bIns="0" rtlCol="0" anchor="ctr">
            <a:normAutofit/>
          </a:bodyPr>
          <a:lstStyle/>
          <a:p>
            <a:pPr algn="ctr" indent="0" marL="0">
              <a:buNone/>
            </a:pPr>
            <a:r>
              <a:rPr lang="en-US" sz="670" dirty="0">
                <a:solidFill>
                  <a:srgbClr val="7A8494"/>
                </a:solidFill>
              </a:rPr>
              <a:t>Source: Management assumptions</a:t>
            </a:r>
            <a:endParaRPr lang="en-US" sz="670" dirty="0"/>
          </a:p>
        </p:txBody>
      </p:sp>
      <p:sp>
        <p:nvSpPr>
          <p:cNvPr id="11" name="Shape 9"/>
          <p:cNvSpPr/>
          <p:nvPr/>
        </p:nvSpPr>
        <p:spPr>
          <a:xfrm>
            <a:off x="804672" y="1828800"/>
            <a:ext cx="2240280" cy="1143000"/>
          </a:xfrm>
          <a:prstGeom prst="rect">
            <a:avLst/>
          </a:prstGeom>
          <a:solidFill>
            <a:srgbClr val="FFFFFF"/>
          </a:solidFill>
          <a:ln w="12700">
            <a:solidFill>
              <a:srgbClr val="D7DEE8">
                <a:alpha val="80000"/>
              </a:srgbClr>
            </a:solidFill>
            <a:prstDash val="solid"/>
          </a:ln>
        </p:spPr>
      </p:sp>
      <p:sp>
        <p:nvSpPr>
          <p:cNvPr id="12" name="Text 10"/>
          <p:cNvSpPr/>
          <p:nvPr/>
        </p:nvSpPr>
        <p:spPr>
          <a:xfrm>
            <a:off x="1005840" y="2029968"/>
            <a:ext cx="1837944" cy="475488"/>
          </a:xfrm>
          <a:prstGeom prst="rect">
            <a:avLst/>
          </a:prstGeom>
          <a:noFill/>
          <a:ln/>
        </p:spPr>
        <p:txBody>
          <a:bodyPr wrap="square" lIns="0" tIns="0" rIns="0" bIns="0" rtlCol="0" anchor="ctr">
            <a:normAutofit/>
          </a:bodyPr>
          <a:lstStyle/>
          <a:p>
            <a:pPr indent="0" marL="0">
              <a:buNone/>
            </a:pPr>
            <a:r>
              <a:rPr lang="en-US" sz="2600" b="1" dirty="0">
                <a:solidFill>
                  <a:srgbClr val="1E5BFF"/>
                </a:solidFill>
              </a:rPr>
              <a:t>$42</a:t>
            </a:r>
            <a:endParaRPr lang="en-US" sz="2600" dirty="0"/>
          </a:p>
        </p:txBody>
      </p:sp>
      <p:sp>
        <p:nvSpPr>
          <p:cNvPr id="13" name="Text 11"/>
          <p:cNvSpPr/>
          <p:nvPr/>
        </p:nvSpPr>
        <p:spPr>
          <a:xfrm>
            <a:off x="1005840" y="2651760"/>
            <a:ext cx="1837944" cy="228600"/>
          </a:xfrm>
          <a:prstGeom prst="rect">
            <a:avLst/>
          </a:prstGeom>
          <a:noFill/>
          <a:ln/>
        </p:spPr>
        <p:txBody>
          <a:bodyPr wrap="square" lIns="0" tIns="0" rIns="0" bIns="0" rtlCol="0" anchor="ctr">
            <a:normAutofit/>
          </a:bodyPr>
          <a:lstStyle/>
          <a:p>
            <a:pPr indent="0" marL="0">
              <a:buNone/>
            </a:pPr>
            <a:r>
              <a:rPr lang="en-US" sz="1050" dirty="0">
                <a:solidFill>
                  <a:srgbClr val="4B5563"/>
                </a:solidFill>
              </a:rPr>
              <a:t>Blended monthly ARPA target by year three</a:t>
            </a:r>
            <a:endParaRPr lang="en-US" sz="1050" dirty="0"/>
          </a:p>
        </p:txBody>
      </p:sp>
      <p:sp>
        <p:nvSpPr>
          <p:cNvPr id="14" name="Shape 12"/>
          <p:cNvSpPr/>
          <p:nvPr/>
        </p:nvSpPr>
        <p:spPr>
          <a:xfrm>
            <a:off x="3310128" y="1828800"/>
            <a:ext cx="2240280" cy="1143000"/>
          </a:xfrm>
          <a:prstGeom prst="rect">
            <a:avLst/>
          </a:prstGeom>
          <a:solidFill>
            <a:srgbClr val="FFFFFF"/>
          </a:solidFill>
          <a:ln w="12700">
            <a:solidFill>
              <a:srgbClr val="D7DEE8">
                <a:alpha val="80000"/>
              </a:srgbClr>
            </a:solidFill>
            <a:prstDash val="solid"/>
          </a:ln>
        </p:spPr>
      </p:sp>
      <p:sp>
        <p:nvSpPr>
          <p:cNvPr id="15" name="Text 13"/>
          <p:cNvSpPr/>
          <p:nvPr/>
        </p:nvSpPr>
        <p:spPr>
          <a:xfrm>
            <a:off x="3511296" y="2029968"/>
            <a:ext cx="1837944" cy="475488"/>
          </a:xfrm>
          <a:prstGeom prst="rect">
            <a:avLst/>
          </a:prstGeom>
          <a:noFill/>
          <a:ln/>
        </p:spPr>
        <p:txBody>
          <a:bodyPr wrap="square" lIns="0" tIns="0" rIns="0" bIns="0" rtlCol="0" anchor="ctr">
            <a:normAutofit/>
          </a:bodyPr>
          <a:lstStyle/>
          <a:p>
            <a:pPr indent="0" marL="0">
              <a:buNone/>
            </a:pPr>
            <a:r>
              <a:rPr lang="en-US" sz="2600" b="1" dirty="0">
                <a:solidFill>
                  <a:srgbClr val="10A37F"/>
                </a:solidFill>
              </a:rPr>
              <a:t>84%</a:t>
            </a:r>
            <a:endParaRPr lang="en-US" sz="2600" dirty="0"/>
          </a:p>
        </p:txBody>
      </p:sp>
      <p:sp>
        <p:nvSpPr>
          <p:cNvPr id="16" name="Text 14"/>
          <p:cNvSpPr/>
          <p:nvPr/>
        </p:nvSpPr>
        <p:spPr>
          <a:xfrm>
            <a:off x="3511296" y="2651760"/>
            <a:ext cx="1837944" cy="228600"/>
          </a:xfrm>
          <a:prstGeom prst="rect">
            <a:avLst/>
          </a:prstGeom>
          <a:noFill/>
          <a:ln/>
        </p:spPr>
        <p:txBody>
          <a:bodyPr wrap="square" lIns="0" tIns="0" rIns="0" bIns="0" rtlCol="0" anchor="ctr">
            <a:normAutofit/>
          </a:bodyPr>
          <a:lstStyle/>
          <a:p>
            <a:pPr indent="0" marL="0">
              <a:buNone/>
            </a:pPr>
            <a:r>
              <a:rPr lang="en-US" sz="1050" dirty="0">
                <a:solidFill>
                  <a:srgbClr val="4B5563"/>
                </a:solidFill>
              </a:rPr>
              <a:t>Target gross margin after model routing optimization</a:t>
            </a:r>
            <a:endParaRPr lang="en-US" sz="1050" dirty="0"/>
          </a:p>
        </p:txBody>
      </p:sp>
      <p:sp>
        <p:nvSpPr>
          <p:cNvPr id="17" name="Shape 15"/>
          <p:cNvSpPr/>
          <p:nvPr/>
        </p:nvSpPr>
        <p:spPr>
          <a:xfrm>
            <a:off x="5815584" y="1828800"/>
            <a:ext cx="2240280" cy="1143000"/>
          </a:xfrm>
          <a:prstGeom prst="rect">
            <a:avLst/>
          </a:prstGeom>
          <a:solidFill>
            <a:srgbClr val="FFFFFF"/>
          </a:solidFill>
          <a:ln w="12700">
            <a:solidFill>
              <a:srgbClr val="D7DEE8">
                <a:alpha val="80000"/>
              </a:srgbClr>
            </a:solidFill>
            <a:prstDash val="solid"/>
          </a:ln>
        </p:spPr>
      </p:sp>
      <p:sp>
        <p:nvSpPr>
          <p:cNvPr id="18" name="Text 16"/>
          <p:cNvSpPr/>
          <p:nvPr/>
        </p:nvSpPr>
        <p:spPr>
          <a:xfrm>
            <a:off x="6016752" y="2029968"/>
            <a:ext cx="1837944" cy="475488"/>
          </a:xfrm>
          <a:prstGeom prst="rect">
            <a:avLst/>
          </a:prstGeom>
          <a:noFill/>
          <a:ln/>
        </p:spPr>
        <p:txBody>
          <a:bodyPr wrap="square" lIns="0" tIns="0" rIns="0" bIns="0" rtlCol="0" anchor="ctr">
            <a:normAutofit/>
          </a:bodyPr>
          <a:lstStyle/>
          <a:p>
            <a:pPr indent="0" marL="0">
              <a:buNone/>
            </a:pPr>
            <a:r>
              <a:rPr lang="en-US" sz="2600" b="1" dirty="0">
                <a:solidFill>
                  <a:srgbClr val="16B8C7"/>
                </a:solidFill>
              </a:rPr>
              <a:t>&lt;6 mo</a:t>
            </a:r>
            <a:endParaRPr lang="en-US" sz="2600" dirty="0"/>
          </a:p>
        </p:txBody>
      </p:sp>
      <p:sp>
        <p:nvSpPr>
          <p:cNvPr id="19" name="Text 17"/>
          <p:cNvSpPr/>
          <p:nvPr/>
        </p:nvSpPr>
        <p:spPr>
          <a:xfrm>
            <a:off x="6016752" y="2651760"/>
            <a:ext cx="1837944" cy="228600"/>
          </a:xfrm>
          <a:prstGeom prst="rect">
            <a:avLst/>
          </a:prstGeom>
          <a:noFill/>
          <a:ln/>
        </p:spPr>
        <p:txBody>
          <a:bodyPr wrap="square" lIns="0" tIns="0" rIns="0" bIns="0" rtlCol="0" anchor="ctr">
            <a:normAutofit/>
          </a:bodyPr>
          <a:lstStyle/>
          <a:p>
            <a:pPr indent="0" marL="0">
              <a:buNone/>
            </a:pPr>
            <a:r>
              <a:rPr lang="en-US" sz="1050" dirty="0">
                <a:solidFill>
                  <a:srgbClr val="4B5563"/>
                </a:solidFill>
              </a:rPr>
              <a:t>Self-serve CAC payback target</a:t>
            </a:r>
            <a:endParaRPr lang="en-US" sz="1050" dirty="0"/>
          </a:p>
        </p:txBody>
      </p:sp>
      <p:sp>
        <p:nvSpPr>
          <p:cNvPr id="20" name="Shape 18"/>
          <p:cNvSpPr/>
          <p:nvPr/>
        </p:nvSpPr>
        <p:spPr>
          <a:xfrm>
            <a:off x="8321040" y="1828800"/>
            <a:ext cx="2240280" cy="1143000"/>
          </a:xfrm>
          <a:prstGeom prst="rect">
            <a:avLst/>
          </a:prstGeom>
          <a:solidFill>
            <a:srgbClr val="FFFFFF"/>
          </a:solidFill>
          <a:ln w="12700">
            <a:solidFill>
              <a:srgbClr val="D7DEE8">
                <a:alpha val="80000"/>
              </a:srgbClr>
            </a:solidFill>
            <a:prstDash val="solid"/>
          </a:ln>
        </p:spPr>
      </p:sp>
      <p:sp>
        <p:nvSpPr>
          <p:cNvPr id="21" name="Text 19"/>
          <p:cNvSpPr/>
          <p:nvPr/>
        </p:nvSpPr>
        <p:spPr>
          <a:xfrm>
            <a:off x="8522208" y="2029968"/>
            <a:ext cx="1837944" cy="475488"/>
          </a:xfrm>
          <a:prstGeom prst="rect">
            <a:avLst/>
          </a:prstGeom>
          <a:noFill/>
          <a:ln/>
        </p:spPr>
        <p:txBody>
          <a:bodyPr wrap="square" lIns="0" tIns="0" rIns="0" bIns="0" rtlCol="0" anchor="ctr">
            <a:normAutofit/>
          </a:bodyPr>
          <a:lstStyle/>
          <a:p>
            <a:pPr indent="0" marL="0">
              <a:buNone/>
            </a:pPr>
            <a:r>
              <a:rPr lang="en-US" sz="2600" b="1" dirty="0">
                <a:solidFill>
                  <a:srgbClr val="F59E0B"/>
                </a:solidFill>
              </a:rPr>
              <a:t>118%</a:t>
            </a:r>
            <a:endParaRPr lang="en-US" sz="2600" dirty="0"/>
          </a:p>
        </p:txBody>
      </p:sp>
      <p:sp>
        <p:nvSpPr>
          <p:cNvPr id="22" name="Text 20"/>
          <p:cNvSpPr/>
          <p:nvPr/>
        </p:nvSpPr>
        <p:spPr>
          <a:xfrm>
            <a:off x="8522208" y="2651760"/>
            <a:ext cx="1837944" cy="228600"/>
          </a:xfrm>
          <a:prstGeom prst="rect">
            <a:avLst/>
          </a:prstGeom>
          <a:noFill/>
          <a:ln/>
        </p:spPr>
        <p:txBody>
          <a:bodyPr wrap="square" lIns="0" tIns="0" rIns="0" bIns="0" rtlCol="0" anchor="ctr">
            <a:normAutofit/>
          </a:bodyPr>
          <a:lstStyle/>
          <a:p>
            <a:pPr indent="0" marL="0">
              <a:buNone/>
            </a:pPr>
            <a:r>
              <a:rPr lang="en-US" sz="1050" dirty="0">
                <a:solidFill>
                  <a:srgbClr val="4B5563"/>
                </a:solidFill>
              </a:rPr>
              <a:t>Net revenue retention target</a:t>
            </a:r>
            <a:endParaRPr lang="en-US" sz="10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914400" y="3749040"/>
          <a:ext cx="10058400" cy="1600200"/>
        </p:xfrm>
        <a:graphic>
          <a:graphicData uri="http://schemas.openxmlformats.org/drawingml/2006/table">
            <a:tbl>
              <a:tblPr/>
              <a:tblGrid>
                <a:gridCol w="1508760"/>
                <a:gridCol w="6675120"/>
                <a:gridCol w="1874520"/>
              </a:tblGrid>
              <a:tr h="320040">
                <a:tc>
                  <a:txBody>
                    <a:bodyPr/>
                    <a:lstStyle/>
                    <a:p>
                      <a:pPr indent="0" marL="0">
                        <a:buNone/>
                      </a:pPr>
                      <a:r>
                        <a:rPr lang="en-US" sz="850" b="1" dirty="0">
                          <a:solidFill>
                            <a:srgbClr val="FFFFFF"/>
                          </a:solidFill>
                        </a:rPr>
                        <a:t>Lever</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How LokoAI improves economics</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Impact</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r>
              <a:tr h="320040">
                <a:tc>
                  <a:txBody>
                    <a:bodyPr/>
                    <a:lstStyle/>
                    <a:p>
                      <a:pPr indent="0" marL="0">
                        <a:buNone/>
                      </a:pPr>
                      <a:r>
                        <a:rPr lang="en-US" sz="800" dirty="0">
                          <a:solidFill>
                            <a:srgbClr val="111827"/>
                          </a:solidFill>
                        </a:rPr>
                        <a:t>Model routing</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Route simple tasks to lower-cost models; reserve frontier models for high-value work.</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Lower COGS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r>
              <a:tr h="320040">
                <a:tc>
                  <a:txBody>
                    <a:bodyPr/>
                    <a:lstStyle/>
                    <a:p>
                      <a:pPr indent="0" marL="0">
                        <a:buNone/>
                      </a:pPr>
                      <a:r>
                        <a:rPr lang="en-US" sz="800" dirty="0">
                          <a:solidFill>
                            <a:srgbClr val="111827"/>
                          </a:solidFill>
                        </a:rPr>
                        <a:t>Usage credits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Convert heavy compute into paid consumption instead of unlimited subscription leakage.</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Margin control</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r>
              <a:tr h="320040">
                <a:tc>
                  <a:txBody>
                    <a:bodyPr/>
                    <a:lstStyle/>
                    <a:p>
                      <a:pPr indent="0" marL="0">
                        <a:buNone/>
                      </a:pPr>
                      <a:r>
                        <a:rPr lang="en-US" sz="800" dirty="0">
                          <a:solidFill>
                            <a:srgbClr val="111827"/>
                          </a:solidFill>
                        </a:rPr>
                        <a:t>Templates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Reusable workflows reduce generation loops and shorten time to value.</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Higher activation</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r>
              <a:tr h="320040">
                <a:tc>
                  <a:txBody>
                    <a:bodyPr/>
                    <a:lstStyle/>
                    <a:p>
                      <a:pPr indent="0" marL="0">
                        <a:buNone/>
                      </a:pPr>
                      <a:r>
                        <a:rPr lang="en-US" sz="800" dirty="0">
                          <a:solidFill>
                            <a:srgbClr val="111827"/>
                          </a:solidFill>
                        </a:rPr>
                        <a:t>Teams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Collaboration, review, and governance increase seats and retention.</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Expansion</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75488" y="347472"/>
            <a:ext cx="201168" cy="201168"/>
          </a:xfrm>
          <a:prstGeom prst="rect">
            <a:avLst/>
          </a:prstGeom>
          <a:solidFill>
            <a:srgbClr val="1E5BFF"/>
          </a:solidFill>
          <a:ln w="12700">
            <a:solidFill>
              <a:srgbClr val="1E5BFF"/>
            </a:solidFill>
            <a:prstDash val="solid"/>
          </a:ln>
        </p:spPr>
      </p:sp>
      <p:sp>
        <p:nvSpPr>
          <p:cNvPr id="3" name="Shape 1"/>
          <p:cNvSpPr/>
          <p:nvPr/>
        </p:nvSpPr>
        <p:spPr>
          <a:xfrm>
            <a:off x="713232" y="347472"/>
            <a:ext cx="201168" cy="201168"/>
          </a:xfrm>
          <a:prstGeom prst="rect">
            <a:avLst/>
          </a:prstGeom>
          <a:solidFill>
            <a:srgbClr val="16B8C7"/>
          </a:solidFill>
          <a:ln w="12700">
            <a:solidFill>
              <a:srgbClr val="16B8C7"/>
            </a:solidFill>
            <a:prstDash val="solid"/>
          </a:ln>
        </p:spPr>
      </p:sp>
      <p:sp>
        <p:nvSpPr>
          <p:cNvPr id="4" name="Text 2"/>
          <p:cNvSpPr/>
          <p:nvPr/>
        </p:nvSpPr>
        <p:spPr>
          <a:xfrm>
            <a:off x="987552" y="310896"/>
            <a:ext cx="1097280" cy="228600"/>
          </a:xfrm>
          <a:prstGeom prst="rect">
            <a:avLst/>
          </a:prstGeom>
          <a:noFill/>
          <a:ln/>
        </p:spPr>
        <p:txBody>
          <a:bodyPr wrap="square" lIns="0" tIns="0" rIns="0" bIns="0" rtlCol="0" anchor="ctr"/>
          <a:lstStyle/>
          <a:p>
            <a:pPr indent="0" marL="0">
              <a:buNone/>
            </a:pPr>
            <a:r>
              <a:rPr lang="en-US" sz="1000" b="1" dirty="0">
                <a:solidFill>
                  <a:srgbClr val="111827"/>
                </a:solidFill>
              </a:rPr>
              <a:t>LokoAI</a:t>
            </a:r>
            <a:endParaRPr lang="en-US" sz="1000" dirty="0"/>
          </a:p>
        </p:txBody>
      </p:sp>
      <p:sp>
        <p:nvSpPr>
          <p:cNvPr id="5" name="Text 3"/>
          <p:cNvSpPr/>
          <p:nvPr/>
        </p:nvSpPr>
        <p:spPr>
          <a:xfrm>
            <a:off x="658368" y="713232"/>
            <a:ext cx="2651760" cy="164592"/>
          </a:xfrm>
          <a:prstGeom prst="rect">
            <a:avLst/>
          </a:prstGeom>
          <a:noFill/>
          <a:ln/>
        </p:spPr>
        <p:txBody>
          <a:bodyPr wrap="square" lIns="0" tIns="0" rIns="0" bIns="0" rtlCol="0" anchor="ctr"/>
          <a:lstStyle/>
          <a:p>
            <a:pPr indent="0" marL="0">
              <a:buNone/>
            </a:pPr>
            <a:r>
              <a:rPr lang="en-US" sz="750" b="1" dirty="0">
                <a:solidFill>
                  <a:srgbClr val="1E5BFF"/>
                </a:solidFill>
              </a:rPr>
              <a:t>SWOT</a:t>
            </a:r>
            <a:endParaRPr lang="en-US" sz="750" dirty="0"/>
          </a:p>
        </p:txBody>
      </p:sp>
      <p:sp>
        <p:nvSpPr>
          <p:cNvPr id="6" name="Text 4"/>
          <p:cNvSpPr/>
          <p:nvPr/>
        </p:nvSpPr>
        <p:spPr>
          <a:xfrm>
            <a:off x="658368" y="932688"/>
            <a:ext cx="10789920" cy="530352"/>
          </a:xfrm>
          <a:prstGeom prst="rect">
            <a:avLst/>
          </a:prstGeom>
          <a:noFill/>
          <a:ln/>
        </p:spPr>
        <p:txBody>
          <a:bodyPr wrap="square" lIns="0" tIns="0" rIns="0" bIns="0" rtlCol="0" anchor="ctr">
            <a:normAutofit/>
          </a:bodyPr>
          <a:lstStyle/>
          <a:p>
            <a:pPr indent="0" marL="0">
              <a:buNone/>
            </a:pPr>
            <a:r>
              <a:rPr lang="en-US" sz="2500" b="1" dirty="0">
                <a:solidFill>
                  <a:srgbClr val="111827"/>
                </a:solidFill>
                <a:latin typeface="Aptos Display" pitchFamily="34" charset="0"/>
                <a:ea typeface="Aptos Display" pitchFamily="34" charset="-122"/>
                <a:cs typeface="Aptos Display" pitchFamily="34" charset="-120"/>
              </a:rPr>
              <a:t>SWOT analysis: strong timing and product breadth, with execution risk to manage</a:t>
            </a:r>
            <a:endParaRPr lang="en-US" sz="2500" dirty="0"/>
          </a:p>
        </p:txBody>
      </p:sp>
      <p:sp>
        <p:nvSpPr>
          <p:cNvPr id="7" name="Shape 5"/>
          <p:cNvSpPr/>
          <p:nvPr/>
        </p:nvSpPr>
        <p:spPr>
          <a:xfrm>
            <a:off x="658368" y="1572768"/>
            <a:ext cx="1143000" cy="0"/>
          </a:xfrm>
          <a:prstGeom prst="line">
            <a:avLst/>
          </a:prstGeom>
          <a:noFill/>
          <a:ln w="25400">
            <a:solidFill>
              <a:srgbClr val="1E5BFF"/>
            </a:solidFill>
            <a:prstDash val="solid"/>
          </a:ln>
        </p:spPr>
      </p:sp>
      <p:sp>
        <p:nvSpPr>
          <p:cNvPr id="8" name="Text 6"/>
          <p:cNvSpPr/>
          <p:nvPr/>
        </p:nvSpPr>
        <p:spPr>
          <a:xfrm>
            <a:off x="475488" y="6473952"/>
            <a:ext cx="2011680" cy="164592"/>
          </a:xfrm>
          <a:prstGeom prst="rect">
            <a:avLst/>
          </a:prstGeom>
          <a:noFill/>
          <a:ln/>
        </p:spPr>
        <p:txBody>
          <a:bodyPr wrap="square" lIns="0" tIns="0" rIns="0" bIns="0" rtlCol="0" anchor="ctr"/>
          <a:lstStyle/>
          <a:p>
            <a:pPr indent="0" marL="0">
              <a:buNone/>
            </a:pPr>
            <a:r>
              <a:rPr lang="en-US" sz="700" dirty="0">
                <a:solidFill>
                  <a:srgbClr val="64748B"/>
                </a:solidFill>
              </a:rPr>
              <a:t>LokoAI confidential</a:t>
            </a:r>
            <a:endParaRPr lang="en-US" sz="700" dirty="0"/>
          </a:p>
        </p:txBody>
      </p:sp>
      <p:sp>
        <p:nvSpPr>
          <p:cNvPr id="9" name="Text 7"/>
          <p:cNvSpPr/>
          <p:nvPr/>
        </p:nvSpPr>
        <p:spPr>
          <a:xfrm>
            <a:off x="11201400" y="6446520"/>
            <a:ext cx="640080" cy="201168"/>
          </a:xfrm>
          <a:prstGeom prst="rect">
            <a:avLst/>
          </a:prstGeom>
          <a:noFill/>
          <a:ln/>
        </p:spPr>
        <p:txBody>
          <a:bodyPr wrap="square" lIns="0" tIns="0" rIns="0" bIns="0" rtlCol="0" anchor="ctr"/>
          <a:lstStyle/>
          <a:p>
            <a:pPr algn="r" indent="0" marL="0">
              <a:buNone/>
            </a:pPr>
            <a:r>
              <a:rPr lang="en-US" sz="800" b="1" dirty="0">
                <a:solidFill>
                  <a:srgbClr val="64748B"/>
                </a:solidFill>
              </a:rPr>
              <a:t>17</a:t>
            </a:r>
            <a:endParaRPr lang="en-US" sz="800" dirty="0"/>
          </a:p>
        </p:txBody>
      </p:sp>
      <p:sp>
        <p:nvSpPr>
          <p:cNvPr id="10" name="Text 8"/>
          <p:cNvSpPr/>
          <p:nvPr/>
        </p:nvSpPr>
        <p:spPr>
          <a:xfrm>
            <a:off x="2743200" y="6446520"/>
            <a:ext cx="6217920" cy="164592"/>
          </a:xfrm>
          <a:prstGeom prst="rect">
            <a:avLst/>
          </a:prstGeom>
          <a:noFill/>
          <a:ln/>
        </p:spPr>
        <p:txBody>
          <a:bodyPr wrap="square" lIns="0" tIns="0" rIns="0" bIns="0" rtlCol="0" anchor="ctr">
            <a:normAutofit/>
          </a:bodyPr>
          <a:lstStyle/>
          <a:p>
            <a:pPr algn="ctr" indent="0" marL="0">
              <a:buNone/>
            </a:pPr>
            <a:r>
              <a:rPr lang="en-US" sz="670" dirty="0">
                <a:solidFill>
                  <a:srgbClr val="7A8494"/>
                </a:solidFill>
              </a:rPr>
              <a:t>Source: Strategic analysis</a:t>
            </a:r>
            <a:endParaRPr lang="en-US" sz="670" dirty="0"/>
          </a:p>
        </p:txBody>
      </p:sp>
      <p:sp>
        <p:nvSpPr>
          <p:cNvPr id="11" name="Shape 9"/>
          <p:cNvSpPr/>
          <p:nvPr/>
        </p:nvSpPr>
        <p:spPr>
          <a:xfrm>
            <a:off x="777240" y="1828800"/>
            <a:ext cx="5166360" cy="1234440"/>
          </a:xfrm>
          <a:prstGeom prst="rect">
            <a:avLst/>
          </a:prstGeom>
          <a:solidFill>
            <a:srgbClr val="FFFFFF"/>
          </a:solidFill>
          <a:ln w="12700">
            <a:solidFill>
              <a:srgbClr val="D7DEE8">
                <a:alpha val="80000"/>
              </a:srgbClr>
            </a:solidFill>
            <a:prstDash val="solid"/>
          </a:ln>
        </p:spPr>
      </p:sp>
      <p:sp>
        <p:nvSpPr>
          <p:cNvPr id="12" name="Shape 10"/>
          <p:cNvSpPr/>
          <p:nvPr/>
        </p:nvSpPr>
        <p:spPr>
          <a:xfrm>
            <a:off x="777240" y="1828800"/>
            <a:ext cx="73152" cy="1234440"/>
          </a:xfrm>
          <a:prstGeom prst="rect">
            <a:avLst/>
          </a:prstGeom>
          <a:solidFill>
            <a:srgbClr val="10A37F"/>
          </a:solidFill>
          <a:ln w="12700">
            <a:solidFill>
              <a:srgbClr val="10A37F"/>
            </a:solidFill>
            <a:prstDash val="solid"/>
          </a:ln>
        </p:spPr>
      </p:sp>
      <p:sp>
        <p:nvSpPr>
          <p:cNvPr id="13" name="Text 11"/>
          <p:cNvSpPr/>
          <p:nvPr/>
        </p:nvSpPr>
        <p:spPr>
          <a:xfrm>
            <a:off x="1005840" y="1993392"/>
            <a:ext cx="4800600" cy="256032"/>
          </a:xfrm>
          <a:prstGeom prst="rect">
            <a:avLst/>
          </a:prstGeom>
          <a:noFill/>
          <a:ln/>
        </p:spPr>
        <p:txBody>
          <a:bodyPr wrap="square" lIns="0" tIns="0" rIns="0" bIns="0" rtlCol="0" anchor="ctr"/>
          <a:lstStyle/>
          <a:p>
            <a:pPr indent="0" marL="0">
              <a:buNone/>
            </a:pPr>
            <a:r>
              <a:rPr lang="en-US" sz="1150" b="1" dirty="0">
                <a:solidFill>
                  <a:srgbClr val="111827"/>
                </a:solidFill>
              </a:rPr>
              <a:t>Strengths</a:t>
            </a:r>
            <a:endParaRPr lang="en-US" sz="1150" dirty="0"/>
          </a:p>
        </p:txBody>
      </p:sp>
      <p:sp>
        <p:nvSpPr>
          <p:cNvPr id="14" name="Text 12"/>
          <p:cNvSpPr/>
          <p:nvPr/>
        </p:nvSpPr>
        <p:spPr>
          <a:xfrm>
            <a:off x="1005840" y="2359152"/>
            <a:ext cx="4800600" cy="594360"/>
          </a:xfrm>
          <a:prstGeom prst="rect">
            <a:avLst/>
          </a:prstGeom>
          <a:noFill/>
          <a:ln/>
        </p:spPr>
        <p:txBody>
          <a:bodyPr wrap="square" lIns="0" tIns="0" rIns="0" bIns="0" rtlCol="0" anchor="ctr">
            <a:normAutofit/>
          </a:bodyPr>
          <a:lstStyle/>
          <a:p>
            <a:pPr indent="0" marL="0">
              <a:buNone/>
            </a:pPr>
            <a:r>
              <a:rPr lang="en-US" sz="870" dirty="0">
                <a:solidFill>
                  <a:srgbClr val="4B5563"/>
                </a:solidFill>
              </a:rPr>
              <a:t>Broad AI builder workspace; model-flexible architecture; artifact generation beyond code; strong brand fit for creators and founders.</a:t>
            </a:r>
            <a:endParaRPr lang="en-US" sz="870" dirty="0"/>
          </a:p>
        </p:txBody>
      </p:sp>
      <p:sp>
        <p:nvSpPr>
          <p:cNvPr id="15" name="Shape 13"/>
          <p:cNvSpPr/>
          <p:nvPr/>
        </p:nvSpPr>
        <p:spPr>
          <a:xfrm>
            <a:off x="6263640" y="1828800"/>
            <a:ext cx="5166360" cy="1234440"/>
          </a:xfrm>
          <a:prstGeom prst="rect">
            <a:avLst/>
          </a:prstGeom>
          <a:solidFill>
            <a:srgbClr val="FFFFFF"/>
          </a:solidFill>
          <a:ln w="12700">
            <a:solidFill>
              <a:srgbClr val="D7DEE8">
                <a:alpha val="80000"/>
              </a:srgbClr>
            </a:solidFill>
            <a:prstDash val="solid"/>
          </a:ln>
        </p:spPr>
      </p:sp>
      <p:sp>
        <p:nvSpPr>
          <p:cNvPr id="16" name="Shape 14"/>
          <p:cNvSpPr/>
          <p:nvPr/>
        </p:nvSpPr>
        <p:spPr>
          <a:xfrm>
            <a:off x="6263640" y="1828800"/>
            <a:ext cx="73152" cy="1234440"/>
          </a:xfrm>
          <a:prstGeom prst="rect">
            <a:avLst/>
          </a:prstGeom>
          <a:solidFill>
            <a:srgbClr val="F59E0B"/>
          </a:solidFill>
          <a:ln w="12700">
            <a:solidFill>
              <a:srgbClr val="F59E0B"/>
            </a:solidFill>
            <a:prstDash val="solid"/>
          </a:ln>
        </p:spPr>
      </p:sp>
      <p:sp>
        <p:nvSpPr>
          <p:cNvPr id="17" name="Text 15"/>
          <p:cNvSpPr/>
          <p:nvPr/>
        </p:nvSpPr>
        <p:spPr>
          <a:xfrm>
            <a:off x="6492240" y="1993392"/>
            <a:ext cx="4800600" cy="256032"/>
          </a:xfrm>
          <a:prstGeom prst="rect">
            <a:avLst/>
          </a:prstGeom>
          <a:noFill/>
          <a:ln/>
        </p:spPr>
        <p:txBody>
          <a:bodyPr wrap="square" lIns="0" tIns="0" rIns="0" bIns="0" rtlCol="0" anchor="ctr"/>
          <a:lstStyle/>
          <a:p>
            <a:pPr indent="0" marL="0">
              <a:buNone/>
            </a:pPr>
            <a:r>
              <a:rPr lang="en-US" sz="1150" b="1" dirty="0">
                <a:solidFill>
                  <a:srgbClr val="111827"/>
                </a:solidFill>
              </a:rPr>
              <a:t>Weaknesses</a:t>
            </a:r>
            <a:endParaRPr lang="en-US" sz="1150" dirty="0"/>
          </a:p>
        </p:txBody>
      </p:sp>
      <p:sp>
        <p:nvSpPr>
          <p:cNvPr id="18" name="Text 16"/>
          <p:cNvSpPr/>
          <p:nvPr/>
        </p:nvSpPr>
        <p:spPr>
          <a:xfrm>
            <a:off x="6492240" y="2359152"/>
            <a:ext cx="4800600" cy="594360"/>
          </a:xfrm>
          <a:prstGeom prst="rect">
            <a:avLst/>
          </a:prstGeom>
          <a:noFill/>
          <a:ln/>
        </p:spPr>
        <p:txBody>
          <a:bodyPr wrap="square" lIns="0" tIns="0" rIns="0" bIns="0" rtlCol="0" anchor="ctr">
            <a:normAutofit/>
          </a:bodyPr>
          <a:lstStyle/>
          <a:p>
            <a:pPr indent="0" marL="0">
              <a:buNone/>
            </a:pPr>
            <a:r>
              <a:rPr lang="en-US" sz="870" dirty="0">
                <a:solidFill>
                  <a:srgbClr val="4B5563"/>
                </a:solidFill>
              </a:rPr>
              <a:t>Early brand awareness; needs proof of reliability; model cost exposure; enterprise security features require continued investment.</a:t>
            </a:r>
            <a:endParaRPr lang="en-US" sz="870" dirty="0"/>
          </a:p>
        </p:txBody>
      </p:sp>
      <p:sp>
        <p:nvSpPr>
          <p:cNvPr id="19" name="Shape 17"/>
          <p:cNvSpPr/>
          <p:nvPr/>
        </p:nvSpPr>
        <p:spPr>
          <a:xfrm>
            <a:off x="777240" y="3703320"/>
            <a:ext cx="5166360" cy="1234440"/>
          </a:xfrm>
          <a:prstGeom prst="rect">
            <a:avLst/>
          </a:prstGeom>
          <a:solidFill>
            <a:srgbClr val="FFFFFF"/>
          </a:solidFill>
          <a:ln w="12700">
            <a:solidFill>
              <a:srgbClr val="D7DEE8">
                <a:alpha val="80000"/>
              </a:srgbClr>
            </a:solidFill>
            <a:prstDash val="solid"/>
          </a:ln>
        </p:spPr>
      </p:sp>
      <p:sp>
        <p:nvSpPr>
          <p:cNvPr id="20" name="Shape 18"/>
          <p:cNvSpPr/>
          <p:nvPr/>
        </p:nvSpPr>
        <p:spPr>
          <a:xfrm>
            <a:off x="777240" y="3703320"/>
            <a:ext cx="73152" cy="1234440"/>
          </a:xfrm>
          <a:prstGeom prst="rect">
            <a:avLst/>
          </a:prstGeom>
          <a:solidFill>
            <a:srgbClr val="1E5BFF"/>
          </a:solidFill>
          <a:ln w="12700">
            <a:solidFill>
              <a:srgbClr val="1E5BFF"/>
            </a:solidFill>
            <a:prstDash val="solid"/>
          </a:ln>
        </p:spPr>
      </p:sp>
      <p:sp>
        <p:nvSpPr>
          <p:cNvPr id="21" name="Text 19"/>
          <p:cNvSpPr/>
          <p:nvPr/>
        </p:nvSpPr>
        <p:spPr>
          <a:xfrm>
            <a:off x="1005840" y="3867912"/>
            <a:ext cx="4800600" cy="256032"/>
          </a:xfrm>
          <a:prstGeom prst="rect">
            <a:avLst/>
          </a:prstGeom>
          <a:noFill/>
          <a:ln/>
        </p:spPr>
        <p:txBody>
          <a:bodyPr wrap="square" lIns="0" tIns="0" rIns="0" bIns="0" rtlCol="0" anchor="ctr"/>
          <a:lstStyle/>
          <a:p>
            <a:pPr indent="0" marL="0">
              <a:buNone/>
            </a:pPr>
            <a:r>
              <a:rPr lang="en-US" sz="1150" b="1" dirty="0">
                <a:solidFill>
                  <a:srgbClr val="111827"/>
                </a:solidFill>
              </a:rPr>
              <a:t>Opportunities</a:t>
            </a:r>
            <a:endParaRPr lang="en-US" sz="1150" dirty="0"/>
          </a:p>
        </p:txBody>
      </p:sp>
      <p:sp>
        <p:nvSpPr>
          <p:cNvPr id="22" name="Text 20"/>
          <p:cNvSpPr/>
          <p:nvPr/>
        </p:nvSpPr>
        <p:spPr>
          <a:xfrm>
            <a:off x="1005840" y="4233672"/>
            <a:ext cx="4800600" cy="594360"/>
          </a:xfrm>
          <a:prstGeom prst="rect">
            <a:avLst/>
          </a:prstGeom>
          <a:noFill/>
          <a:ln/>
        </p:spPr>
        <p:txBody>
          <a:bodyPr wrap="square" lIns="0" tIns="0" rIns="0" bIns="0" rtlCol="0" anchor="ctr">
            <a:normAutofit/>
          </a:bodyPr>
          <a:lstStyle/>
          <a:p>
            <a:pPr indent="0" marL="0">
              <a:buNone/>
            </a:pPr>
            <a:r>
              <a:rPr lang="en-US" sz="870" dirty="0">
                <a:solidFill>
                  <a:srgbClr val="4B5563"/>
                </a:solidFill>
              </a:rPr>
              <a:t>AI app-builder demand, SMB automation, agency delivery acceleration, enterprise innovation teams, marketplace templates and agents.</a:t>
            </a:r>
            <a:endParaRPr lang="en-US" sz="870" dirty="0"/>
          </a:p>
        </p:txBody>
      </p:sp>
      <p:sp>
        <p:nvSpPr>
          <p:cNvPr id="23" name="Shape 21"/>
          <p:cNvSpPr/>
          <p:nvPr/>
        </p:nvSpPr>
        <p:spPr>
          <a:xfrm>
            <a:off x="6263640" y="3703320"/>
            <a:ext cx="5166360" cy="1234440"/>
          </a:xfrm>
          <a:prstGeom prst="rect">
            <a:avLst/>
          </a:prstGeom>
          <a:solidFill>
            <a:srgbClr val="FFFFFF"/>
          </a:solidFill>
          <a:ln w="12700">
            <a:solidFill>
              <a:srgbClr val="D7DEE8">
                <a:alpha val="80000"/>
              </a:srgbClr>
            </a:solidFill>
            <a:prstDash val="solid"/>
          </a:ln>
        </p:spPr>
      </p:sp>
      <p:sp>
        <p:nvSpPr>
          <p:cNvPr id="24" name="Shape 22"/>
          <p:cNvSpPr/>
          <p:nvPr/>
        </p:nvSpPr>
        <p:spPr>
          <a:xfrm>
            <a:off x="6263640" y="3703320"/>
            <a:ext cx="73152" cy="1234440"/>
          </a:xfrm>
          <a:prstGeom prst="rect">
            <a:avLst/>
          </a:prstGeom>
          <a:solidFill>
            <a:srgbClr val="E11D48"/>
          </a:solidFill>
          <a:ln w="12700">
            <a:solidFill>
              <a:srgbClr val="E11D48"/>
            </a:solidFill>
            <a:prstDash val="solid"/>
          </a:ln>
        </p:spPr>
      </p:sp>
      <p:sp>
        <p:nvSpPr>
          <p:cNvPr id="25" name="Text 23"/>
          <p:cNvSpPr/>
          <p:nvPr/>
        </p:nvSpPr>
        <p:spPr>
          <a:xfrm>
            <a:off x="6492240" y="3867912"/>
            <a:ext cx="4800600" cy="256032"/>
          </a:xfrm>
          <a:prstGeom prst="rect">
            <a:avLst/>
          </a:prstGeom>
          <a:noFill/>
          <a:ln/>
        </p:spPr>
        <p:txBody>
          <a:bodyPr wrap="square" lIns="0" tIns="0" rIns="0" bIns="0" rtlCol="0" anchor="ctr"/>
          <a:lstStyle/>
          <a:p>
            <a:pPr indent="0" marL="0">
              <a:buNone/>
            </a:pPr>
            <a:r>
              <a:rPr lang="en-US" sz="1150" b="1" dirty="0">
                <a:solidFill>
                  <a:srgbClr val="111827"/>
                </a:solidFill>
              </a:rPr>
              <a:t>Threats</a:t>
            </a:r>
            <a:endParaRPr lang="en-US" sz="1150" dirty="0"/>
          </a:p>
        </p:txBody>
      </p:sp>
      <p:sp>
        <p:nvSpPr>
          <p:cNvPr id="26" name="Text 24"/>
          <p:cNvSpPr/>
          <p:nvPr/>
        </p:nvSpPr>
        <p:spPr>
          <a:xfrm>
            <a:off x="6492240" y="4233672"/>
            <a:ext cx="4800600" cy="594360"/>
          </a:xfrm>
          <a:prstGeom prst="rect">
            <a:avLst/>
          </a:prstGeom>
          <a:noFill/>
          <a:ln/>
        </p:spPr>
        <p:txBody>
          <a:bodyPr wrap="square" lIns="0" tIns="0" rIns="0" bIns="0" rtlCol="0" anchor="ctr">
            <a:normAutofit/>
          </a:bodyPr>
          <a:lstStyle/>
          <a:p>
            <a:pPr indent="0" marL="0">
              <a:buNone/>
            </a:pPr>
            <a:r>
              <a:rPr lang="en-US" sz="870" dirty="0">
                <a:solidFill>
                  <a:srgbClr val="4B5563"/>
                </a:solidFill>
              </a:rPr>
              <a:t>Fast-moving incumbents, model provider bundling, open-source agents, data/security incidents, customer fatigue from low-quality AI tools.</a:t>
            </a:r>
            <a:endParaRPr lang="en-US" sz="87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75488" y="347472"/>
            <a:ext cx="201168" cy="201168"/>
          </a:xfrm>
          <a:prstGeom prst="rect">
            <a:avLst/>
          </a:prstGeom>
          <a:solidFill>
            <a:srgbClr val="1E5BFF"/>
          </a:solidFill>
          <a:ln w="12700">
            <a:solidFill>
              <a:srgbClr val="1E5BFF"/>
            </a:solidFill>
            <a:prstDash val="solid"/>
          </a:ln>
        </p:spPr>
      </p:sp>
      <p:sp>
        <p:nvSpPr>
          <p:cNvPr id="3" name="Shape 1"/>
          <p:cNvSpPr/>
          <p:nvPr/>
        </p:nvSpPr>
        <p:spPr>
          <a:xfrm>
            <a:off x="713232" y="347472"/>
            <a:ext cx="201168" cy="201168"/>
          </a:xfrm>
          <a:prstGeom prst="rect">
            <a:avLst/>
          </a:prstGeom>
          <a:solidFill>
            <a:srgbClr val="16B8C7"/>
          </a:solidFill>
          <a:ln w="12700">
            <a:solidFill>
              <a:srgbClr val="16B8C7"/>
            </a:solidFill>
            <a:prstDash val="solid"/>
          </a:ln>
        </p:spPr>
      </p:sp>
      <p:sp>
        <p:nvSpPr>
          <p:cNvPr id="4" name="Text 2"/>
          <p:cNvSpPr/>
          <p:nvPr/>
        </p:nvSpPr>
        <p:spPr>
          <a:xfrm>
            <a:off x="987552" y="310896"/>
            <a:ext cx="1097280" cy="228600"/>
          </a:xfrm>
          <a:prstGeom prst="rect">
            <a:avLst/>
          </a:prstGeom>
          <a:noFill/>
          <a:ln/>
        </p:spPr>
        <p:txBody>
          <a:bodyPr wrap="square" lIns="0" tIns="0" rIns="0" bIns="0" rtlCol="0" anchor="ctr"/>
          <a:lstStyle/>
          <a:p>
            <a:pPr indent="0" marL="0">
              <a:buNone/>
            </a:pPr>
            <a:r>
              <a:rPr lang="en-US" sz="1000" b="1" dirty="0">
                <a:solidFill>
                  <a:srgbClr val="111827"/>
                </a:solidFill>
              </a:rPr>
              <a:t>LokoAI</a:t>
            </a:r>
            <a:endParaRPr lang="en-US" sz="1000" dirty="0"/>
          </a:p>
        </p:txBody>
      </p:sp>
      <p:sp>
        <p:nvSpPr>
          <p:cNvPr id="5" name="Text 3"/>
          <p:cNvSpPr/>
          <p:nvPr/>
        </p:nvSpPr>
        <p:spPr>
          <a:xfrm>
            <a:off x="658368" y="713232"/>
            <a:ext cx="2651760" cy="164592"/>
          </a:xfrm>
          <a:prstGeom prst="rect">
            <a:avLst/>
          </a:prstGeom>
          <a:noFill/>
          <a:ln/>
        </p:spPr>
        <p:txBody>
          <a:bodyPr wrap="square" lIns="0" tIns="0" rIns="0" bIns="0" rtlCol="0" anchor="ctr"/>
          <a:lstStyle/>
          <a:p>
            <a:pPr indent="0" marL="0">
              <a:buNone/>
            </a:pPr>
            <a:r>
              <a:rPr lang="en-US" sz="750" b="1" dirty="0">
                <a:solidFill>
                  <a:srgbClr val="1E5BFF"/>
                </a:solidFill>
              </a:rPr>
              <a:t>RISK ASSESSMENT</a:t>
            </a:r>
            <a:endParaRPr lang="en-US" sz="750" dirty="0"/>
          </a:p>
        </p:txBody>
      </p:sp>
      <p:sp>
        <p:nvSpPr>
          <p:cNvPr id="6" name="Text 4"/>
          <p:cNvSpPr/>
          <p:nvPr/>
        </p:nvSpPr>
        <p:spPr>
          <a:xfrm>
            <a:off x="658368" y="932688"/>
            <a:ext cx="10789920" cy="530352"/>
          </a:xfrm>
          <a:prstGeom prst="rect">
            <a:avLst/>
          </a:prstGeom>
          <a:noFill/>
          <a:ln/>
        </p:spPr>
        <p:txBody>
          <a:bodyPr wrap="square" lIns="0" tIns="0" rIns="0" bIns="0" rtlCol="0" anchor="ctr">
            <a:normAutofit/>
          </a:bodyPr>
          <a:lstStyle/>
          <a:p>
            <a:pPr indent="0" marL="0">
              <a:buNone/>
            </a:pPr>
            <a:r>
              <a:rPr lang="en-US" sz="2500" b="1" dirty="0">
                <a:solidFill>
                  <a:srgbClr val="111827"/>
                </a:solidFill>
                <a:latin typeface="Aptos Display" pitchFamily="34" charset="0"/>
                <a:ea typeface="Aptos Display" pitchFamily="34" charset="-122"/>
                <a:cs typeface="Aptos Display" pitchFamily="34" charset="-120"/>
              </a:rPr>
              <a:t>Risk assessment: focus capital on the risks that determine enterprise trust</a:t>
            </a:r>
            <a:endParaRPr lang="en-US" sz="2500" dirty="0"/>
          </a:p>
        </p:txBody>
      </p:sp>
      <p:sp>
        <p:nvSpPr>
          <p:cNvPr id="7" name="Shape 5"/>
          <p:cNvSpPr/>
          <p:nvPr/>
        </p:nvSpPr>
        <p:spPr>
          <a:xfrm>
            <a:off x="658368" y="1572768"/>
            <a:ext cx="1143000" cy="0"/>
          </a:xfrm>
          <a:prstGeom prst="line">
            <a:avLst/>
          </a:prstGeom>
          <a:noFill/>
          <a:ln w="25400">
            <a:solidFill>
              <a:srgbClr val="1E5BFF"/>
            </a:solidFill>
            <a:prstDash val="solid"/>
          </a:ln>
        </p:spPr>
      </p:sp>
      <p:sp>
        <p:nvSpPr>
          <p:cNvPr id="8" name="Text 6"/>
          <p:cNvSpPr/>
          <p:nvPr/>
        </p:nvSpPr>
        <p:spPr>
          <a:xfrm>
            <a:off x="475488" y="6473952"/>
            <a:ext cx="2011680" cy="164592"/>
          </a:xfrm>
          <a:prstGeom prst="rect">
            <a:avLst/>
          </a:prstGeom>
          <a:noFill/>
          <a:ln/>
        </p:spPr>
        <p:txBody>
          <a:bodyPr wrap="square" lIns="0" tIns="0" rIns="0" bIns="0" rtlCol="0" anchor="ctr"/>
          <a:lstStyle/>
          <a:p>
            <a:pPr indent="0" marL="0">
              <a:buNone/>
            </a:pPr>
            <a:r>
              <a:rPr lang="en-US" sz="700" dirty="0">
                <a:solidFill>
                  <a:srgbClr val="64748B"/>
                </a:solidFill>
              </a:rPr>
              <a:t>LokoAI confidential</a:t>
            </a:r>
            <a:endParaRPr lang="en-US" sz="700" dirty="0"/>
          </a:p>
        </p:txBody>
      </p:sp>
      <p:sp>
        <p:nvSpPr>
          <p:cNvPr id="9" name="Text 7"/>
          <p:cNvSpPr/>
          <p:nvPr/>
        </p:nvSpPr>
        <p:spPr>
          <a:xfrm>
            <a:off x="11201400" y="6446520"/>
            <a:ext cx="640080" cy="201168"/>
          </a:xfrm>
          <a:prstGeom prst="rect">
            <a:avLst/>
          </a:prstGeom>
          <a:noFill/>
          <a:ln/>
        </p:spPr>
        <p:txBody>
          <a:bodyPr wrap="square" lIns="0" tIns="0" rIns="0" bIns="0" rtlCol="0" anchor="ctr"/>
          <a:lstStyle/>
          <a:p>
            <a:pPr algn="r" indent="0" marL="0">
              <a:buNone/>
            </a:pPr>
            <a:r>
              <a:rPr lang="en-US" sz="800" b="1" dirty="0">
                <a:solidFill>
                  <a:srgbClr val="64748B"/>
                </a:solidFill>
              </a:rPr>
              <a:t>18</a:t>
            </a:r>
            <a:endParaRPr lang="en-US" sz="800" dirty="0"/>
          </a:p>
        </p:txBody>
      </p:sp>
      <p:sp>
        <p:nvSpPr>
          <p:cNvPr id="10" name="Text 8"/>
          <p:cNvSpPr/>
          <p:nvPr/>
        </p:nvSpPr>
        <p:spPr>
          <a:xfrm>
            <a:off x="2743200" y="6446520"/>
            <a:ext cx="6217920" cy="164592"/>
          </a:xfrm>
          <a:prstGeom prst="rect">
            <a:avLst/>
          </a:prstGeom>
          <a:noFill/>
          <a:ln/>
        </p:spPr>
        <p:txBody>
          <a:bodyPr wrap="square" lIns="0" tIns="0" rIns="0" bIns="0" rtlCol="0" anchor="ctr">
            <a:normAutofit/>
          </a:bodyPr>
          <a:lstStyle/>
          <a:p>
            <a:pPr algn="ctr" indent="0" marL="0">
              <a:buNone/>
            </a:pPr>
            <a:r>
              <a:rPr lang="en-US" sz="670" dirty="0">
                <a:solidFill>
                  <a:srgbClr val="7A8494"/>
                </a:solidFill>
              </a:rPr>
              <a:t>Source: Strategic risk analysis</a:t>
            </a:r>
            <a:endParaRPr lang="en-US" sz="67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31520" y="1847088"/>
          <a:ext cx="10835640" cy="3127248"/>
        </p:xfrm>
        <a:graphic>
          <a:graphicData uri="http://schemas.openxmlformats.org/drawingml/2006/table">
            <a:tbl>
              <a:tblPr/>
              <a:tblGrid>
                <a:gridCol w="2240280"/>
                <a:gridCol w="1234440"/>
                <a:gridCol w="1051560"/>
                <a:gridCol w="6309360"/>
              </a:tblGrid>
              <a:tr h="446750">
                <a:tc>
                  <a:txBody>
                    <a:bodyPr/>
                    <a:lstStyle/>
                    <a:p>
                      <a:pPr indent="0" marL="0">
                        <a:buNone/>
                      </a:pPr>
                      <a:r>
                        <a:rPr lang="en-US" sz="850" b="1" dirty="0">
                          <a:solidFill>
                            <a:srgbClr val="FFFFFF"/>
                          </a:solidFill>
                        </a:rPr>
                        <a:t>Risk</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Probability</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Impact</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Mitigation</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r>
              <a:tr h="446750">
                <a:tc>
                  <a:txBody>
                    <a:bodyPr/>
                    <a:lstStyle/>
                    <a:p>
                      <a:pPr indent="0" marL="0">
                        <a:buNone/>
                      </a:pPr>
                      <a:r>
                        <a:rPr lang="en-US" sz="800" dirty="0">
                          <a:solidFill>
                            <a:srgbClr val="111827"/>
                          </a:solidFill>
                        </a:rPr>
                        <a:t>Model output errors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High</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High</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Evals, human review, citations, versioning, rollback</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r>
              <a:tr h="446750">
                <a:tc>
                  <a:txBody>
                    <a:bodyPr/>
                    <a:lstStyle/>
                    <a:p>
                      <a:pPr indent="0" marL="0">
                        <a:buNone/>
                      </a:pPr>
                      <a:r>
                        <a:rPr lang="en-US" sz="800" dirty="0">
                          <a:solidFill>
                            <a:srgbClr val="111827"/>
                          </a:solidFill>
                        </a:rPr>
                        <a:t>Model cost inflation</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Medium</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High</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Routing, caching, credits, provider diversification</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r>
              <a:tr h="446750">
                <a:tc>
                  <a:txBody>
                    <a:bodyPr/>
                    <a:lstStyle/>
                    <a:p>
                      <a:pPr indent="0" marL="0">
                        <a:buNone/>
                      </a:pPr>
                      <a:r>
                        <a:rPr lang="en-US" sz="800" dirty="0">
                          <a:solidFill>
                            <a:srgbClr val="111827"/>
                          </a:solidFill>
                        </a:rPr>
                        <a:t>Security / data leakage</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Medium</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High</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SOC2 roadmap, SSO, encryption, policy controls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r>
              <a:tr h="446750">
                <a:tc>
                  <a:txBody>
                    <a:bodyPr/>
                    <a:lstStyle/>
                    <a:p>
                      <a:pPr indent="0" marL="0">
                        <a:buNone/>
                      </a:pPr>
                      <a:r>
                        <a:rPr lang="en-US" sz="800" dirty="0">
                          <a:solidFill>
                            <a:srgbClr val="111827"/>
                          </a:solidFill>
                        </a:rPr>
                        <a:t>Competitor compression</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High</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Medium</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Vertical templates, governance, integrations, community</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r>
              <a:tr h="446750">
                <a:tc>
                  <a:txBody>
                    <a:bodyPr/>
                    <a:lstStyle/>
                    <a:p>
                      <a:pPr indent="0" marL="0">
                        <a:buNone/>
                      </a:pPr>
                      <a:r>
                        <a:rPr lang="en-US" sz="800" dirty="0">
                          <a:solidFill>
                            <a:srgbClr val="111827"/>
                          </a:solidFill>
                        </a:rPr>
                        <a:t>Enterprise sales delays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Medium</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Medium</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PLG proof, design partners, clear ROI calculators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r>
              <a:tr h="446750">
                <a:tc>
                  <a:txBody>
                    <a:bodyPr/>
                    <a:lstStyle/>
                    <a:p>
                      <a:pPr indent="0" marL="0">
                        <a:buNone/>
                      </a:pPr>
                      <a:r>
                        <a:rPr lang="en-US" sz="800" dirty="0">
                          <a:solidFill>
                            <a:srgbClr val="111827"/>
                          </a:solidFill>
                        </a:rPr>
                        <a:t>Regulatory uncertainty</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Medium</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Medium</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Audit logs, regional data controls, compliance reporting</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r>
            </a:tbl>
          </a:graphicData>
        </a:graphic>
      </p:graphicFrame>
      <p:sp>
        <p:nvSpPr>
          <p:cNvPr id="12" name="Text 9"/>
          <p:cNvSpPr/>
          <p:nvPr/>
        </p:nvSpPr>
        <p:spPr>
          <a:xfrm>
            <a:off x="2057400" y="5422392"/>
            <a:ext cx="1554480" cy="256032"/>
          </a:xfrm>
          <a:prstGeom prst="rect">
            <a:avLst/>
          </a:prstGeom>
          <a:noFill/>
          <a:ln/>
        </p:spPr>
        <p:txBody>
          <a:bodyPr wrap="square" lIns="0" tIns="0" rIns="0" bIns="0" rtlCol="0" anchor="ctr">
            <a:normAutofit/>
          </a:bodyPr>
          <a:lstStyle/>
          <a:p>
            <a:pPr indent="0" marL="0">
              <a:buNone/>
            </a:pPr>
            <a:r>
              <a:rPr lang="en-US" sz="850" dirty="0">
                <a:solidFill>
                  <a:srgbClr val="4B5563"/>
                </a:solidFill>
              </a:rPr>
              <a:t>Reliability</a:t>
            </a:r>
            <a:endParaRPr lang="en-US" sz="850" dirty="0"/>
          </a:p>
        </p:txBody>
      </p:sp>
      <p:sp>
        <p:nvSpPr>
          <p:cNvPr id="13" name="Shape 10"/>
          <p:cNvSpPr/>
          <p:nvPr/>
        </p:nvSpPr>
        <p:spPr>
          <a:xfrm>
            <a:off x="3611880" y="5468112"/>
            <a:ext cx="5532120" cy="173736"/>
          </a:xfrm>
          <a:prstGeom prst="rect">
            <a:avLst/>
          </a:prstGeom>
          <a:solidFill>
            <a:srgbClr val="E7ECF3"/>
          </a:solidFill>
          <a:ln w="12700">
            <a:solidFill>
              <a:srgbClr val="E7ECF3"/>
            </a:solidFill>
            <a:prstDash val="solid"/>
          </a:ln>
        </p:spPr>
      </p:sp>
      <p:sp>
        <p:nvSpPr>
          <p:cNvPr id="14" name="Shape 11"/>
          <p:cNvSpPr/>
          <p:nvPr/>
        </p:nvSpPr>
        <p:spPr>
          <a:xfrm>
            <a:off x="3611880" y="5468112"/>
            <a:ext cx="5255514" cy="173736"/>
          </a:xfrm>
          <a:prstGeom prst="rect">
            <a:avLst/>
          </a:prstGeom>
          <a:solidFill>
            <a:srgbClr val="E11D48"/>
          </a:solidFill>
          <a:ln w="12700">
            <a:solidFill>
              <a:srgbClr val="E11D48"/>
            </a:solidFill>
            <a:prstDash val="solid"/>
          </a:ln>
        </p:spPr>
      </p:sp>
      <p:sp>
        <p:nvSpPr>
          <p:cNvPr id="15" name="Text 12"/>
          <p:cNvSpPr/>
          <p:nvPr/>
        </p:nvSpPr>
        <p:spPr>
          <a:xfrm>
            <a:off x="9235440" y="5422392"/>
            <a:ext cx="685800" cy="201168"/>
          </a:xfrm>
          <a:prstGeom prst="rect">
            <a:avLst/>
          </a:prstGeom>
          <a:noFill/>
          <a:ln/>
        </p:spPr>
        <p:txBody>
          <a:bodyPr wrap="square" lIns="0" tIns="0" rIns="0" bIns="0" rtlCol="0" anchor="ctr"/>
          <a:lstStyle/>
          <a:p>
            <a:pPr indent="0" marL="0">
              <a:buNone/>
            </a:pPr>
            <a:r>
              <a:rPr lang="en-US" sz="800" b="1" dirty="0">
                <a:solidFill>
                  <a:srgbClr val="111827"/>
                </a:solidFill>
              </a:rPr>
              <a:t>95</a:t>
            </a:r>
            <a:endParaRPr lang="en-US" sz="800" dirty="0"/>
          </a:p>
        </p:txBody>
      </p:sp>
      <p:sp>
        <p:nvSpPr>
          <p:cNvPr id="16" name="Text 13"/>
          <p:cNvSpPr/>
          <p:nvPr/>
        </p:nvSpPr>
        <p:spPr>
          <a:xfrm>
            <a:off x="2057400" y="5628132"/>
            <a:ext cx="1554480" cy="256032"/>
          </a:xfrm>
          <a:prstGeom prst="rect">
            <a:avLst/>
          </a:prstGeom>
          <a:noFill/>
          <a:ln/>
        </p:spPr>
        <p:txBody>
          <a:bodyPr wrap="square" lIns="0" tIns="0" rIns="0" bIns="0" rtlCol="0" anchor="ctr">
            <a:normAutofit/>
          </a:bodyPr>
          <a:lstStyle/>
          <a:p>
            <a:pPr indent="0" marL="0">
              <a:buNone/>
            </a:pPr>
            <a:r>
              <a:rPr lang="en-US" sz="850" dirty="0">
                <a:solidFill>
                  <a:srgbClr val="4B5563"/>
                </a:solidFill>
              </a:rPr>
              <a:t>Security</a:t>
            </a:r>
            <a:endParaRPr lang="en-US" sz="850" dirty="0"/>
          </a:p>
        </p:txBody>
      </p:sp>
      <p:sp>
        <p:nvSpPr>
          <p:cNvPr id="17" name="Shape 14"/>
          <p:cNvSpPr/>
          <p:nvPr/>
        </p:nvSpPr>
        <p:spPr>
          <a:xfrm>
            <a:off x="3611880" y="5673852"/>
            <a:ext cx="5532120" cy="173736"/>
          </a:xfrm>
          <a:prstGeom prst="rect">
            <a:avLst/>
          </a:prstGeom>
          <a:solidFill>
            <a:srgbClr val="E7ECF3"/>
          </a:solidFill>
          <a:ln w="12700">
            <a:solidFill>
              <a:srgbClr val="E7ECF3"/>
            </a:solidFill>
            <a:prstDash val="solid"/>
          </a:ln>
        </p:spPr>
      </p:sp>
      <p:sp>
        <p:nvSpPr>
          <p:cNvPr id="18" name="Shape 15"/>
          <p:cNvSpPr/>
          <p:nvPr/>
        </p:nvSpPr>
        <p:spPr>
          <a:xfrm>
            <a:off x="3611880" y="5673852"/>
            <a:ext cx="4978908" cy="173736"/>
          </a:xfrm>
          <a:prstGeom prst="rect">
            <a:avLst/>
          </a:prstGeom>
          <a:solidFill>
            <a:srgbClr val="F59E0B"/>
          </a:solidFill>
          <a:ln w="12700">
            <a:solidFill>
              <a:srgbClr val="F59E0B"/>
            </a:solidFill>
            <a:prstDash val="solid"/>
          </a:ln>
        </p:spPr>
      </p:sp>
      <p:sp>
        <p:nvSpPr>
          <p:cNvPr id="19" name="Text 16"/>
          <p:cNvSpPr/>
          <p:nvPr/>
        </p:nvSpPr>
        <p:spPr>
          <a:xfrm>
            <a:off x="9235440" y="5628132"/>
            <a:ext cx="685800" cy="201168"/>
          </a:xfrm>
          <a:prstGeom prst="rect">
            <a:avLst/>
          </a:prstGeom>
          <a:noFill/>
          <a:ln/>
        </p:spPr>
        <p:txBody>
          <a:bodyPr wrap="square" lIns="0" tIns="0" rIns="0" bIns="0" rtlCol="0" anchor="ctr"/>
          <a:lstStyle/>
          <a:p>
            <a:pPr indent="0" marL="0">
              <a:buNone/>
            </a:pPr>
            <a:r>
              <a:rPr lang="en-US" sz="800" b="1" dirty="0">
                <a:solidFill>
                  <a:srgbClr val="111827"/>
                </a:solidFill>
              </a:rPr>
              <a:t>90</a:t>
            </a:r>
            <a:endParaRPr lang="en-US" sz="800" dirty="0"/>
          </a:p>
        </p:txBody>
      </p:sp>
      <p:sp>
        <p:nvSpPr>
          <p:cNvPr id="20" name="Text 17"/>
          <p:cNvSpPr/>
          <p:nvPr/>
        </p:nvSpPr>
        <p:spPr>
          <a:xfrm>
            <a:off x="2057400" y="5833872"/>
            <a:ext cx="1554480" cy="256032"/>
          </a:xfrm>
          <a:prstGeom prst="rect">
            <a:avLst/>
          </a:prstGeom>
          <a:noFill/>
          <a:ln/>
        </p:spPr>
        <p:txBody>
          <a:bodyPr wrap="square" lIns="0" tIns="0" rIns="0" bIns="0" rtlCol="0" anchor="ctr">
            <a:normAutofit/>
          </a:bodyPr>
          <a:lstStyle/>
          <a:p>
            <a:pPr indent="0" marL="0">
              <a:buNone/>
            </a:pPr>
            <a:r>
              <a:rPr lang="en-US" sz="850" dirty="0">
                <a:solidFill>
                  <a:srgbClr val="4B5563"/>
                </a:solidFill>
              </a:rPr>
              <a:t>Cost control</a:t>
            </a:r>
            <a:endParaRPr lang="en-US" sz="850" dirty="0"/>
          </a:p>
        </p:txBody>
      </p:sp>
      <p:sp>
        <p:nvSpPr>
          <p:cNvPr id="21" name="Shape 18"/>
          <p:cNvSpPr/>
          <p:nvPr/>
        </p:nvSpPr>
        <p:spPr>
          <a:xfrm>
            <a:off x="3611880" y="5879592"/>
            <a:ext cx="5532120" cy="173736"/>
          </a:xfrm>
          <a:prstGeom prst="rect">
            <a:avLst/>
          </a:prstGeom>
          <a:solidFill>
            <a:srgbClr val="E7ECF3"/>
          </a:solidFill>
          <a:ln w="12700">
            <a:solidFill>
              <a:srgbClr val="E7ECF3"/>
            </a:solidFill>
            <a:prstDash val="solid"/>
          </a:ln>
        </p:spPr>
      </p:sp>
      <p:sp>
        <p:nvSpPr>
          <p:cNvPr id="22" name="Shape 19"/>
          <p:cNvSpPr/>
          <p:nvPr/>
        </p:nvSpPr>
        <p:spPr>
          <a:xfrm>
            <a:off x="3611880" y="5879592"/>
            <a:ext cx="4536338" cy="173736"/>
          </a:xfrm>
          <a:prstGeom prst="rect">
            <a:avLst/>
          </a:prstGeom>
          <a:solidFill>
            <a:srgbClr val="16B8C7"/>
          </a:solidFill>
          <a:ln w="12700">
            <a:solidFill>
              <a:srgbClr val="16B8C7"/>
            </a:solidFill>
            <a:prstDash val="solid"/>
          </a:ln>
        </p:spPr>
      </p:sp>
      <p:sp>
        <p:nvSpPr>
          <p:cNvPr id="23" name="Text 20"/>
          <p:cNvSpPr/>
          <p:nvPr/>
        </p:nvSpPr>
        <p:spPr>
          <a:xfrm>
            <a:off x="9235440" y="5833872"/>
            <a:ext cx="685800" cy="201168"/>
          </a:xfrm>
          <a:prstGeom prst="rect">
            <a:avLst/>
          </a:prstGeom>
          <a:noFill/>
          <a:ln/>
        </p:spPr>
        <p:txBody>
          <a:bodyPr wrap="square" lIns="0" tIns="0" rIns="0" bIns="0" rtlCol="0" anchor="ctr"/>
          <a:lstStyle/>
          <a:p>
            <a:pPr indent="0" marL="0">
              <a:buNone/>
            </a:pPr>
            <a:r>
              <a:rPr lang="en-US" sz="800" b="1" dirty="0">
                <a:solidFill>
                  <a:srgbClr val="111827"/>
                </a:solidFill>
              </a:rPr>
              <a:t>82</a:t>
            </a:r>
            <a:endParaRPr lang="en-US" sz="800" dirty="0"/>
          </a:p>
        </p:txBody>
      </p:sp>
      <p:sp>
        <p:nvSpPr>
          <p:cNvPr id="24" name="Text 21"/>
          <p:cNvSpPr/>
          <p:nvPr/>
        </p:nvSpPr>
        <p:spPr>
          <a:xfrm>
            <a:off x="2057400" y="6039612"/>
            <a:ext cx="1554480" cy="256032"/>
          </a:xfrm>
          <a:prstGeom prst="rect">
            <a:avLst/>
          </a:prstGeom>
          <a:noFill/>
          <a:ln/>
        </p:spPr>
        <p:txBody>
          <a:bodyPr wrap="square" lIns="0" tIns="0" rIns="0" bIns="0" rtlCol="0" anchor="ctr">
            <a:normAutofit/>
          </a:bodyPr>
          <a:lstStyle/>
          <a:p>
            <a:pPr indent="0" marL="0">
              <a:buNone/>
            </a:pPr>
            <a:r>
              <a:rPr lang="en-US" sz="850" dirty="0">
                <a:solidFill>
                  <a:srgbClr val="4B5563"/>
                </a:solidFill>
              </a:rPr>
              <a:t>Differentiation</a:t>
            </a:r>
            <a:endParaRPr lang="en-US" sz="850" dirty="0"/>
          </a:p>
        </p:txBody>
      </p:sp>
      <p:sp>
        <p:nvSpPr>
          <p:cNvPr id="25" name="Shape 22"/>
          <p:cNvSpPr/>
          <p:nvPr/>
        </p:nvSpPr>
        <p:spPr>
          <a:xfrm>
            <a:off x="3611880" y="6085332"/>
            <a:ext cx="5532120" cy="173736"/>
          </a:xfrm>
          <a:prstGeom prst="rect">
            <a:avLst/>
          </a:prstGeom>
          <a:solidFill>
            <a:srgbClr val="E7ECF3"/>
          </a:solidFill>
          <a:ln w="12700">
            <a:solidFill>
              <a:srgbClr val="E7ECF3"/>
            </a:solidFill>
            <a:prstDash val="solid"/>
          </a:ln>
        </p:spPr>
      </p:sp>
      <p:sp>
        <p:nvSpPr>
          <p:cNvPr id="26" name="Shape 23"/>
          <p:cNvSpPr/>
          <p:nvPr/>
        </p:nvSpPr>
        <p:spPr>
          <a:xfrm>
            <a:off x="3611880" y="6085332"/>
            <a:ext cx="4315054" cy="173736"/>
          </a:xfrm>
          <a:prstGeom prst="rect">
            <a:avLst/>
          </a:prstGeom>
          <a:solidFill>
            <a:srgbClr val="1E5BFF"/>
          </a:solidFill>
          <a:ln w="12700">
            <a:solidFill>
              <a:srgbClr val="1E5BFF"/>
            </a:solidFill>
            <a:prstDash val="solid"/>
          </a:ln>
        </p:spPr>
      </p:sp>
      <p:sp>
        <p:nvSpPr>
          <p:cNvPr id="27" name="Text 24"/>
          <p:cNvSpPr/>
          <p:nvPr/>
        </p:nvSpPr>
        <p:spPr>
          <a:xfrm>
            <a:off x="9235440" y="6039612"/>
            <a:ext cx="685800" cy="201168"/>
          </a:xfrm>
          <a:prstGeom prst="rect">
            <a:avLst/>
          </a:prstGeom>
          <a:noFill/>
          <a:ln/>
        </p:spPr>
        <p:txBody>
          <a:bodyPr wrap="square" lIns="0" tIns="0" rIns="0" bIns="0" rtlCol="0" anchor="ctr"/>
          <a:lstStyle/>
          <a:p>
            <a:pPr indent="0" marL="0">
              <a:buNone/>
            </a:pPr>
            <a:r>
              <a:rPr lang="en-US" sz="800" b="1" dirty="0">
                <a:solidFill>
                  <a:srgbClr val="111827"/>
                </a:solidFill>
              </a:rPr>
              <a:t>78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75488" y="347472"/>
            <a:ext cx="201168" cy="201168"/>
          </a:xfrm>
          <a:prstGeom prst="rect">
            <a:avLst/>
          </a:prstGeom>
          <a:solidFill>
            <a:srgbClr val="1E5BFF"/>
          </a:solidFill>
          <a:ln w="12700">
            <a:solidFill>
              <a:srgbClr val="1E5BFF"/>
            </a:solidFill>
            <a:prstDash val="solid"/>
          </a:ln>
        </p:spPr>
      </p:sp>
      <p:sp>
        <p:nvSpPr>
          <p:cNvPr id="3" name="Shape 1"/>
          <p:cNvSpPr/>
          <p:nvPr/>
        </p:nvSpPr>
        <p:spPr>
          <a:xfrm>
            <a:off x="713232" y="347472"/>
            <a:ext cx="201168" cy="201168"/>
          </a:xfrm>
          <a:prstGeom prst="rect">
            <a:avLst/>
          </a:prstGeom>
          <a:solidFill>
            <a:srgbClr val="16B8C7"/>
          </a:solidFill>
          <a:ln w="12700">
            <a:solidFill>
              <a:srgbClr val="16B8C7"/>
            </a:solidFill>
            <a:prstDash val="solid"/>
          </a:ln>
        </p:spPr>
      </p:sp>
      <p:sp>
        <p:nvSpPr>
          <p:cNvPr id="4" name="Text 2"/>
          <p:cNvSpPr/>
          <p:nvPr/>
        </p:nvSpPr>
        <p:spPr>
          <a:xfrm>
            <a:off x="987552" y="310896"/>
            <a:ext cx="1097280" cy="228600"/>
          </a:xfrm>
          <a:prstGeom prst="rect">
            <a:avLst/>
          </a:prstGeom>
          <a:noFill/>
          <a:ln/>
        </p:spPr>
        <p:txBody>
          <a:bodyPr wrap="square" lIns="0" tIns="0" rIns="0" bIns="0" rtlCol="0" anchor="ctr"/>
          <a:lstStyle/>
          <a:p>
            <a:pPr indent="0" marL="0">
              <a:buNone/>
            </a:pPr>
            <a:r>
              <a:rPr lang="en-US" sz="1000" b="1" dirty="0">
                <a:solidFill>
                  <a:srgbClr val="111827"/>
                </a:solidFill>
              </a:rPr>
              <a:t>LokoAI</a:t>
            </a:r>
            <a:endParaRPr lang="en-US" sz="1000" dirty="0"/>
          </a:p>
        </p:txBody>
      </p:sp>
      <p:sp>
        <p:nvSpPr>
          <p:cNvPr id="5" name="Text 3"/>
          <p:cNvSpPr/>
          <p:nvPr/>
        </p:nvSpPr>
        <p:spPr>
          <a:xfrm>
            <a:off x="658368" y="713232"/>
            <a:ext cx="2651760" cy="164592"/>
          </a:xfrm>
          <a:prstGeom prst="rect">
            <a:avLst/>
          </a:prstGeom>
          <a:noFill/>
          <a:ln/>
        </p:spPr>
        <p:txBody>
          <a:bodyPr wrap="square" lIns="0" tIns="0" rIns="0" bIns="0" rtlCol="0" anchor="ctr"/>
          <a:lstStyle/>
          <a:p>
            <a:pPr indent="0" marL="0">
              <a:buNone/>
            </a:pPr>
            <a:r>
              <a:rPr lang="en-US" sz="750" b="1" dirty="0">
                <a:solidFill>
                  <a:srgbClr val="1E5BFF"/>
                </a:solidFill>
              </a:rPr>
              <a:t>ROADMAP</a:t>
            </a:r>
            <a:endParaRPr lang="en-US" sz="750" dirty="0"/>
          </a:p>
        </p:txBody>
      </p:sp>
      <p:sp>
        <p:nvSpPr>
          <p:cNvPr id="6" name="Text 4"/>
          <p:cNvSpPr/>
          <p:nvPr/>
        </p:nvSpPr>
        <p:spPr>
          <a:xfrm>
            <a:off x="658368" y="932688"/>
            <a:ext cx="10789920" cy="530352"/>
          </a:xfrm>
          <a:prstGeom prst="rect">
            <a:avLst/>
          </a:prstGeom>
          <a:noFill/>
          <a:ln/>
        </p:spPr>
        <p:txBody>
          <a:bodyPr wrap="square" lIns="0" tIns="0" rIns="0" bIns="0" rtlCol="0" anchor="ctr">
            <a:normAutofit/>
          </a:bodyPr>
          <a:lstStyle/>
          <a:p>
            <a:pPr indent="0" marL="0">
              <a:buNone/>
            </a:pPr>
            <a:r>
              <a:rPr lang="en-US" sz="2500" b="1" dirty="0">
                <a:solidFill>
                  <a:srgbClr val="111827"/>
                </a:solidFill>
                <a:latin typeface="Aptos Display" pitchFamily="34" charset="0"/>
                <a:ea typeface="Aptos Display" pitchFamily="34" charset="-122"/>
                <a:cs typeface="Aptos Display" pitchFamily="34" charset="-120"/>
              </a:rPr>
              <a:t>Product roadmap: from creator-grade builder to governed AI delivery platform</a:t>
            </a:r>
            <a:endParaRPr lang="en-US" sz="2500" dirty="0"/>
          </a:p>
        </p:txBody>
      </p:sp>
      <p:sp>
        <p:nvSpPr>
          <p:cNvPr id="7" name="Shape 5"/>
          <p:cNvSpPr/>
          <p:nvPr/>
        </p:nvSpPr>
        <p:spPr>
          <a:xfrm>
            <a:off x="658368" y="1572768"/>
            <a:ext cx="1143000" cy="0"/>
          </a:xfrm>
          <a:prstGeom prst="line">
            <a:avLst/>
          </a:prstGeom>
          <a:noFill/>
          <a:ln w="25400">
            <a:solidFill>
              <a:srgbClr val="1E5BFF"/>
            </a:solidFill>
            <a:prstDash val="solid"/>
          </a:ln>
        </p:spPr>
      </p:sp>
      <p:sp>
        <p:nvSpPr>
          <p:cNvPr id="8" name="Text 6"/>
          <p:cNvSpPr/>
          <p:nvPr/>
        </p:nvSpPr>
        <p:spPr>
          <a:xfrm>
            <a:off x="475488" y="6473952"/>
            <a:ext cx="2011680" cy="164592"/>
          </a:xfrm>
          <a:prstGeom prst="rect">
            <a:avLst/>
          </a:prstGeom>
          <a:noFill/>
          <a:ln/>
        </p:spPr>
        <p:txBody>
          <a:bodyPr wrap="square" lIns="0" tIns="0" rIns="0" bIns="0" rtlCol="0" anchor="ctr"/>
          <a:lstStyle/>
          <a:p>
            <a:pPr indent="0" marL="0">
              <a:buNone/>
            </a:pPr>
            <a:r>
              <a:rPr lang="en-US" sz="700" dirty="0">
                <a:solidFill>
                  <a:srgbClr val="64748B"/>
                </a:solidFill>
              </a:rPr>
              <a:t>LokoAI confidential</a:t>
            </a:r>
            <a:endParaRPr lang="en-US" sz="700" dirty="0"/>
          </a:p>
        </p:txBody>
      </p:sp>
      <p:sp>
        <p:nvSpPr>
          <p:cNvPr id="9" name="Text 7"/>
          <p:cNvSpPr/>
          <p:nvPr/>
        </p:nvSpPr>
        <p:spPr>
          <a:xfrm>
            <a:off x="11201400" y="6446520"/>
            <a:ext cx="640080" cy="201168"/>
          </a:xfrm>
          <a:prstGeom prst="rect">
            <a:avLst/>
          </a:prstGeom>
          <a:noFill/>
          <a:ln/>
        </p:spPr>
        <p:txBody>
          <a:bodyPr wrap="square" lIns="0" tIns="0" rIns="0" bIns="0" rtlCol="0" anchor="ctr"/>
          <a:lstStyle/>
          <a:p>
            <a:pPr algn="r" indent="0" marL="0">
              <a:buNone/>
            </a:pPr>
            <a:r>
              <a:rPr lang="en-US" sz="800" b="1" dirty="0">
                <a:solidFill>
                  <a:srgbClr val="64748B"/>
                </a:solidFill>
              </a:rPr>
              <a:t>19</a:t>
            </a:r>
            <a:endParaRPr lang="en-US" sz="800" dirty="0"/>
          </a:p>
        </p:txBody>
      </p:sp>
      <p:sp>
        <p:nvSpPr>
          <p:cNvPr id="10" name="Text 8"/>
          <p:cNvSpPr/>
          <p:nvPr/>
        </p:nvSpPr>
        <p:spPr>
          <a:xfrm>
            <a:off x="2743200" y="6446520"/>
            <a:ext cx="6217920" cy="164592"/>
          </a:xfrm>
          <a:prstGeom prst="rect">
            <a:avLst/>
          </a:prstGeom>
          <a:noFill/>
          <a:ln/>
        </p:spPr>
        <p:txBody>
          <a:bodyPr wrap="square" lIns="0" tIns="0" rIns="0" bIns="0" rtlCol="0" anchor="ctr">
            <a:normAutofit/>
          </a:bodyPr>
          <a:lstStyle/>
          <a:p>
            <a:pPr algn="ctr" indent="0" marL="0">
              <a:buNone/>
            </a:pPr>
            <a:r>
              <a:rPr lang="en-US" sz="670" dirty="0">
                <a:solidFill>
                  <a:srgbClr val="7A8494"/>
                </a:solidFill>
              </a:rPr>
              <a:t>Source: Management roadmap assumptions</a:t>
            </a:r>
            <a:endParaRPr lang="en-US" sz="670" dirty="0"/>
          </a:p>
        </p:txBody>
      </p:sp>
      <p:sp>
        <p:nvSpPr>
          <p:cNvPr id="11" name="Shape 9"/>
          <p:cNvSpPr/>
          <p:nvPr/>
        </p:nvSpPr>
        <p:spPr>
          <a:xfrm>
            <a:off x="1051560" y="2697480"/>
            <a:ext cx="1828800" cy="0"/>
          </a:xfrm>
          <a:prstGeom prst="line">
            <a:avLst/>
          </a:prstGeom>
          <a:noFill/>
          <a:ln w="25400">
            <a:solidFill>
              <a:srgbClr val="D7DEE8"/>
            </a:solidFill>
            <a:prstDash val="solid"/>
          </a:ln>
        </p:spPr>
      </p:sp>
      <p:sp>
        <p:nvSpPr>
          <p:cNvPr id="12" name="Shape 10"/>
          <p:cNvSpPr/>
          <p:nvPr/>
        </p:nvSpPr>
        <p:spPr>
          <a:xfrm>
            <a:off x="731520" y="2423160"/>
            <a:ext cx="594360" cy="594360"/>
          </a:xfrm>
          <a:prstGeom prst="ellipse">
            <a:avLst/>
          </a:prstGeom>
          <a:solidFill>
            <a:srgbClr val="1E5BFF"/>
          </a:solidFill>
          <a:ln w="12700">
            <a:solidFill>
              <a:srgbClr val="1E5BFF"/>
            </a:solidFill>
            <a:prstDash val="solid"/>
          </a:ln>
        </p:spPr>
      </p:sp>
      <p:sp>
        <p:nvSpPr>
          <p:cNvPr id="13" name="Text 11"/>
          <p:cNvSpPr/>
          <p:nvPr/>
        </p:nvSpPr>
        <p:spPr>
          <a:xfrm>
            <a:off x="502920" y="3246120"/>
            <a:ext cx="1051560" cy="182880"/>
          </a:xfrm>
          <a:prstGeom prst="rect">
            <a:avLst/>
          </a:prstGeom>
          <a:noFill/>
          <a:ln/>
        </p:spPr>
        <p:txBody>
          <a:bodyPr wrap="square" lIns="0" tIns="0" rIns="0" bIns="0" rtlCol="0" anchor="ctr"/>
          <a:lstStyle/>
          <a:p>
            <a:pPr algn="ctr" indent="0" marL="0">
              <a:buNone/>
            </a:pPr>
            <a:r>
              <a:rPr lang="en-US" sz="800" b="1" dirty="0">
                <a:solidFill>
                  <a:srgbClr val="111827"/>
                </a:solidFill>
              </a:rPr>
              <a:t>Q3 2026</a:t>
            </a:r>
            <a:endParaRPr lang="en-US" sz="800" dirty="0"/>
          </a:p>
        </p:txBody>
      </p:sp>
      <p:sp>
        <p:nvSpPr>
          <p:cNvPr id="14" name="Text 12"/>
          <p:cNvSpPr/>
          <p:nvPr/>
        </p:nvSpPr>
        <p:spPr>
          <a:xfrm>
            <a:off x="320040" y="3657600"/>
            <a:ext cx="1417320" cy="256032"/>
          </a:xfrm>
          <a:prstGeom prst="rect">
            <a:avLst/>
          </a:prstGeom>
          <a:noFill/>
          <a:ln/>
        </p:spPr>
        <p:txBody>
          <a:bodyPr wrap="square" lIns="0" tIns="0" rIns="0" bIns="0" rtlCol="0" anchor="ctr">
            <a:normAutofit/>
          </a:bodyPr>
          <a:lstStyle/>
          <a:p>
            <a:pPr algn="ctr" indent="0" marL="0">
              <a:buNone/>
            </a:pPr>
            <a:r>
              <a:rPr lang="en-US" sz="1000" b="1" dirty="0">
                <a:solidFill>
                  <a:srgbClr val="111827"/>
                </a:solidFill>
              </a:rPr>
              <a:t>Creator launch</a:t>
            </a:r>
            <a:endParaRPr lang="en-US" sz="1000" dirty="0"/>
          </a:p>
        </p:txBody>
      </p:sp>
      <p:sp>
        <p:nvSpPr>
          <p:cNvPr id="15" name="Text 13"/>
          <p:cNvSpPr/>
          <p:nvPr/>
        </p:nvSpPr>
        <p:spPr>
          <a:xfrm>
            <a:off x="137160" y="4160520"/>
            <a:ext cx="1783080" cy="932688"/>
          </a:xfrm>
          <a:prstGeom prst="rect">
            <a:avLst/>
          </a:prstGeom>
          <a:noFill/>
          <a:ln/>
        </p:spPr>
        <p:txBody>
          <a:bodyPr wrap="square" lIns="0" tIns="0" rIns="0" bIns="0" rtlCol="0" anchor="ctr">
            <a:normAutofit/>
          </a:bodyPr>
          <a:lstStyle/>
          <a:p>
            <a:pPr algn="ctr" indent="0" marL="0">
              <a:buNone/>
            </a:pPr>
            <a:r>
              <a:rPr lang="en-US" sz="770" dirty="0">
                <a:solidFill>
                  <a:srgbClr val="4B5563"/>
                </a:solidFill>
              </a:rPr>
              <a:t>Polish prompt-to-app, file generation, project memory, templates, and export flows.</a:t>
            </a:r>
            <a:endParaRPr lang="en-US" sz="770" dirty="0"/>
          </a:p>
        </p:txBody>
      </p:sp>
      <p:sp>
        <p:nvSpPr>
          <p:cNvPr id="16" name="Shape 14"/>
          <p:cNvSpPr/>
          <p:nvPr/>
        </p:nvSpPr>
        <p:spPr>
          <a:xfrm>
            <a:off x="3355848" y="2697480"/>
            <a:ext cx="1828800" cy="0"/>
          </a:xfrm>
          <a:prstGeom prst="line">
            <a:avLst/>
          </a:prstGeom>
          <a:noFill/>
          <a:ln w="25400">
            <a:solidFill>
              <a:srgbClr val="D7DEE8"/>
            </a:solidFill>
            <a:prstDash val="solid"/>
          </a:ln>
        </p:spPr>
      </p:sp>
      <p:sp>
        <p:nvSpPr>
          <p:cNvPr id="17" name="Shape 15"/>
          <p:cNvSpPr/>
          <p:nvPr/>
        </p:nvSpPr>
        <p:spPr>
          <a:xfrm>
            <a:off x="3035808" y="2423160"/>
            <a:ext cx="594360" cy="594360"/>
          </a:xfrm>
          <a:prstGeom prst="ellipse">
            <a:avLst/>
          </a:prstGeom>
          <a:solidFill>
            <a:srgbClr val="16B8C7"/>
          </a:solidFill>
          <a:ln w="12700">
            <a:solidFill>
              <a:srgbClr val="16B8C7"/>
            </a:solidFill>
            <a:prstDash val="solid"/>
          </a:ln>
        </p:spPr>
      </p:sp>
      <p:sp>
        <p:nvSpPr>
          <p:cNvPr id="18" name="Text 16"/>
          <p:cNvSpPr/>
          <p:nvPr/>
        </p:nvSpPr>
        <p:spPr>
          <a:xfrm>
            <a:off x="2807208" y="3246120"/>
            <a:ext cx="1051560" cy="182880"/>
          </a:xfrm>
          <a:prstGeom prst="rect">
            <a:avLst/>
          </a:prstGeom>
          <a:noFill/>
          <a:ln/>
        </p:spPr>
        <p:txBody>
          <a:bodyPr wrap="square" lIns="0" tIns="0" rIns="0" bIns="0" rtlCol="0" anchor="ctr"/>
          <a:lstStyle/>
          <a:p>
            <a:pPr algn="ctr" indent="0" marL="0">
              <a:buNone/>
            </a:pPr>
            <a:r>
              <a:rPr lang="en-US" sz="800" b="1" dirty="0">
                <a:solidFill>
                  <a:srgbClr val="111827"/>
                </a:solidFill>
              </a:rPr>
              <a:t>Q4 2026</a:t>
            </a:r>
            <a:endParaRPr lang="en-US" sz="800" dirty="0"/>
          </a:p>
        </p:txBody>
      </p:sp>
      <p:sp>
        <p:nvSpPr>
          <p:cNvPr id="19" name="Text 17"/>
          <p:cNvSpPr/>
          <p:nvPr/>
        </p:nvSpPr>
        <p:spPr>
          <a:xfrm>
            <a:off x="2624328" y="3657600"/>
            <a:ext cx="1417320" cy="256032"/>
          </a:xfrm>
          <a:prstGeom prst="rect">
            <a:avLst/>
          </a:prstGeom>
          <a:noFill/>
          <a:ln/>
        </p:spPr>
        <p:txBody>
          <a:bodyPr wrap="square" lIns="0" tIns="0" rIns="0" bIns="0" rtlCol="0" anchor="ctr">
            <a:normAutofit/>
          </a:bodyPr>
          <a:lstStyle/>
          <a:p>
            <a:pPr algn="ctr" indent="0" marL="0">
              <a:buNone/>
            </a:pPr>
            <a:r>
              <a:rPr lang="en-US" sz="1000" b="1" dirty="0">
                <a:solidFill>
                  <a:srgbClr val="111827"/>
                </a:solidFill>
              </a:rPr>
              <a:t>Team workspace</a:t>
            </a:r>
            <a:endParaRPr lang="en-US" sz="1000" dirty="0"/>
          </a:p>
        </p:txBody>
      </p:sp>
      <p:sp>
        <p:nvSpPr>
          <p:cNvPr id="20" name="Text 18"/>
          <p:cNvSpPr/>
          <p:nvPr/>
        </p:nvSpPr>
        <p:spPr>
          <a:xfrm>
            <a:off x="2441448" y="4160520"/>
            <a:ext cx="1783080" cy="932688"/>
          </a:xfrm>
          <a:prstGeom prst="rect">
            <a:avLst/>
          </a:prstGeom>
          <a:noFill/>
          <a:ln/>
        </p:spPr>
        <p:txBody>
          <a:bodyPr wrap="square" lIns="0" tIns="0" rIns="0" bIns="0" rtlCol="0" anchor="ctr">
            <a:normAutofit/>
          </a:bodyPr>
          <a:lstStyle/>
          <a:p>
            <a:pPr algn="ctr" indent="0" marL="0">
              <a:buNone/>
            </a:pPr>
            <a:r>
              <a:rPr lang="en-US" sz="770" dirty="0">
                <a:solidFill>
                  <a:srgbClr val="4B5563"/>
                </a:solidFill>
              </a:rPr>
              <a:t>Shared projects, roles, approvals, activity history, usage billing, and client workspaces.</a:t>
            </a:r>
            <a:endParaRPr lang="en-US" sz="770" dirty="0"/>
          </a:p>
        </p:txBody>
      </p:sp>
      <p:sp>
        <p:nvSpPr>
          <p:cNvPr id="21" name="Shape 19"/>
          <p:cNvSpPr/>
          <p:nvPr/>
        </p:nvSpPr>
        <p:spPr>
          <a:xfrm>
            <a:off x="5660136" y="2697480"/>
            <a:ext cx="1828800" cy="0"/>
          </a:xfrm>
          <a:prstGeom prst="line">
            <a:avLst/>
          </a:prstGeom>
          <a:noFill/>
          <a:ln w="25400">
            <a:solidFill>
              <a:srgbClr val="D7DEE8"/>
            </a:solidFill>
            <a:prstDash val="solid"/>
          </a:ln>
        </p:spPr>
      </p:sp>
      <p:sp>
        <p:nvSpPr>
          <p:cNvPr id="22" name="Shape 20"/>
          <p:cNvSpPr/>
          <p:nvPr/>
        </p:nvSpPr>
        <p:spPr>
          <a:xfrm>
            <a:off x="5340096" y="2423160"/>
            <a:ext cx="594360" cy="594360"/>
          </a:xfrm>
          <a:prstGeom prst="ellipse">
            <a:avLst/>
          </a:prstGeom>
          <a:solidFill>
            <a:srgbClr val="10A37F"/>
          </a:solidFill>
          <a:ln w="12700">
            <a:solidFill>
              <a:srgbClr val="10A37F"/>
            </a:solidFill>
            <a:prstDash val="solid"/>
          </a:ln>
        </p:spPr>
      </p:sp>
      <p:sp>
        <p:nvSpPr>
          <p:cNvPr id="23" name="Text 21"/>
          <p:cNvSpPr/>
          <p:nvPr/>
        </p:nvSpPr>
        <p:spPr>
          <a:xfrm>
            <a:off x="5111496" y="3246120"/>
            <a:ext cx="1051560" cy="182880"/>
          </a:xfrm>
          <a:prstGeom prst="rect">
            <a:avLst/>
          </a:prstGeom>
          <a:noFill/>
          <a:ln/>
        </p:spPr>
        <p:txBody>
          <a:bodyPr wrap="square" lIns="0" tIns="0" rIns="0" bIns="0" rtlCol="0" anchor="ctr"/>
          <a:lstStyle/>
          <a:p>
            <a:pPr algn="ctr" indent="0" marL="0">
              <a:buNone/>
            </a:pPr>
            <a:r>
              <a:rPr lang="en-US" sz="800" b="1" dirty="0">
                <a:solidFill>
                  <a:srgbClr val="111827"/>
                </a:solidFill>
              </a:rPr>
              <a:t>H1 2027</a:t>
            </a:r>
            <a:endParaRPr lang="en-US" sz="800" dirty="0"/>
          </a:p>
        </p:txBody>
      </p:sp>
      <p:sp>
        <p:nvSpPr>
          <p:cNvPr id="24" name="Text 22"/>
          <p:cNvSpPr/>
          <p:nvPr/>
        </p:nvSpPr>
        <p:spPr>
          <a:xfrm>
            <a:off x="4928616" y="3657600"/>
            <a:ext cx="1417320" cy="256032"/>
          </a:xfrm>
          <a:prstGeom prst="rect">
            <a:avLst/>
          </a:prstGeom>
          <a:noFill/>
          <a:ln/>
        </p:spPr>
        <p:txBody>
          <a:bodyPr wrap="square" lIns="0" tIns="0" rIns="0" bIns="0" rtlCol="0" anchor="ctr">
            <a:normAutofit/>
          </a:bodyPr>
          <a:lstStyle/>
          <a:p>
            <a:pPr algn="ctr" indent="0" marL="0">
              <a:buNone/>
            </a:pPr>
            <a:r>
              <a:rPr lang="en-US" sz="1000" b="1" dirty="0">
                <a:solidFill>
                  <a:srgbClr val="111827"/>
                </a:solidFill>
              </a:rPr>
              <a:t>Production controls</a:t>
            </a:r>
            <a:endParaRPr lang="en-US" sz="1000" dirty="0"/>
          </a:p>
        </p:txBody>
      </p:sp>
      <p:sp>
        <p:nvSpPr>
          <p:cNvPr id="25" name="Text 23"/>
          <p:cNvSpPr/>
          <p:nvPr/>
        </p:nvSpPr>
        <p:spPr>
          <a:xfrm>
            <a:off x="4745736" y="4160520"/>
            <a:ext cx="1783080" cy="932688"/>
          </a:xfrm>
          <a:prstGeom prst="rect">
            <a:avLst/>
          </a:prstGeom>
          <a:noFill/>
          <a:ln/>
        </p:spPr>
        <p:txBody>
          <a:bodyPr wrap="square" lIns="0" tIns="0" rIns="0" bIns="0" rtlCol="0" anchor="ctr">
            <a:normAutofit/>
          </a:bodyPr>
          <a:lstStyle/>
          <a:p>
            <a:pPr algn="ctr" indent="0" marL="0">
              <a:buNone/>
            </a:pPr>
            <a:r>
              <a:rPr lang="en-US" sz="770" dirty="0">
                <a:solidFill>
                  <a:srgbClr val="4B5563"/>
                </a:solidFill>
              </a:rPr>
              <a:t>Evals, code review, deployment automation, rollback, monitoring, and security posture.</a:t>
            </a:r>
            <a:endParaRPr lang="en-US" sz="770" dirty="0"/>
          </a:p>
        </p:txBody>
      </p:sp>
      <p:sp>
        <p:nvSpPr>
          <p:cNvPr id="26" name="Shape 24"/>
          <p:cNvSpPr/>
          <p:nvPr/>
        </p:nvSpPr>
        <p:spPr>
          <a:xfrm>
            <a:off x="7964424" y="2697480"/>
            <a:ext cx="1828800" cy="0"/>
          </a:xfrm>
          <a:prstGeom prst="line">
            <a:avLst/>
          </a:prstGeom>
          <a:noFill/>
          <a:ln w="25400">
            <a:solidFill>
              <a:srgbClr val="D7DEE8"/>
            </a:solidFill>
            <a:prstDash val="solid"/>
          </a:ln>
        </p:spPr>
      </p:sp>
      <p:sp>
        <p:nvSpPr>
          <p:cNvPr id="27" name="Shape 25"/>
          <p:cNvSpPr/>
          <p:nvPr/>
        </p:nvSpPr>
        <p:spPr>
          <a:xfrm>
            <a:off x="7644384" y="2423160"/>
            <a:ext cx="594360" cy="594360"/>
          </a:xfrm>
          <a:prstGeom prst="ellipse">
            <a:avLst/>
          </a:prstGeom>
          <a:solidFill>
            <a:srgbClr val="F59E0B"/>
          </a:solidFill>
          <a:ln w="12700">
            <a:solidFill>
              <a:srgbClr val="F59E0B"/>
            </a:solidFill>
            <a:prstDash val="solid"/>
          </a:ln>
        </p:spPr>
      </p:sp>
      <p:sp>
        <p:nvSpPr>
          <p:cNvPr id="28" name="Text 26"/>
          <p:cNvSpPr/>
          <p:nvPr/>
        </p:nvSpPr>
        <p:spPr>
          <a:xfrm>
            <a:off x="7415784" y="3246120"/>
            <a:ext cx="1051560" cy="182880"/>
          </a:xfrm>
          <a:prstGeom prst="rect">
            <a:avLst/>
          </a:prstGeom>
          <a:noFill/>
          <a:ln/>
        </p:spPr>
        <p:txBody>
          <a:bodyPr wrap="square" lIns="0" tIns="0" rIns="0" bIns="0" rtlCol="0" anchor="ctr"/>
          <a:lstStyle/>
          <a:p>
            <a:pPr algn="ctr" indent="0" marL="0">
              <a:buNone/>
            </a:pPr>
            <a:r>
              <a:rPr lang="en-US" sz="800" b="1" dirty="0">
                <a:solidFill>
                  <a:srgbClr val="111827"/>
                </a:solidFill>
              </a:rPr>
              <a:t>H2 2027</a:t>
            </a:r>
            <a:endParaRPr lang="en-US" sz="800" dirty="0"/>
          </a:p>
        </p:txBody>
      </p:sp>
      <p:sp>
        <p:nvSpPr>
          <p:cNvPr id="29" name="Text 27"/>
          <p:cNvSpPr/>
          <p:nvPr/>
        </p:nvSpPr>
        <p:spPr>
          <a:xfrm>
            <a:off x="7232904" y="3657600"/>
            <a:ext cx="1417320" cy="256032"/>
          </a:xfrm>
          <a:prstGeom prst="rect">
            <a:avLst/>
          </a:prstGeom>
          <a:noFill/>
          <a:ln/>
        </p:spPr>
        <p:txBody>
          <a:bodyPr wrap="square" lIns="0" tIns="0" rIns="0" bIns="0" rtlCol="0" anchor="ctr">
            <a:normAutofit/>
          </a:bodyPr>
          <a:lstStyle/>
          <a:p>
            <a:pPr algn="ctr" indent="0" marL="0">
              <a:buNone/>
            </a:pPr>
            <a:r>
              <a:rPr lang="en-US" sz="1000" b="1" dirty="0">
                <a:solidFill>
                  <a:srgbClr val="111827"/>
                </a:solidFill>
              </a:rPr>
              <a:t>Enterprise package</a:t>
            </a:r>
            <a:endParaRPr lang="en-US" sz="1000" dirty="0"/>
          </a:p>
        </p:txBody>
      </p:sp>
      <p:sp>
        <p:nvSpPr>
          <p:cNvPr id="30" name="Text 28"/>
          <p:cNvSpPr/>
          <p:nvPr/>
        </p:nvSpPr>
        <p:spPr>
          <a:xfrm>
            <a:off x="7050024" y="4160520"/>
            <a:ext cx="1783080" cy="932688"/>
          </a:xfrm>
          <a:prstGeom prst="rect">
            <a:avLst/>
          </a:prstGeom>
          <a:noFill/>
          <a:ln/>
        </p:spPr>
        <p:txBody>
          <a:bodyPr wrap="square" lIns="0" tIns="0" rIns="0" bIns="0" rtlCol="0" anchor="ctr">
            <a:normAutofit/>
          </a:bodyPr>
          <a:lstStyle/>
          <a:p>
            <a:pPr algn="ctr" indent="0" marL="0">
              <a:buNone/>
            </a:pPr>
            <a:r>
              <a:rPr lang="en-US" sz="770" dirty="0">
                <a:solidFill>
                  <a:srgbClr val="4B5563"/>
                </a:solidFill>
              </a:rPr>
              <a:t>SSO, audit logs, private model policy, compliance exports, procurement readiness.</a:t>
            </a:r>
            <a:endParaRPr lang="en-US" sz="770" dirty="0"/>
          </a:p>
        </p:txBody>
      </p:sp>
      <p:sp>
        <p:nvSpPr>
          <p:cNvPr id="31" name="Shape 29"/>
          <p:cNvSpPr/>
          <p:nvPr/>
        </p:nvSpPr>
        <p:spPr>
          <a:xfrm>
            <a:off x="10268712" y="2697480"/>
            <a:ext cx="0" cy="0"/>
          </a:xfrm>
          <a:prstGeom prst="line">
            <a:avLst/>
          </a:prstGeom>
          <a:noFill/>
          <a:ln w="25400">
            <a:solidFill>
              <a:srgbClr val="D7DEE8"/>
            </a:solidFill>
            <a:prstDash val="solid"/>
          </a:ln>
        </p:spPr>
      </p:sp>
      <p:sp>
        <p:nvSpPr>
          <p:cNvPr id="32" name="Shape 30"/>
          <p:cNvSpPr/>
          <p:nvPr/>
        </p:nvSpPr>
        <p:spPr>
          <a:xfrm>
            <a:off x="9948672" y="2423160"/>
            <a:ext cx="594360" cy="594360"/>
          </a:xfrm>
          <a:prstGeom prst="ellipse">
            <a:avLst/>
          </a:prstGeom>
          <a:solidFill>
            <a:srgbClr val="E11D48"/>
          </a:solidFill>
          <a:ln w="12700">
            <a:solidFill>
              <a:srgbClr val="E11D48"/>
            </a:solidFill>
            <a:prstDash val="solid"/>
          </a:ln>
        </p:spPr>
      </p:sp>
      <p:sp>
        <p:nvSpPr>
          <p:cNvPr id="33" name="Text 31"/>
          <p:cNvSpPr/>
          <p:nvPr/>
        </p:nvSpPr>
        <p:spPr>
          <a:xfrm>
            <a:off x="9720072" y="3246120"/>
            <a:ext cx="1051560" cy="182880"/>
          </a:xfrm>
          <a:prstGeom prst="rect">
            <a:avLst/>
          </a:prstGeom>
          <a:noFill/>
          <a:ln/>
        </p:spPr>
        <p:txBody>
          <a:bodyPr wrap="square" lIns="0" tIns="0" rIns="0" bIns="0" rtlCol="0" anchor="ctr"/>
          <a:lstStyle/>
          <a:p>
            <a:pPr algn="ctr" indent="0" marL="0">
              <a:buNone/>
            </a:pPr>
            <a:r>
              <a:rPr lang="en-US" sz="800" b="1" dirty="0">
                <a:solidFill>
                  <a:srgbClr val="111827"/>
                </a:solidFill>
              </a:rPr>
              <a:t>2028</a:t>
            </a:r>
            <a:endParaRPr lang="en-US" sz="800" dirty="0"/>
          </a:p>
        </p:txBody>
      </p:sp>
      <p:sp>
        <p:nvSpPr>
          <p:cNvPr id="34" name="Text 32"/>
          <p:cNvSpPr/>
          <p:nvPr/>
        </p:nvSpPr>
        <p:spPr>
          <a:xfrm>
            <a:off x="9537192" y="3657600"/>
            <a:ext cx="1417320" cy="256032"/>
          </a:xfrm>
          <a:prstGeom prst="rect">
            <a:avLst/>
          </a:prstGeom>
          <a:noFill/>
          <a:ln/>
        </p:spPr>
        <p:txBody>
          <a:bodyPr wrap="square" lIns="0" tIns="0" rIns="0" bIns="0" rtlCol="0" anchor="ctr">
            <a:normAutofit/>
          </a:bodyPr>
          <a:lstStyle/>
          <a:p>
            <a:pPr algn="ctr" indent="0" marL="0">
              <a:buNone/>
            </a:pPr>
            <a:r>
              <a:rPr lang="en-US" sz="1000" b="1" dirty="0">
                <a:solidFill>
                  <a:srgbClr val="111827"/>
                </a:solidFill>
              </a:rPr>
              <a:t>Marketplace and agents</a:t>
            </a:r>
            <a:endParaRPr lang="en-US" sz="1000" dirty="0"/>
          </a:p>
        </p:txBody>
      </p:sp>
      <p:sp>
        <p:nvSpPr>
          <p:cNvPr id="35" name="Text 33"/>
          <p:cNvSpPr/>
          <p:nvPr/>
        </p:nvSpPr>
        <p:spPr>
          <a:xfrm>
            <a:off x="9354312" y="4160520"/>
            <a:ext cx="1783080" cy="932688"/>
          </a:xfrm>
          <a:prstGeom prst="rect">
            <a:avLst/>
          </a:prstGeom>
          <a:noFill/>
          <a:ln/>
        </p:spPr>
        <p:txBody>
          <a:bodyPr wrap="square" lIns="0" tIns="0" rIns="0" bIns="0" rtlCol="0" anchor="ctr">
            <a:normAutofit/>
          </a:bodyPr>
          <a:lstStyle/>
          <a:p>
            <a:pPr algn="ctr" indent="0" marL="0">
              <a:buNone/>
            </a:pPr>
            <a:r>
              <a:rPr lang="en-US" sz="770" dirty="0">
                <a:solidFill>
                  <a:srgbClr val="4B5563"/>
                </a:solidFill>
              </a:rPr>
              <a:t>Third-party templates, agent marketplace, vertical packages, partner services ecosystem.</a:t>
            </a:r>
            <a:endParaRPr lang="en-US" sz="77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75488" y="347472"/>
            <a:ext cx="201168" cy="201168"/>
          </a:xfrm>
          <a:prstGeom prst="rect">
            <a:avLst/>
          </a:prstGeom>
          <a:solidFill>
            <a:srgbClr val="1E5BFF"/>
          </a:solidFill>
          <a:ln w="12700">
            <a:solidFill>
              <a:srgbClr val="1E5BFF"/>
            </a:solidFill>
            <a:prstDash val="solid"/>
          </a:ln>
        </p:spPr>
      </p:sp>
      <p:sp>
        <p:nvSpPr>
          <p:cNvPr id="3" name="Shape 1"/>
          <p:cNvSpPr/>
          <p:nvPr/>
        </p:nvSpPr>
        <p:spPr>
          <a:xfrm>
            <a:off x="713232" y="347472"/>
            <a:ext cx="201168" cy="201168"/>
          </a:xfrm>
          <a:prstGeom prst="rect">
            <a:avLst/>
          </a:prstGeom>
          <a:solidFill>
            <a:srgbClr val="16B8C7"/>
          </a:solidFill>
          <a:ln w="12700">
            <a:solidFill>
              <a:srgbClr val="16B8C7"/>
            </a:solidFill>
            <a:prstDash val="solid"/>
          </a:ln>
        </p:spPr>
      </p:sp>
      <p:sp>
        <p:nvSpPr>
          <p:cNvPr id="4" name="Text 2"/>
          <p:cNvSpPr/>
          <p:nvPr/>
        </p:nvSpPr>
        <p:spPr>
          <a:xfrm>
            <a:off x="987552" y="310896"/>
            <a:ext cx="1097280" cy="228600"/>
          </a:xfrm>
          <a:prstGeom prst="rect">
            <a:avLst/>
          </a:prstGeom>
          <a:noFill/>
          <a:ln/>
        </p:spPr>
        <p:txBody>
          <a:bodyPr wrap="square" lIns="0" tIns="0" rIns="0" bIns="0" rtlCol="0" anchor="ctr"/>
          <a:lstStyle/>
          <a:p>
            <a:pPr indent="0" marL="0">
              <a:buNone/>
            </a:pPr>
            <a:r>
              <a:rPr lang="en-US" sz="1000" b="1" dirty="0">
                <a:solidFill>
                  <a:srgbClr val="111827"/>
                </a:solidFill>
              </a:rPr>
              <a:t>LokoAI</a:t>
            </a:r>
            <a:endParaRPr lang="en-US" sz="1000" dirty="0"/>
          </a:p>
        </p:txBody>
      </p:sp>
      <p:sp>
        <p:nvSpPr>
          <p:cNvPr id="5" name="Text 3"/>
          <p:cNvSpPr/>
          <p:nvPr/>
        </p:nvSpPr>
        <p:spPr>
          <a:xfrm>
            <a:off x="658368" y="713232"/>
            <a:ext cx="2651760" cy="164592"/>
          </a:xfrm>
          <a:prstGeom prst="rect">
            <a:avLst/>
          </a:prstGeom>
          <a:noFill/>
          <a:ln/>
        </p:spPr>
        <p:txBody>
          <a:bodyPr wrap="square" lIns="0" tIns="0" rIns="0" bIns="0" rtlCol="0" anchor="ctr"/>
          <a:lstStyle/>
          <a:p>
            <a:pPr indent="0" marL="0">
              <a:buNone/>
            </a:pPr>
            <a:r>
              <a:rPr lang="en-US" sz="750" b="1" dirty="0">
                <a:solidFill>
                  <a:srgbClr val="1E5BFF"/>
                </a:solidFill>
              </a:rPr>
              <a:t>TEAM</a:t>
            </a:r>
            <a:endParaRPr lang="en-US" sz="750" dirty="0"/>
          </a:p>
        </p:txBody>
      </p:sp>
      <p:sp>
        <p:nvSpPr>
          <p:cNvPr id="6" name="Text 4"/>
          <p:cNvSpPr/>
          <p:nvPr/>
        </p:nvSpPr>
        <p:spPr>
          <a:xfrm>
            <a:off x="658368" y="932688"/>
            <a:ext cx="10789920" cy="530352"/>
          </a:xfrm>
          <a:prstGeom prst="rect">
            <a:avLst/>
          </a:prstGeom>
          <a:noFill/>
          <a:ln/>
        </p:spPr>
        <p:txBody>
          <a:bodyPr wrap="square" lIns="0" tIns="0" rIns="0" bIns="0" rtlCol="0" anchor="ctr">
            <a:normAutofit/>
          </a:bodyPr>
          <a:lstStyle/>
          <a:p>
            <a:pPr indent="0" marL="0">
              <a:buNone/>
            </a:pPr>
            <a:r>
              <a:rPr lang="en-US" sz="2500" b="1" dirty="0">
                <a:solidFill>
                  <a:srgbClr val="111827"/>
                </a:solidFill>
                <a:latin typeface="Aptos Display" pitchFamily="34" charset="0"/>
                <a:ea typeface="Aptos Display" pitchFamily="34" charset="-122"/>
                <a:cs typeface="Aptos Display" pitchFamily="34" charset="-120"/>
              </a:rPr>
              <a:t>Team structure: lean expert pods aligned to product, trust, and growth</a:t>
            </a:r>
            <a:endParaRPr lang="en-US" sz="2500" dirty="0"/>
          </a:p>
        </p:txBody>
      </p:sp>
      <p:sp>
        <p:nvSpPr>
          <p:cNvPr id="7" name="Shape 5"/>
          <p:cNvSpPr/>
          <p:nvPr/>
        </p:nvSpPr>
        <p:spPr>
          <a:xfrm>
            <a:off x="658368" y="1572768"/>
            <a:ext cx="1143000" cy="0"/>
          </a:xfrm>
          <a:prstGeom prst="line">
            <a:avLst/>
          </a:prstGeom>
          <a:noFill/>
          <a:ln w="25400">
            <a:solidFill>
              <a:srgbClr val="1E5BFF"/>
            </a:solidFill>
            <a:prstDash val="solid"/>
          </a:ln>
        </p:spPr>
      </p:sp>
      <p:sp>
        <p:nvSpPr>
          <p:cNvPr id="8" name="Text 6"/>
          <p:cNvSpPr/>
          <p:nvPr/>
        </p:nvSpPr>
        <p:spPr>
          <a:xfrm>
            <a:off x="475488" y="6473952"/>
            <a:ext cx="2011680" cy="164592"/>
          </a:xfrm>
          <a:prstGeom prst="rect">
            <a:avLst/>
          </a:prstGeom>
          <a:noFill/>
          <a:ln/>
        </p:spPr>
        <p:txBody>
          <a:bodyPr wrap="square" lIns="0" tIns="0" rIns="0" bIns="0" rtlCol="0" anchor="ctr"/>
          <a:lstStyle/>
          <a:p>
            <a:pPr indent="0" marL="0">
              <a:buNone/>
            </a:pPr>
            <a:r>
              <a:rPr lang="en-US" sz="700" dirty="0">
                <a:solidFill>
                  <a:srgbClr val="64748B"/>
                </a:solidFill>
              </a:rPr>
              <a:t>LokoAI confidential</a:t>
            </a:r>
            <a:endParaRPr lang="en-US" sz="700" dirty="0"/>
          </a:p>
        </p:txBody>
      </p:sp>
      <p:sp>
        <p:nvSpPr>
          <p:cNvPr id="9" name="Text 7"/>
          <p:cNvSpPr/>
          <p:nvPr/>
        </p:nvSpPr>
        <p:spPr>
          <a:xfrm>
            <a:off x="11201400" y="6446520"/>
            <a:ext cx="640080" cy="201168"/>
          </a:xfrm>
          <a:prstGeom prst="rect">
            <a:avLst/>
          </a:prstGeom>
          <a:noFill/>
          <a:ln/>
        </p:spPr>
        <p:txBody>
          <a:bodyPr wrap="square" lIns="0" tIns="0" rIns="0" bIns="0" rtlCol="0" anchor="ctr"/>
          <a:lstStyle/>
          <a:p>
            <a:pPr algn="r" indent="0" marL="0">
              <a:buNone/>
            </a:pPr>
            <a:r>
              <a:rPr lang="en-US" sz="800" b="1" dirty="0">
                <a:solidFill>
                  <a:srgbClr val="64748B"/>
                </a:solidFill>
              </a:rPr>
              <a:t>20</a:t>
            </a:r>
            <a:endParaRPr lang="en-US" sz="800" dirty="0"/>
          </a:p>
        </p:txBody>
      </p:sp>
      <p:sp>
        <p:nvSpPr>
          <p:cNvPr id="10" name="Text 8"/>
          <p:cNvSpPr/>
          <p:nvPr/>
        </p:nvSpPr>
        <p:spPr>
          <a:xfrm>
            <a:off x="2743200" y="6446520"/>
            <a:ext cx="6217920" cy="164592"/>
          </a:xfrm>
          <a:prstGeom prst="rect">
            <a:avLst/>
          </a:prstGeom>
          <a:noFill/>
          <a:ln/>
        </p:spPr>
        <p:txBody>
          <a:bodyPr wrap="square" lIns="0" tIns="0" rIns="0" bIns="0" rtlCol="0" anchor="ctr">
            <a:normAutofit/>
          </a:bodyPr>
          <a:lstStyle/>
          <a:p>
            <a:pPr algn="ctr" indent="0" marL="0">
              <a:buNone/>
            </a:pPr>
            <a:r>
              <a:rPr lang="en-US" sz="670" dirty="0">
                <a:solidFill>
                  <a:srgbClr val="7A8494"/>
                </a:solidFill>
              </a:rPr>
              <a:t>Source: Hiring plan assumptions</a:t>
            </a:r>
            <a:endParaRPr lang="en-US" sz="67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31520" y="1847088"/>
          <a:ext cx="10835640" cy="3246120"/>
        </p:xfrm>
        <a:graphic>
          <a:graphicData uri="http://schemas.openxmlformats.org/drawingml/2006/table">
            <a:tbl>
              <a:tblPr/>
              <a:tblGrid>
                <a:gridCol w="2011680"/>
                <a:gridCol w="3657600"/>
                <a:gridCol w="1417320"/>
                <a:gridCol w="3749040"/>
              </a:tblGrid>
              <a:tr h="463731">
                <a:tc>
                  <a:txBody>
                    <a:bodyPr/>
                    <a:lstStyle/>
                    <a:p>
                      <a:pPr indent="0" marL="0">
                        <a:buNone/>
                      </a:pPr>
                      <a:r>
                        <a:rPr lang="en-US" sz="850" b="1" dirty="0">
                          <a:solidFill>
                            <a:srgbClr val="FFFFFF"/>
                          </a:solidFill>
                        </a:rPr>
                        <a:t>Function</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Seed-stage roles</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Hiring priority</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Strategic outcome</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r>
              <a:tr h="463731">
                <a:tc>
                  <a:txBody>
                    <a:bodyPr/>
                    <a:lstStyle/>
                    <a:p>
                      <a:pPr indent="0" marL="0">
                        <a:buNone/>
                      </a:pPr>
                      <a:r>
                        <a:rPr lang="en-US" sz="800" dirty="0">
                          <a:solidFill>
                            <a:srgbClr val="111827"/>
                          </a:solidFill>
                        </a:rPr>
                        <a:t>Product &amp; design</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Head of Product, UX designer, growth PM</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High</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Activation and retention</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r>
              <a:tr h="463731">
                <a:tc>
                  <a:txBody>
                    <a:bodyPr/>
                    <a:lstStyle/>
                    <a:p>
                      <a:pPr indent="0" marL="0">
                        <a:buNone/>
                      </a:pPr>
                      <a:r>
                        <a:rPr lang="en-US" sz="800" dirty="0">
                          <a:solidFill>
                            <a:srgbClr val="111827"/>
                          </a:solidFill>
                        </a:rPr>
                        <a:t>AI engineering</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Agent engineer, model routing engineer, eval engineer</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High</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Reliability and defensibility</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r>
              <a:tr h="463731">
                <a:tc>
                  <a:txBody>
                    <a:bodyPr/>
                    <a:lstStyle/>
                    <a:p>
                      <a:pPr indent="0" marL="0">
                        <a:buNone/>
                      </a:pPr>
                      <a:r>
                        <a:rPr lang="en-US" sz="800" dirty="0">
                          <a:solidFill>
                            <a:srgbClr val="111827"/>
                          </a:solidFill>
                        </a:rPr>
                        <a:t>Platform engineering</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Full-stack, infra, security engineer</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High</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Scalable production workflows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r>
              <a:tr h="463731">
                <a:tc>
                  <a:txBody>
                    <a:bodyPr/>
                    <a:lstStyle/>
                    <a:p>
                      <a:pPr indent="0" marL="0">
                        <a:buNone/>
                      </a:pPr>
                      <a:r>
                        <a:rPr lang="en-US" sz="800" dirty="0">
                          <a:solidFill>
                            <a:srgbClr val="111827"/>
                          </a:solidFill>
                        </a:rPr>
                        <a:t>GTM</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Founder-led sales, growth marketer, community lead</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Medium</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PLG and design partners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r>
              <a:tr h="463731">
                <a:tc>
                  <a:txBody>
                    <a:bodyPr/>
                    <a:lstStyle/>
                    <a:p>
                      <a:pPr indent="0" marL="0">
                        <a:buNone/>
                      </a:pPr>
                      <a:r>
                        <a:rPr lang="en-US" sz="800" dirty="0">
                          <a:solidFill>
                            <a:srgbClr val="111827"/>
                          </a:solidFill>
                        </a:rPr>
                        <a:t>Customer success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Solutions lead, support specialist</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Medium</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Expansion and enterprise readiness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r>
              <a:tr h="463731">
                <a:tc>
                  <a:txBody>
                    <a:bodyPr/>
                    <a:lstStyle/>
                    <a:p>
                      <a:pPr indent="0" marL="0">
                        <a:buNone/>
                      </a:pPr>
                      <a:r>
                        <a:rPr lang="en-US" sz="800" dirty="0">
                          <a:solidFill>
                            <a:srgbClr val="111827"/>
                          </a:solidFill>
                        </a:rPr>
                        <a:t>Ops &amp; finance</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Fractional finance, legal, security advisors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Medium</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Fundraising and compliance</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r>
            </a:tbl>
          </a:graphicData>
        </a:graphic>
      </p:graphicFrame>
      <p:sp>
        <p:nvSpPr>
          <p:cNvPr id="12" name="Shape 9"/>
          <p:cNvSpPr/>
          <p:nvPr/>
        </p:nvSpPr>
        <p:spPr>
          <a:xfrm>
            <a:off x="914400" y="5486400"/>
            <a:ext cx="10149840" cy="530352"/>
          </a:xfrm>
          <a:prstGeom prst="rect">
            <a:avLst/>
          </a:prstGeom>
          <a:solidFill>
            <a:srgbClr val="FFFFFF"/>
          </a:solidFill>
          <a:ln w="12700">
            <a:solidFill>
              <a:srgbClr val="D7DEE8">
                <a:alpha val="80000"/>
              </a:srgbClr>
            </a:solidFill>
            <a:prstDash val="solid"/>
          </a:ln>
        </p:spPr>
      </p:sp>
      <p:sp>
        <p:nvSpPr>
          <p:cNvPr id="13" name="Shape 10"/>
          <p:cNvSpPr/>
          <p:nvPr/>
        </p:nvSpPr>
        <p:spPr>
          <a:xfrm>
            <a:off x="914400" y="5486400"/>
            <a:ext cx="73152" cy="530352"/>
          </a:xfrm>
          <a:prstGeom prst="rect">
            <a:avLst/>
          </a:prstGeom>
          <a:solidFill>
            <a:srgbClr val="1E5BFF"/>
          </a:solidFill>
          <a:ln w="12700">
            <a:solidFill>
              <a:srgbClr val="1E5BFF"/>
            </a:solidFill>
            <a:prstDash val="solid"/>
          </a:ln>
        </p:spPr>
      </p:sp>
      <p:sp>
        <p:nvSpPr>
          <p:cNvPr id="14" name="Text 11"/>
          <p:cNvSpPr/>
          <p:nvPr/>
        </p:nvSpPr>
        <p:spPr>
          <a:xfrm>
            <a:off x="1143000" y="5650992"/>
            <a:ext cx="9784080" cy="256032"/>
          </a:xfrm>
          <a:prstGeom prst="rect">
            <a:avLst/>
          </a:prstGeom>
          <a:noFill/>
          <a:ln/>
        </p:spPr>
        <p:txBody>
          <a:bodyPr wrap="square" lIns="0" tIns="0" rIns="0" bIns="0" rtlCol="0" anchor="ctr"/>
          <a:lstStyle/>
          <a:p>
            <a:pPr indent="0" marL="0">
              <a:buNone/>
            </a:pPr>
            <a:r>
              <a:rPr lang="en-US" sz="1150" b="1" dirty="0">
                <a:solidFill>
                  <a:srgbClr val="111827"/>
                </a:solidFill>
              </a:rPr>
              <a:t>Hiring principle</a:t>
            </a:r>
            <a:endParaRPr lang="en-US" sz="1150" dirty="0"/>
          </a:p>
        </p:txBody>
      </p:sp>
      <p:sp>
        <p:nvSpPr>
          <p:cNvPr id="15" name="Text 12"/>
          <p:cNvSpPr/>
          <p:nvPr/>
        </p:nvSpPr>
        <p:spPr>
          <a:xfrm>
            <a:off x="1143000" y="6016752"/>
            <a:ext cx="9784080" cy="-109728"/>
          </a:xfrm>
          <a:prstGeom prst="rect">
            <a:avLst/>
          </a:prstGeom>
          <a:noFill/>
          <a:ln/>
        </p:spPr>
        <p:txBody>
          <a:bodyPr wrap="square" lIns="0" tIns="0" rIns="0" bIns="0" rtlCol="0" anchor="ctr">
            <a:normAutofit/>
          </a:bodyPr>
          <a:lstStyle/>
          <a:p>
            <a:pPr indent="0" marL="0">
              <a:buNone/>
            </a:pPr>
            <a:r>
              <a:rPr lang="en-US" sz="870" dirty="0">
                <a:solidFill>
                  <a:srgbClr val="4B5563"/>
                </a:solidFill>
              </a:rPr>
              <a:t>Build a small senior team that can ship product, prove reliability, and close design partners before scaling headcount.</a:t>
            </a:r>
            <a:endParaRPr lang="en-US" sz="87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75488" y="347472"/>
            <a:ext cx="201168" cy="201168"/>
          </a:xfrm>
          <a:prstGeom prst="rect">
            <a:avLst/>
          </a:prstGeom>
          <a:solidFill>
            <a:srgbClr val="1E5BFF"/>
          </a:solidFill>
          <a:ln w="12700">
            <a:solidFill>
              <a:srgbClr val="1E5BFF"/>
            </a:solidFill>
            <a:prstDash val="solid"/>
          </a:ln>
        </p:spPr>
      </p:sp>
      <p:sp>
        <p:nvSpPr>
          <p:cNvPr id="3" name="Shape 1"/>
          <p:cNvSpPr/>
          <p:nvPr/>
        </p:nvSpPr>
        <p:spPr>
          <a:xfrm>
            <a:off x="713232" y="347472"/>
            <a:ext cx="201168" cy="201168"/>
          </a:xfrm>
          <a:prstGeom prst="rect">
            <a:avLst/>
          </a:prstGeom>
          <a:solidFill>
            <a:srgbClr val="16B8C7"/>
          </a:solidFill>
          <a:ln w="12700">
            <a:solidFill>
              <a:srgbClr val="16B8C7"/>
            </a:solidFill>
            <a:prstDash val="solid"/>
          </a:ln>
        </p:spPr>
      </p:sp>
      <p:sp>
        <p:nvSpPr>
          <p:cNvPr id="4" name="Text 2"/>
          <p:cNvSpPr/>
          <p:nvPr/>
        </p:nvSpPr>
        <p:spPr>
          <a:xfrm>
            <a:off x="987552" y="310896"/>
            <a:ext cx="1097280" cy="228600"/>
          </a:xfrm>
          <a:prstGeom prst="rect">
            <a:avLst/>
          </a:prstGeom>
          <a:noFill/>
          <a:ln/>
        </p:spPr>
        <p:txBody>
          <a:bodyPr wrap="square" lIns="0" tIns="0" rIns="0" bIns="0" rtlCol="0" anchor="ctr"/>
          <a:lstStyle/>
          <a:p>
            <a:pPr indent="0" marL="0">
              <a:buNone/>
            </a:pPr>
            <a:r>
              <a:rPr lang="en-US" sz="1000" b="1" dirty="0">
                <a:solidFill>
                  <a:srgbClr val="111827"/>
                </a:solidFill>
              </a:rPr>
              <a:t>LokoAI</a:t>
            </a:r>
            <a:endParaRPr lang="en-US" sz="1000" dirty="0"/>
          </a:p>
        </p:txBody>
      </p:sp>
      <p:sp>
        <p:nvSpPr>
          <p:cNvPr id="5" name="Text 3"/>
          <p:cNvSpPr/>
          <p:nvPr/>
        </p:nvSpPr>
        <p:spPr>
          <a:xfrm>
            <a:off x="658368" y="713232"/>
            <a:ext cx="2651760" cy="164592"/>
          </a:xfrm>
          <a:prstGeom prst="rect">
            <a:avLst/>
          </a:prstGeom>
          <a:noFill/>
          <a:ln/>
        </p:spPr>
        <p:txBody>
          <a:bodyPr wrap="square" lIns="0" tIns="0" rIns="0" bIns="0" rtlCol="0" anchor="ctr"/>
          <a:lstStyle/>
          <a:p>
            <a:pPr indent="0" marL="0">
              <a:buNone/>
            </a:pPr>
            <a:r>
              <a:rPr lang="en-US" sz="750" b="1" dirty="0">
                <a:solidFill>
                  <a:srgbClr val="1E5BFF"/>
                </a:solidFill>
              </a:rPr>
              <a:t>FUNDING</a:t>
            </a:r>
            <a:endParaRPr lang="en-US" sz="750" dirty="0"/>
          </a:p>
        </p:txBody>
      </p:sp>
      <p:sp>
        <p:nvSpPr>
          <p:cNvPr id="6" name="Text 4"/>
          <p:cNvSpPr/>
          <p:nvPr/>
        </p:nvSpPr>
        <p:spPr>
          <a:xfrm>
            <a:off x="658368" y="932688"/>
            <a:ext cx="10789920" cy="530352"/>
          </a:xfrm>
          <a:prstGeom prst="rect">
            <a:avLst/>
          </a:prstGeom>
          <a:noFill/>
          <a:ln/>
        </p:spPr>
        <p:txBody>
          <a:bodyPr wrap="square" lIns="0" tIns="0" rIns="0" bIns="0" rtlCol="0" anchor="ctr">
            <a:normAutofit/>
          </a:bodyPr>
          <a:lstStyle/>
          <a:p>
            <a:pPr indent="0" marL="0">
              <a:buNone/>
            </a:pPr>
            <a:r>
              <a:rPr lang="en-US" sz="2500" b="1" dirty="0">
                <a:solidFill>
                  <a:srgbClr val="111827"/>
                </a:solidFill>
                <a:latin typeface="Aptos Display" pitchFamily="34" charset="0"/>
                <a:ea typeface="Aptos Display" pitchFamily="34" charset="-122"/>
                <a:cs typeface="Aptos Display" pitchFamily="34" charset="-120"/>
              </a:rPr>
              <a:t>Funding requirements: raising $3.5M seed to reach team-scale traction</a:t>
            </a:r>
            <a:endParaRPr lang="en-US" sz="2500" dirty="0"/>
          </a:p>
        </p:txBody>
      </p:sp>
      <p:sp>
        <p:nvSpPr>
          <p:cNvPr id="7" name="Shape 5"/>
          <p:cNvSpPr/>
          <p:nvPr/>
        </p:nvSpPr>
        <p:spPr>
          <a:xfrm>
            <a:off x="658368" y="1572768"/>
            <a:ext cx="1143000" cy="0"/>
          </a:xfrm>
          <a:prstGeom prst="line">
            <a:avLst/>
          </a:prstGeom>
          <a:noFill/>
          <a:ln w="25400">
            <a:solidFill>
              <a:srgbClr val="1E5BFF"/>
            </a:solidFill>
            <a:prstDash val="solid"/>
          </a:ln>
        </p:spPr>
      </p:sp>
      <p:sp>
        <p:nvSpPr>
          <p:cNvPr id="8" name="Text 6"/>
          <p:cNvSpPr/>
          <p:nvPr/>
        </p:nvSpPr>
        <p:spPr>
          <a:xfrm>
            <a:off x="475488" y="6473952"/>
            <a:ext cx="2011680" cy="164592"/>
          </a:xfrm>
          <a:prstGeom prst="rect">
            <a:avLst/>
          </a:prstGeom>
          <a:noFill/>
          <a:ln/>
        </p:spPr>
        <p:txBody>
          <a:bodyPr wrap="square" lIns="0" tIns="0" rIns="0" bIns="0" rtlCol="0" anchor="ctr"/>
          <a:lstStyle/>
          <a:p>
            <a:pPr indent="0" marL="0">
              <a:buNone/>
            </a:pPr>
            <a:r>
              <a:rPr lang="en-US" sz="700" dirty="0">
                <a:solidFill>
                  <a:srgbClr val="64748B"/>
                </a:solidFill>
              </a:rPr>
              <a:t>LokoAI confidential</a:t>
            </a:r>
            <a:endParaRPr lang="en-US" sz="700" dirty="0"/>
          </a:p>
        </p:txBody>
      </p:sp>
      <p:sp>
        <p:nvSpPr>
          <p:cNvPr id="9" name="Text 7"/>
          <p:cNvSpPr/>
          <p:nvPr/>
        </p:nvSpPr>
        <p:spPr>
          <a:xfrm>
            <a:off x="11201400" y="6446520"/>
            <a:ext cx="640080" cy="201168"/>
          </a:xfrm>
          <a:prstGeom prst="rect">
            <a:avLst/>
          </a:prstGeom>
          <a:noFill/>
          <a:ln/>
        </p:spPr>
        <p:txBody>
          <a:bodyPr wrap="square" lIns="0" tIns="0" rIns="0" bIns="0" rtlCol="0" anchor="ctr"/>
          <a:lstStyle/>
          <a:p>
            <a:pPr algn="r" indent="0" marL="0">
              <a:buNone/>
            </a:pPr>
            <a:r>
              <a:rPr lang="en-US" sz="800" b="1" dirty="0">
                <a:solidFill>
                  <a:srgbClr val="64748B"/>
                </a:solidFill>
              </a:rPr>
              <a:t>21</a:t>
            </a:r>
            <a:endParaRPr lang="en-US" sz="800" dirty="0"/>
          </a:p>
        </p:txBody>
      </p:sp>
      <p:sp>
        <p:nvSpPr>
          <p:cNvPr id="10" name="Text 8"/>
          <p:cNvSpPr/>
          <p:nvPr/>
        </p:nvSpPr>
        <p:spPr>
          <a:xfrm>
            <a:off x="2743200" y="6446520"/>
            <a:ext cx="6217920" cy="164592"/>
          </a:xfrm>
          <a:prstGeom prst="rect">
            <a:avLst/>
          </a:prstGeom>
          <a:noFill/>
          <a:ln/>
        </p:spPr>
        <p:txBody>
          <a:bodyPr wrap="square" lIns="0" tIns="0" rIns="0" bIns="0" rtlCol="0" anchor="ctr">
            <a:normAutofit/>
          </a:bodyPr>
          <a:lstStyle/>
          <a:p>
            <a:pPr algn="ctr" indent="0" marL="0">
              <a:buNone/>
            </a:pPr>
            <a:r>
              <a:rPr lang="en-US" sz="670" dirty="0">
                <a:solidFill>
                  <a:srgbClr val="7A8494"/>
                </a:solidFill>
              </a:rPr>
              <a:t>Source: Management fundraising assumptions</a:t>
            </a:r>
            <a:endParaRPr lang="en-US" sz="670" dirty="0"/>
          </a:p>
        </p:txBody>
      </p:sp>
      <p:sp>
        <p:nvSpPr>
          <p:cNvPr id="11" name="Shape 9"/>
          <p:cNvSpPr/>
          <p:nvPr/>
        </p:nvSpPr>
        <p:spPr>
          <a:xfrm>
            <a:off x="822960" y="1874520"/>
            <a:ext cx="2331720" cy="1188720"/>
          </a:xfrm>
          <a:prstGeom prst="rect">
            <a:avLst/>
          </a:prstGeom>
          <a:solidFill>
            <a:srgbClr val="FFFFFF"/>
          </a:solidFill>
          <a:ln w="12700">
            <a:solidFill>
              <a:srgbClr val="D7DEE8">
                <a:alpha val="80000"/>
              </a:srgbClr>
            </a:solidFill>
            <a:prstDash val="solid"/>
          </a:ln>
        </p:spPr>
      </p:sp>
      <p:sp>
        <p:nvSpPr>
          <p:cNvPr id="12" name="Text 10"/>
          <p:cNvSpPr/>
          <p:nvPr/>
        </p:nvSpPr>
        <p:spPr>
          <a:xfrm>
            <a:off x="1024128" y="2075688"/>
            <a:ext cx="1929384" cy="475488"/>
          </a:xfrm>
          <a:prstGeom prst="rect">
            <a:avLst/>
          </a:prstGeom>
          <a:noFill/>
          <a:ln/>
        </p:spPr>
        <p:txBody>
          <a:bodyPr wrap="square" lIns="0" tIns="0" rIns="0" bIns="0" rtlCol="0" anchor="ctr">
            <a:normAutofit/>
          </a:bodyPr>
          <a:lstStyle/>
          <a:p>
            <a:pPr indent="0" marL="0">
              <a:buNone/>
            </a:pPr>
            <a:r>
              <a:rPr lang="en-US" sz="2600" b="1" dirty="0">
                <a:solidFill>
                  <a:srgbClr val="1E5BFF"/>
                </a:solidFill>
              </a:rPr>
              <a:t>$3.5M</a:t>
            </a:r>
            <a:endParaRPr lang="en-US" sz="2600" dirty="0"/>
          </a:p>
        </p:txBody>
      </p:sp>
      <p:sp>
        <p:nvSpPr>
          <p:cNvPr id="13" name="Text 11"/>
          <p:cNvSpPr/>
          <p:nvPr/>
        </p:nvSpPr>
        <p:spPr>
          <a:xfrm>
            <a:off x="1024128" y="2697480"/>
            <a:ext cx="1929384" cy="274320"/>
          </a:xfrm>
          <a:prstGeom prst="rect">
            <a:avLst/>
          </a:prstGeom>
          <a:noFill/>
          <a:ln/>
        </p:spPr>
        <p:txBody>
          <a:bodyPr wrap="square" lIns="0" tIns="0" rIns="0" bIns="0" rtlCol="0" anchor="ctr">
            <a:normAutofit/>
          </a:bodyPr>
          <a:lstStyle/>
          <a:p>
            <a:pPr indent="0" marL="0">
              <a:buNone/>
            </a:pPr>
            <a:r>
              <a:rPr lang="en-US" sz="1050" dirty="0">
                <a:solidFill>
                  <a:srgbClr val="4B5563"/>
                </a:solidFill>
              </a:rPr>
              <a:t>Seed round target</a:t>
            </a:r>
            <a:endParaRPr lang="en-US" sz="1050" dirty="0"/>
          </a:p>
        </p:txBody>
      </p:sp>
      <p:sp>
        <p:nvSpPr>
          <p:cNvPr id="14" name="Shape 12"/>
          <p:cNvSpPr/>
          <p:nvPr/>
        </p:nvSpPr>
        <p:spPr>
          <a:xfrm>
            <a:off x="3429000" y="1874520"/>
            <a:ext cx="2331720" cy="1188720"/>
          </a:xfrm>
          <a:prstGeom prst="rect">
            <a:avLst/>
          </a:prstGeom>
          <a:solidFill>
            <a:srgbClr val="FFFFFF"/>
          </a:solidFill>
          <a:ln w="12700">
            <a:solidFill>
              <a:srgbClr val="D7DEE8">
                <a:alpha val="80000"/>
              </a:srgbClr>
            </a:solidFill>
            <a:prstDash val="solid"/>
          </a:ln>
        </p:spPr>
      </p:sp>
      <p:sp>
        <p:nvSpPr>
          <p:cNvPr id="15" name="Text 13"/>
          <p:cNvSpPr/>
          <p:nvPr/>
        </p:nvSpPr>
        <p:spPr>
          <a:xfrm>
            <a:off x="3630168" y="2075688"/>
            <a:ext cx="1929384" cy="475488"/>
          </a:xfrm>
          <a:prstGeom prst="rect">
            <a:avLst/>
          </a:prstGeom>
          <a:noFill/>
          <a:ln/>
        </p:spPr>
        <p:txBody>
          <a:bodyPr wrap="square" lIns="0" tIns="0" rIns="0" bIns="0" rtlCol="0" anchor="ctr">
            <a:normAutofit/>
          </a:bodyPr>
          <a:lstStyle/>
          <a:p>
            <a:pPr indent="0" marL="0">
              <a:buNone/>
            </a:pPr>
            <a:r>
              <a:rPr lang="en-US" sz="2600" b="1" dirty="0">
                <a:solidFill>
                  <a:srgbClr val="16B8C7"/>
                </a:solidFill>
              </a:rPr>
              <a:t>24 mo</a:t>
            </a:r>
            <a:endParaRPr lang="en-US" sz="2600" dirty="0"/>
          </a:p>
        </p:txBody>
      </p:sp>
      <p:sp>
        <p:nvSpPr>
          <p:cNvPr id="16" name="Text 14"/>
          <p:cNvSpPr/>
          <p:nvPr/>
        </p:nvSpPr>
        <p:spPr>
          <a:xfrm>
            <a:off x="3630168" y="2697480"/>
            <a:ext cx="1929384" cy="274320"/>
          </a:xfrm>
          <a:prstGeom prst="rect">
            <a:avLst/>
          </a:prstGeom>
          <a:noFill/>
          <a:ln/>
        </p:spPr>
        <p:txBody>
          <a:bodyPr wrap="square" lIns="0" tIns="0" rIns="0" bIns="0" rtlCol="0" anchor="ctr">
            <a:normAutofit/>
          </a:bodyPr>
          <a:lstStyle/>
          <a:p>
            <a:pPr indent="0" marL="0">
              <a:buNone/>
            </a:pPr>
            <a:r>
              <a:rPr lang="en-US" sz="1050" dirty="0">
                <a:solidFill>
                  <a:srgbClr val="4B5563"/>
                </a:solidFill>
              </a:rPr>
              <a:t>Runway target</a:t>
            </a:r>
            <a:endParaRPr lang="en-US" sz="1050" dirty="0"/>
          </a:p>
        </p:txBody>
      </p:sp>
      <p:sp>
        <p:nvSpPr>
          <p:cNvPr id="17" name="Shape 15"/>
          <p:cNvSpPr/>
          <p:nvPr/>
        </p:nvSpPr>
        <p:spPr>
          <a:xfrm>
            <a:off x="6035040" y="1874520"/>
            <a:ext cx="2331720" cy="1188720"/>
          </a:xfrm>
          <a:prstGeom prst="rect">
            <a:avLst/>
          </a:prstGeom>
          <a:solidFill>
            <a:srgbClr val="FFFFFF"/>
          </a:solidFill>
          <a:ln w="12700">
            <a:solidFill>
              <a:srgbClr val="D7DEE8">
                <a:alpha val="80000"/>
              </a:srgbClr>
            </a:solidFill>
            <a:prstDash val="solid"/>
          </a:ln>
        </p:spPr>
      </p:sp>
      <p:sp>
        <p:nvSpPr>
          <p:cNvPr id="18" name="Text 16"/>
          <p:cNvSpPr/>
          <p:nvPr/>
        </p:nvSpPr>
        <p:spPr>
          <a:xfrm>
            <a:off x="6236208" y="2075688"/>
            <a:ext cx="1929384" cy="475488"/>
          </a:xfrm>
          <a:prstGeom prst="rect">
            <a:avLst/>
          </a:prstGeom>
          <a:noFill/>
          <a:ln/>
        </p:spPr>
        <p:txBody>
          <a:bodyPr wrap="square" lIns="0" tIns="0" rIns="0" bIns="0" rtlCol="0" anchor="ctr">
            <a:normAutofit/>
          </a:bodyPr>
          <a:lstStyle/>
          <a:p>
            <a:pPr indent="0" marL="0">
              <a:buNone/>
            </a:pPr>
            <a:r>
              <a:rPr lang="en-US" sz="2600" b="1" dirty="0">
                <a:solidFill>
                  <a:srgbClr val="10A37F"/>
                </a:solidFill>
              </a:rPr>
              <a:t>$1.2M</a:t>
            </a:r>
            <a:endParaRPr lang="en-US" sz="2600" dirty="0"/>
          </a:p>
        </p:txBody>
      </p:sp>
      <p:sp>
        <p:nvSpPr>
          <p:cNvPr id="19" name="Text 17"/>
          <p:cNvSpPr/>
          <p:nvPr/>
        </p:nvSpPr>
        <p:spPr>
          <a:xfrm>
            <a:off x="6236208" y="2697480"/>
            <a:ext cx="1929384" cy="274320"/>
          </a:xfrm>
          <a:prstGeom prst="rect">
            <a:avLst/>
          </a:prstGeom>
          <a:noFill/>
          <a:ln/>
        </p:spPr>
        <p:txBody>
          <a:bodyPr wrap="square" lIns="0" tIns="0" rIns="0" bIns="0" rtlCol="0" anchor="ctr">
            <a:normAutofit/>
          </a:bodyPr>
          <a:lstStyle/>
          <a:p>
            <a:pPr indent="0" marL="0">
              <a:buNone/>
            </a:pPr>
            <a:r>
              <a:rPr lang="en-US" sz="1050" dirty="0">
                <a:solidFill>
                  <a:srgbClr val="4B5563"/>
                </a:solidFill>
              </a:rPr>
              <a:t>Year-1 ARR target</a:t>
            </a:r>
            <a:endParaRPr lang="en-US" sz="1050" dirty="0"/>
          </a:p>
        </p:txBody>
      </p:sp>
      <p:sp>
        <p:nvSpPr>
          <p:cNvPr id="20" name="Shape 18"/>
          <p:cNvSpPr/>
          <p:nvPr/>
        </p:nvSpPr>
        <p:spPr>
          <a:xfrm>
            <a:off x="8641080" y="1874520"/>
            <a:ext cx="2331720" cy="1188720"/>
          </a:xfrm>
          <a:prstGeom prst="rect">
            <a:avLst/>
          </a:prstGeom>
          <a:solidFill>
            <a:srgbClr val="FFFFFF"/>
          </a:solidFill>
          <a:ln w="12700">
            <a:solidFill>
              <a:srgbClr val="D7DEE8">
                <a:alpha val="80000"/>
              </a:srgbClr>
            </a:solidFill>
            <a:prstDash val="solid"/>
          </a:ln>
        </p:spPr>
      </p:sp>
      <p:sp>
        <p:nvSpPr>
          <p:cNvPr id="21" name="Text 19"/>
          <p:cNvSpPr/>
          <p:nvPr/>
        </p:nvSpPr>
        <p:spPr>
          <a:xfrm>
            <a:off x="8842248" y="2075688"/>
            <a:ext cx="1929384" cy="475488"/>
          </a:xfrm>
          <a:prstGeom prst="rect">
            <a:avLst/>
          </a:prstGeom>
          <a:noFill/>
          <a:ln/>
        </p:spPr>
        <p:txBody>
          <a:bodyPr wrap="square" lIns="0" tIns="0" rIns="0" bIns="0" rtlCol="0" anchor="ctr">
            <a:normAutofit/>
          </a:bodyPr>
          <a:lstStyle/>
          <a:p>
            <a:pPr indent="0" marL="0">
              <a:buNone/>
            </a:pPr>
            <a:r>
              <a:rPr lang="en-US" sz="2600" b="1" dirty="0">
                <a:solidFill>
                  <a:srgbClr val="F59E0B"/>
                </a:solidFill>
              </a:rPr>
              <a:t>25+</a:t>
            </a:r>
            <a:endParaRPr lang="en-US" sz="2600" dirty="0"/>
          </a:p>
        </p:txBody>
      </p:sp>
      <p:sp>
        <p:nvSpPr>
          <p:cNvPr id="22" name="Text 20"/>
          <p:cNvSpPr/>
          <p:nvPr/>
        </p:nvSpPr>
        <p:spPr>
          <a:xfrm>
            <a:off x="8842248" y="2697480"/>
            <a:ext cx="1929384" cy="274320"/>
          </a:xfrm>
          <a:prstGeom prst="rect">
            <a:avLst/>
          </a:prstGeom>
          <a:noFill/>
          <a:ln/>
        </p:spPr>
        <p:txBody>
          <a:bodyPr wrap="square" lIns="0" tIns="0" rIns="0" bIns="0" rtlCol="0" anchor="ctr">
            <a:normAutofit/>
          </a:bodyPr>
          <a:lstStyle/>
          <a:p>
            <a:pPr indent="0" marL="0">
              <a:buNone/>
            </a:pPr>
            <a:r>
              <a:rPr lang="en-US" sz="1050" dirty="0">
                <a:solidFill>
                  <a:srgbClr val="4B5563"/>
                </a:solidFill>
              </a:rPr>
              <a:t>Team / enterprise design partners</a:t>
            </a:r>
            <a:endParaRPr lang="en-US" sz="1050" dirty="0"/>
          </a:p>
        </p:txBody>
      </p:sp>
      <p:sp>
        <p:nvSpPr>
          <p:cNvPr id="23" name="Text 21"/>
          <p:cNvSpPr/>
          <p:nvPr/>
        </p:nvSpPr>
        <p:spPr>
          <a:xfrm>
            <a:off x="1005840" y="3977640"/>
            <a:ext cx="9875520" cy="1234440"/>
          </a:xfrm>
          <a:prstGeom prst="rect">
            <a:avLst/>
          </a:prstGeom>
          <a:noFill/>
          <a:ln/>
        </p:spPr>
        <p:txBody>
          <a:bodyPr wrap="square" lIns="254" tIns="254" rIns="254" bIns="254" rtlCol="0" anchor="t">
            <a:normAutofit/>
          </a:bodyPr>
          <a:lstStyle/>
          <a:p>
            <a:pPr marL="152400" indent="-152400">
              <a:spcAft>
                <a:spcPts val="800"/>
              </a:spcAft>
              <a:buSzPct val="100000"/>
              <a:buChar char="•"/>
            </a:pPr>
            <a:r>
              <a:rPr lang="en-US" sz="1250" dirty="0">
                <a:solidFill>
                  <a:srgbClr val="4B5563"/>
                </a:solidFill>
              </a:rPr>
              <a:t>Primary objective: ship creator and team-grade workspace, then prove repeatable paid conversion.</a:t>
            </a:r>
            <a:endParaRPr lang="en-US" sz="1250" dirty="0"/>
          </a:p>
          <a:p>
            <a:pPr marL="152400" indent="-152400">
              <a:spcAft>
                <a:spcPts val="800"/>
              </a:spcAft>
              <a:buSzPct val="100000"/>
              <a:buChar char="•"/>
            </a:pPr>
            <a:r>
              <a:rPr lang="en-US" sz="1250" dirty="0">
                <a:solidFill>
                  <a:srgbClr val="4B5563"/>
                </a:solidFill>
              </a:rPr>
              <a:t>Secondary objective: launch enterprise trust package with auditability, SSO, evals, and compliance roadmap.</a:t>
            </a:r>
            <a:endParaRPr lang="en-US" sz="1250" dirty="0"/>
          </a:p>
          <a:p>
            <a:pPr marL="152400" indent="-152400">
              <a:spcAft>
                <a:spcPts val="800"/>
              </a:spcAft>
              <a:buSzPct val="100000"/>
              <a:buChar char="•"/>
            </a:pPr>
            <a:r>
              <a:rPr lang="en-US" sz="1250" dirty="0">
                <a:solidFill>
                  <a:srgbClr val="4B5563"/>
                </a:solidFill>
              </a:rPr>
              <a:t>Milestone objective: demonstrate strong activation, improving gross margin, and early team expansion.</a:t>
            </a:r>
            <a:endParaRPr lang="en-US" sz="1250" dirty="0"/>
          </a:p>
          <a:p>
            <a:pPr marL="152400" indent="-152400">
              <a:spcAft>
                <a:spcPts val="800"/>
              </a:spcAft>
              <a:buSzPct val="100000"/>
              <a:buChar char="•"/>
            </a:pPr>
            <a:r>
              <a:rPr lang="en-US" sz="1250" dirty="0">
                <a:solidFill>
                  <a:srgbClr val="4B5563"/>
                </a:solidFill>
              </a:rPr>
              <a:t>Next financing trigger: $4M+ ARR run-rate, 100+ team accounts, and clear enterprise pipeline.</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75488" y="347472"/>
            <a:ext cx="201168" cy="201168"/>
          </a:xfrm>
          <a:prstGeom prst="rect">
            <a:avLst/>
          </a:prstGeom>
          <a:solidFill>
            <a:srgbClr val="1E5BFF"/>
          </a:solidFill>
          <a:ln w="12700">
            <a:solidFill>
              <a:srgbClr val="1E5BFF"/>
            </a:solidFill>
            <a:prstDash val="solid"/>
          </a:ln>
        </p:spPr>
      </p:sp>
      <p:sp>
        <p:nvSpPr>
          <p:cNvPr id="3" name="Shape 1"/>
          <p:cNvSpPr/>
          <p:nvPr/>
        </p:nvSpPr>
        <p:spPr>
          <a:xfrm>
            <a:off x="713232" y="347472"/>
            <a:ext cx="201168" cy="201168"/>
          </a:xfrm>
          <a:prstGeom prst="rect">
            <a:avLst/>
          </a:prstGeom>
          <a:solidFill>
            <a:srgbClr val="16B8C7"/>
          </a:solidFill>
          <a:ln w="12700">
            <a:solidFill>
              <a:srgbClr val="16B8C7"/>
            </a:solidFill>
            <a:prstDash val="solid"/>
          </a:ln>
        </p:spPr>
      </p:sp>
      <p:sp>
        <p:nvSpPr>
          <p:cNvPr id="4" name="Text 2"/>
          <p:cNvSpPr/>
          <p:nvPr/>
        </p:nvSpPr>
        <p:spPr>
          <a:xfrm>
            <a:off x="987552" y="310896"/>
            <a:ext cx="1097280" cy="228600"/>
          </a:xfrm>
          <a:prstGeom prst="rect">
            <a:avLst/>
          </a:prstGeom>
          <a:noFill/>
          <a:ln/>
        </p:spPr>
        <p:txBody>
          <a:bodyPr wrap="square" lIns="0" tIns="0" rIns="0" bIns="0" rtlCol="0" anchor="ctr"/>
          <a:lstStyle/>
          <a:p>
            <a:pPr indent="0" marL="0">
              <a:buNone/>
            </a:pPr>
            <a:r>
              <a:rPr lang="en-US" sz="1000" b="1" dirty="0">
                <a:solidFill>
                  <a:srgbClr val="111827"/>
                </a:solidFill>
              </a:rPr>
              <a:t>LokoAI</a:t>
            </a:r>
            <a:endParaRPr lang="en-US" sz="1000" dirty="0"/>
          </a:p>
        </p:txBody>
      </p:sp>
      <p:sp>
        <p:nvSpPr>
          <p:cNvPr id="5" name="Text 3"/>
          <p:cNvSpPr/>
          <p:nvPr/>
        </p:nvSpPr>
        <p:spPr>
          <a:xfrm>
            <a:off x="658368" y="713232"/>
            <a:ext cx="2651760" cy="164592"/>
          </a:xfrm>
          <a:prstGeom prst="rect">
            <a:avLst/>
          </a:prstGeom>
          <a:noFill/>
          <a:ln/>
        </p:spPr>
        <p:txBody>
          <a:bodyPr wrap="square" lIns="0" tIns="0" rIns="0" bIns="0" rtlCol="0" anchor="ctr"/>
          <a:lstStyle/>
          <a:p>
            <a:pPr indent="0" marL="0">
              <a:buNone/>
            </a:pPr>
            <a:r>
              <a:rPr lang="en-US" sz="750" b="1" dirty="0">
                <a:solidFill>
                  <a:srgbClr val="1E5BFF"/>
                </a:solidFill>
              </a:rPr>
              <a:t>USE OF FUNDS</a:t>
            </a:r>
            <a:endParaRPr lang="en-US" sz="750" dirty="0"/>
          </a:p>
        </p:txBody>
      </p:sp>
      <p:sp>
        <p:nvSpPr>
          <p:cNvPr id="6" name="Text 4"/>
          <p:cNvSpPr/>
          <p:nvPr/>
        </p:nvSpPr>
        <p:spPr>
          <a:xfrm>
            <a:off x="658368" y="932688"/>
            <a:ext cx="10789920" cy="530352"/>
          </a:xfrm>
          <a:prstGeom prst="rect">
            <a:avLst/>
          </a:prstGeom>
          <a:noFill/>
          <a:ln/>
        </p:spPr>
        <p:txBody>
          <a:bodyPr wrap="square" lIns="0" tIns="0" rIns="0" bIns="0" rtlCol="0" anchor="ctr">
            <a:normAutofit/>
          </a:bodyPr>
          <a:lstStyle/>
          <a:p>
            <a:pPr indent="0" marL="0">
              <a:buNone/>
            </a:pPr>
            <a:r>
              <a:rPr lang="en-US" sz="2500" b="1" dirty="0">
                <a:solidFill>
                  <a:srgbClr val="111827"/>
                </a:solidFill>
                <a:latin typeface="Aptos Display" pitchFamily="34" charset="0"/>
                <a:ea typeface="Aptos Display" pitchFamily="34" charset="-122"/>
                <a:cs typeface="Aptos Display" pitchFamily="34" charset="-120"/>
              </a:rPr>
              <a:t>Investment use of funds: concentrate spend on product trust and repeatable growth</a:t>
            </a:r>
            <a:endParaRPr lang="en-US" sz="2500" dirty="0"/>
          </a:p>
        </p:txBody>
      </p:sp>
      <p:sp>
        <p:nvSpPr>
          <p:cNvPr id="7" name="Shape 5"/>
          <p:cNvSpPr/>
          <p:nvPr/>
        </p:nvSpPr>
        <p:spPr>
          <a:xfrm>
            <a:off x="658368" y="1572768"/>
            <a:ext cx="1143000" cy="0"/>
          </a:xfrm>
          <a:prstGeom prst="line">
            <a:avLst/>
          </a:prstGeom>
          <a:noFill/>
          <a:ln w="25400">
            <a:solidFill>
              <a:srgbClr val="1E5BFF"/>
            </a:solidFill>
            <a:prstDash val="solid"/>
          </a:ln>
        </p:spPr>
      </p:sp>
      <p:sp>
        <p:nvSpPr>
          <p:cNvPr id="8" name="Text 6"/>
          <p:cNvSpPr/>
          <p:nvPr/>
        </p:nvSpPr>
        <p:spPr>
          <a:xfrm>
            <a:off x="475488" y="6473952"/>
            <a:ext cx="2011680" cy="164592"/>
          </a:xfrm>
          <a:prstGeom prst="rect">
            <a:avLst/>
          </a:prstGeom>
          <a:noFill/>
          <a:ln/>
        </p:spPr>
        <p:txBody>
          <a:bodyPr wrap="square" lIns="0" tIns="0" rIns="0" bIns="0" rtlCol="0" anchor="ctr"/>
          <a:lstStyle/>
          <a:p>
            <a:pPr indent="0" marL="0">
              <a:buNone/>
            </a:pPr>
            <a:r>
              <a:rPr lang="en-US" sz="700" dirty="0">
                <a:solidFill>
                  <a:srgbClr val="64748B"/>
                </a:solidFill>
              </a:rPr>
              <a:t>LokoAI confidential</a:t>
            </a:r>
            <a:endParaRPr lang="en-US" sz="700" dirty="0"/>
          </a:p>
        </p:txBody>
      </p:sp>
      <p:sp>
        <p:nvSpPr>
          <p:cNvPr id="9" name="Text 7"/>
          <p:cNvSpPr/>
          <p:nvPr/>
        </p:nvSpPr>
        <p:spPr>
          <a:xfrm>
            <a:off x="11201400" y="6446520"/>
            <a:ext cx="640080" cy="201168"/>
          </a:xfrm>
          <a:prstGeom prst="rect">
            <a:avLst/>
          </a:prstGeom>
          <a:noFill/>
          <a:ln/>
        </p:spPr>
        <p:txBody>
          <a:bodyPr wrap="square" lIns="0" tIns="0" rIns="0" bIns="0" rtlCol="0" anchor="ctr"/>
          <a:lstStyle/>
          <a:p>
            <a:pPr algn="r" indent="0" marL="0">
              <a:buNone/>
            </a:pPr>
            <a:r>
              <a:rPr lang="en-US" sz="800" b="1" dirty="0">
                <a:solidFill>
                  <a:srgbClr val="64748B"/>
                </a:solidFill>
              </a:rPr>
              <a:t>22</a:t>
            </a:r>
            <a:endParaRPr lang="en-US" sz="800" dirty="0"/>
          </a:p>
        </p:txBody>
      </p:sp>
      <p:sp>
        <p:nvSpPr>
          <p:cNvPr id="10" name="Text 8"/>
          <p:cNvSpPr/>
          <p:nvPr/>
        </p:nvSpPr>
        <p:spPr>
          <a:xfrm>
            <a:off x="2743200" y="6446520"/>
            <a:ext cx="6217920" cy="164592"/>
          </a:xfrm>
          <a:prstGeom prst="rect">
            <a:avLst/>
          </a:prstGeom>
          <a:noFill/>
          <a:ln/>
        </p:spPr>
        <p:txBody>
          <a:bodyPr wrap="square" lIns="0" tIns="0" rIns="0" bIns="0" rtlCol="0" anchor="ctr">
            <a:normAutofit/>
          </a:bodyPr>
          <a:lstStyle/>
          <a:p>
            <a:pPr algn="ctr" indent="0" marL="0">
              <a:buNone/>
            </a:pPr>
            <a:r>
              <a:rPr lang="en-US" sz="670" dirty="0">
                <a:solidFill>
                  <a:srgbClr val="7A8494"/>
                </a:solidFill>
              </a:rPr>
              <a:t>Source: Management allocation assumptions</a:t>
            </a:r>
            <a:endParaRPr lang="en-US" sz="670" dirty="0"/>
          </a:p>
        </p:txBody>
      </p:sp>
      <p:sp>
        <p:nvSpPr>
          <p:cNvPr id="11" name="Text 9"/>
          <p:cNvSpPr/>
          <p:nvPr/>
        </p:nvSpPr>
        <p:spPr>
          <a:xfrm>
            <a:off x="868680" y="2039112"/>
            <a:ext cx="1965960" cy="256032"/>
          </a:xfrm>
          <a:prstGeom prst="rect">
            <a:avLst/>
          </a:prstGeom>
          <a:noFill/>
          <a:ln/>
        </p:spPr>
        <p:txBody>
          <a:bodyPr wrap="square" lIns="0" tIns="0" rIns="0" bIns="0" rtlCol="0" anchor="ctr">
            <a:normAutofit/>
          </a:bodyPr>
          <a:lstStyle/>
          <a:p>
            <a:pPr indent="0" marL="0">
              <a:buNone/>
            </a:pPr>
            <a:r>
              <a:rPr lang="en-US" sz="850" dirty="0">
                <a:solidFill>
                  <a:srgbClr val="4B5563"/>
                </a:solidFill>
              </a:rPr>
              <a:t>Product &amp; engineering</a:t>
            </a:r>
            <a:endParaRPr lang="en-US" sz="850" dirty="0"/>
          </a:p>
        </p:txBody>
      </p:sp>
      <p:sp>
        <p:nvSpPr>
          <p:cNvPr id="12" name="Shape 10"/>
          <p:cNvSpPr/>
          <p:nvPr/>
        </p:nvSpPr>
        <p:spPr>
          <a:xfrm>
            <a:off x="2834640" y="2084832"/>
            <a:ext cx="2926080" cy="173736"/>
          </a:xfrm>
          <a:prstGeom prst="rect">
            <a:avLst/>
          </a:prstGeom>
          <a:solidFill>
            <a:srgbClr val="E7ECF3"/>
          </a:solidFill>
          <a:ln w="12700">
            <a:solidFill>
              <a:srgbClr val="E7ECF3"/>
            </a:solidFill>
            <a:prstDash val="solid"/>
          </a:ln>
        </p:spPr>
      </p:sp>
      <p:sp>
        <p:nvSpPr>
          <p:cNvPr id="13" name="Shape 11"/>
          <p:cNvSpPr/>
          <p:nvPr/>
        </p:nvSpPr>
        <p:spPr>
          <a:xfrm>
            <a:off x="2834640" y="2084832"/>
            <a:ext cx="2809037" cy="173736"/>
          </a:xfrm>
          <a:prstGeom prst="rect">
            <a:avLst/>
          </a:prstGeom>
          <a:solidFill>
            <a:srgbClr val="1E5BFF"/>
          </a:solidFill>
          <a:ln w="12700">
            <a:solidFill>
              <a:srgbClr val="1E5BFF"/>
            </a:solidFill>
            <a:prstDash val="solid"/>
          </a:ln>
        </p:spPr>
      </p:sp>
      <p:sp>
        <p:nvSpPr>
          <p:cNvPr id="14" name="Text 12"/>
          <p:cNvSpPr/>
          <p:nvPr/>
        </p:nvSpPr>
        <p:spPr>
          <a:xfrm>
            <a:off x="5852160" y="2039112"/>
            <a:ext cx="685800" cy="201168"/>
          </a:xfrm>
          <a:prstGeom prst="rect">
            <a:avLst/>
          </a:prstGeom>
          <a:noFill/>
          <a:ln/>
        </p:spPr>
        <p:txBody>
          <a:bodyPr wrap="square" lIns="0" tIns="0" rIns="0" bIns="0" rtlCol="0" anchor="ctr"/>
          <a:lstStyle/>
          <a:p>
            <a:pPr indent="0" marL="0">
              <a:buNone/>
            </a:pPr>
            <a:r>
              <a:rPr lang="en-US" sz="800" b="1" dirty="0">
                <a:solidFill>
                  <a:srgbClr val="111827"/>
                </a:solidFill>
              </a:rPr>
              <a:t>48%</a:t>
            </a:r>
            <a:endParaRPr lang="en-US" sz="800" dirty="0"/>
          </a:p>
        </p:txBody>
      </p:sp>
      <p:sp>
        <p:nvSpPr>
          <p:cNvPr id="15" name="Text 13"/>
          <p:cNvSpPr/>
          <p:nvPr/>
        </p:nvSpPr>
        <p:spPr>
          <a:xfrm>
            <a:off x="868680" y="2532888"/>
            <a:ext cx="1965960" cy="256032"/>
          </a:xfrm>
          <a:prstGeom prst="rect">
            <a:avLst/>
          </a:prstGeom>
          <a:noFill/>
          <a:ln/>
        </p:spPr>
        <p:txBody>
          <a:bodyPr wrap="square" lIns="0" tIns="0" rIns="0" bIns="0" rtlCol="0" anchor="ctr">
            <a:normAutofit/>
          </a:bodyPr>
          <a:lstStyle/>
          <a:p>
            <a:pPr indent="0" marL="0">
              <a:buNone/>
            </a:pPr>
            <a:r>
              <a:rPr lang="en-US" sz="850" dirty="0">
                <a:solidFill>
                  <a:srgbClr val="4B5563"/>
                </a:solidFill>
              </a:rPr>
              <a:t>AI infrastructure</a:t>
            </a:r>
            <a:endParaRPr lang="en-US" sz="850" dirty="0"/>
          </a:p>
        </p:txBody>
      </p:sp>
      <p:sp>
        <p:nvSpPr>
          <p:cNvPr id="16" name="Shape 14"/>
          <p:cNvSpPr/>
          <p:nvPr/>
        </p:nvSpPr>
        <p:spPr>
          <a:xfrm>
            <a:off x="2834640" y="2578608"/>
            <a:ext cx="2926080" cy="173736"/>
          </a:xfrm>
          <a:prstGeom prst="rect">
            <a:avLst/>
          </a:prstGeom>
          <a:solidFill>
            <a:srgbClr val="E7ECF3"/>
          </a:solidFill>
          <a:ln w="12700">
            <a:solidFill>
              <a:srgbClr val="E7ECF3"/>
            </a:solidFill>
            <a:prstDash val="solid"/>
          </a:ln>
        </p:spPr>
      </p:sp>
      <p:sp>
        <p:nvSpPr>
          <p:cNvPr id="17" name="Shape 15"/>
          <p:cNvSpPr/>
          <p:nvPr/>
        </p:nvSpPr>
        <p:spPr>
          <a:xfrm>
            <a:off x="2834640" y="2578608"/>
            <a:ext cx="1053389" cy="173736"/>
          </a:xfrm>
          <a:prstGeom prst="rect">
            <a:avLst/>
          </a:prstGeom>
          <a:solidFill>
            <a:srgbClr val="16B8C7"/>
          </a:solidFill>
          <a:ln w="12700">
            <a:solidFill>
              <a:srgbClr val="16B8C7"/>
            </a:solidFill>
            <a:prstDash val="solid"/>
          </a:ln>
        </p:spPr>
      </p:sp>
      <p:sp>
        <p:nvSpPr>
          <p:cNvPr id="18" name="Text 16"/>
          <p:cNvSpPr/>
          <p:nvPr/>
        </p:nvSpPr>
        <p:spPr>
          <a:xfrm>
            <a:off x="5852160" y="2532888"/>
            <a:ext cx="685800" cy="201168"/>
          </a:xfrm>
          <a:prstGeom prst="rect">
            <a:avLst/>
          </a:prstGeom>
          <a:noFill/>
          <a:ln/>
        </p:spPr>
        <p:txBody>
          <a:bodyPr wrap="square" lIns="0" tIns="0" rIns="0" bIns="0" rtlCol="0" anchor="ctr"/>
          <a:lstStyle/>
          <a:p>
            <a:pPr indent="0" marL="0">
              <a:buNone/>
            </a:pPr>
            <a:r>
              <a:rPr lang="en-US" sz="800" b="1" dirty="0">
                <a:solidFill>
                  <a:srgbClr val="111827"/>
                </a:solidFill>
              </a:rPr>
              <a:t>18%</a:t>
            </a:r>
            <a:endParaRPr lang="en-US" sz="800" dirty="0"/>
          </a:p>
        </p:txBody>
      </p:sp>
      <p:sp>
        <p:nvSpPr>
          <p:cNvPr id="19" name="Text 17"/>
          <p:cNvSpPr/>
          <p:nvPr/>
        </p:nvSpPr>
        <p:spPr>
          <a:xfrm>
            <a:off x="868680" y="3026664"/>
            <a:ext cx="1965960" cy="256032"/>
          </a:xfrm>
          <a:prstGeom prst="rect">
            <a:avLst/>
          </a:prstGeom>
          <a:noFill/>
          <a:ln/>
        </p:spPr>
        <p:txBody>
          <a:bodyPr wrap="square" lIns="0" tIns="0" rIns="0" bIns="0" rtlCol="0" anchor="ctr">
            <a:normAutofit/>
          </a:bodyPr>
          <a:lstStyle/>
          <a:p>
            <a:pPr indent="0" marL="0">
              <a:buNone/>
            </a:pPr>
            <a:r>
              <a:rPr lang="en-US" sz="850" dirty="0">
                <a:solidFill>
                  <a:srgbClr val="4B5563"/>
                </a:solidFill>
              </a:rPr>
              <a:t>GTM &amp; community</a:t>
            </a:r>
            <a:endParaRPr lang="en-US" sz="850" dirty="0"/>
          </a:p>
        </p:txBody>
      </p:sp>
      <p:sp>
        <p:nvSpPr>
          <p:cNvPr id="20" name="Shape 18"/>
          <p:cNvSpPr/>
          <p:nvPr/>
        </p:nvSpPr>
        <p:spPr>
          <a:xfrm>
            <a:off x="2834640" y="3072384"/>
            <a:ext cx="2926080" cy="173736"/>
          </a:xfrm>
          <a:prstGeom prst="rect">
            <a:avLst/>
          </a:prstGeom>
          <a:solidFill>
            <a:srgbClr val="E7ECF3"/>
          </a:solidFill>
          <a:ln w="12700">
            <a:solidFill>
              <a:srgbClr val="E7ECF3"/>
            </a:solidFill>
            <a:prstDash val="solid"/>
          </a:ln>
        </p:spPr>
      </p:sp>
      <p:sp>
        <p:nvSpPr>
          <p:cNvPr id="21" name="Shape 19"/>
          <p:cNvSpPr/>
          <p:nvPr/>
        </p:nvSpPr>
        <p:spPr>
          <a:xfrm>
            <a:off x="2834640" y="3072384"/>
            <a:ext cx="936346" cy="173736"/>
          </a:xfrm>
          <a:prstGeom prst="rect">
            <a:avLst/>
          </a:prstGeom>
          <a:solidFill>
            <a:srgbClr val="10A37F"/>
          </a:solidFill>
          <a:ln w="12700">
            <a:solidFill>
              <a:srgbClr val="10A37F"/>
            </a:solidFill>
            <a:prstDash val="solid"/>
          </a:ln>
        </p:spPr>
      </p:sp>
      <p:sp>
        <p:nvSpPr>
          <p:cNvPr id="22" name="Text 20"/>
          <p:cNvSpPr/>
          <p:nvPr/>
        </p:nvSpPr>
        <p:spPr>
          <a:xfrm>
            <a:off x="5852160" y="3026664"/>
            <a:ext cx="685800" cy="201168"/>
          </a:xfrm>
          <a:prstGeom prst="rect">
            <a:avLst/>
          </a:prstGeom>
          <a:noFill/>
          <a:ln/>
        </p:spPr>
        <p:txBody>
          <a:bodyPr wrap="square" lIns="0" tIns="0" rIns="0" bIns="0" rtlCol="0" anchor="ctr"/>
          <a:lstStyle/>
          <a:p>
            <a:pPr indent="0" marL="0">
              <a:buNone/>
            </a:pPr>
            <a:r>
              <a:rPr lang="en-US" sz="800" b="1" dirty="0">
                <a:solidFill>
                  <a:srgbClr val="111827"/>
                </a:solidFill>
              </a:rPr>
              <a:t>16%</a:t>
            </a:r>
            <a:endParaRPr lang="en-US" sz="800" dirty="0"/>
          </a:p>
        </p:txBody>
      </p:sp>
      <p:sp>
        <p:nvSpPr>
          <p:cNvPr id="23" name="Text 21"/>
          <p:cNvSpPr/>
          <p:nvPr/>
        </p:nvSpPr>
        <p:spPr>
          <a:xfrm>
            <a:off x="868680" y="3520440"/>
            <a:ext cx="1965960" cy="256032"/>
          </a:xfrm>
          <a:prstGeom prst="rect">
            <a:avLst/>
          </a:prstGeom>
          <a:noFill/>
          <a:ln/>
        </p:spPr>
        <p:txBody>
          <a:bodyPr wrap="square" lIns="0" tIns="0" rIns="0" bIns="0" rtlCol="0" anchor="ctr">
            <a:normAutofit/>
          </a:bodyPr>
          <a:lstStyle/>
          <a:p>
            <a:pPr indent="0" marL="0">
              <a:buNone/>
            </a:pPr>
            <a:r>
              <a:rPr lang="en-US" sz="850" dirty="0">
                <a:solidFill>
                  <a:srgbClr val="4B5563"/>
                </a:solidFill>
              </a:rPr>
              <a:t>Security/compliance</a:t>
            </a:r>
            <a:endParaRPr lang="en-US" sz="850" dirty="0"/>
          </a:p>
        </p:txBody>
      </p:sp>
      <p:sp>
        <p:nvSpPr>
          <p:cNvPr id="24" name="Shape 22"/>
          <p:cNvSpPr/>
          <p:nvPr/>
        </p:nvSpPr>
        <p:spPr>
          <a:xfrm>
            <a:off x="2834640" y="3566160"/>
            <a:ext cx="2926080" cy="173736"/>
          </a:xfrm>
          <a:prstGeom prst="rect">
            <a:avLst/>
          </a:prstGeom>
          <a:solidFill>
            <a:srgbClr val="E7ECF3"/>
          </a:solidFill>
          <a:ln w="12700">
            <a:solidFill>
              <a:srgbClr val="E7ECF3"/>
            </a:solidFill>
            <a:prstDash val="solid"/>
          </a:ln>
        </p:spPr>
      </p:sp>
      <p:sp>
        <p:nvSpPr>
          <p:cNvPr id="25" name="Shape 23"/>
          <p:cNvSpPr/>
          <p:nvPr/>
        </p:nvSpPr>
        <p:spPr>
          <a:xfrm>
            <a:off x="2834640" y="3566160"/>
            <a:ext cx="585216" cy="173736"/>
          </a:xfrm>
          <a:prstGeom prst="rect">
            <a:avLst/>
          </a:prstGeom>
          <a:solidFill>
            <a:srgbClr val="F59E0B"/>
          </a:solidFill>
          <a:ln w="12700">
            <a:solidFill>
              <a:srgbClr val="F59E0B"/>
            </a:solidFill>
            <a:prstDash val="solid"/>
          </a:ln>
        </p:spPr>
      </p:sp>
      <p:sp>
        <p:nvSpPr>
          <p:cNvPr id="26" name="Text 24"/>
          <p:cNvSpPr/>
          <p:nvPr/>
        </p:nvSpPr>
        <p:spPr>
          <a:xfrm>
            <a:off x="5852160" y="3520440"/>
            <a:ext cx="685800" cy="201168"/>
          </a:xfrm>
          <a:prstGeom prst="rect">
            <a:avLst/>
          </a:prstGeom>
          <a:noFill/>
          <a:ln/>
        </p:spPr>
        <p:txBody>
          <a:bodyPr wrap="square" lIns="0" tIns="0" rIns="0" bIns="0" rtlCol="0" anchor="ctr"/>
          <a:lstStyle/>
          <a:p>
            <a:pPr indent="0" marL="0">
              <a:buNone/>
            </a:pPr>
            <a:r>
              <a:rPr lang="en-US" sz="800" b="1" dirty="0">
                <a:solidFill>
                  <a:srgbClr val="111827"/>
                </a:solidFill>
              </a:rPr>
              <a:t>10%</a:t>
            </a:r>
            <a:endParaRPr lang="en-US" sz="800" dirty="0"/>
          </a:p>
        </p:txBody>
      </p:sp>
      <p:sp>
        <p:nvSpPr>
          <p:cNvPr id="27" name="Text 25"/>
          <p:cNvSpPr/>
          <p:nvPr/>
        </p:nvSpPr>
        <p:spPr>
          <a:xfrm>
            <a:off x="868680" y="4014216"/>
            <a:ext cx="1965960" cy="256032"/>
          </a:xfrm>
          <a:prstGeom prst="rect">
            <a:avLst/>
          </a:prstGeom>
          <a:noFill/>
          <a:ln/>
        </p:spPr>
        <p:txBody>
          <a:bodyPr wrap="square" lIns="0" tIns="0" rIns="0" bIns="0" rtlCol="0" anchor="ctr">
            <a:normAutofit/>
          </a:bodyPr>
          <a:lstStyle/>
          <a:p>
            <a:pPr indent="0" marL="0">
              <a:buNone/>
            </a:pPr>
            <a:r>
              <a:rPr lang="en-US" sz="850" dirty="0">
                <a:solidFill>
                  <a:srgbClr val="4B5563"/>
                </a:solidFill>
              </a:rPr>
              <a:t>Ops reserve</a:t>
            </a:r>
            <a:endParaRPr lang="en-US" sz="850" dirty="0"/>
          </a:p>
        </p:txBody>
      </p:sp>
      <p:sp>
        <p:nvSpPr>
          <p:cNvPr id="28" name="Shape 26"/>
          <p:cNvSpPr/>
          <p:nvPr/>
        </p:nvSpPr>
        <p:spPr>
          <a:xfrm>
            <a:off x="2834640" y="4059936"/>
            <a:ext cx="2926080" cy="173736"/>
          </a:xfrm>
          <a:prstGeom prst="rect">
            <a:avLst/>
          </a:prstGeom>
          <a:solidFill>
            <a:srgbClr val="E7ECF3"/>
          </a:solidFill>
          <a:ln w="12700">
            <a:solidFill>
              <a:srgbClr val="E7ECF3"/>
            </a:solidFill>
            <a:prstDash val="solid"/>
          </a:ln>
        </p:spPr>
      </p:sp>
      <p:sp>
        <p:nvSpPr>
          <p:cNvPr id="29" name="Shape 27"/>
          <p:cNvSpPr/>
          <p:nvPr/>
        </p:nvSpPr>
        <p:spPr>
          <a:xfrm>
            <a:off x="2834640" y="4059936"/>
            <a:ext cx="468173" cy="173736"/>
          </a:xfrm>
          <a:prstGeom prst="rect">
            <a:avLst/>
          </a:prstGeom>
          <a:solidFill>
            <a:srgbClr val="E11D48"/>
          </a:solidFill>
          <a:ln w="12700">
            <a:solidFill>
              <a:srgbClr val="E11D48"/>
            </a:solidFill>
            <a:prstDash val="solid"/>
          </a:ln>
        </p:spPr>
      </p:sp>
      <p:sp>
        <p:nvSpPr>
          <p:cNvPr id="30" name="Text 28"/>
          <p:cNvSpPr/>
          <p:nvPr/>
        </p:nvSpPr>
        <p:spPr>
          <a:xfrm>
            <a:off x="5852160" y="4014216"/>
            <a:ext cx="685800" cy="201168"/>
          </a:xfrm>
          <a:prstGeom prst="rect">
            <a:avLst/>
          </a:prstGeom>
          <a:noFill/>
          <a:ln/>
        </p:spPr>
        <p:txBody>
          <a:bodyPr wrap="square" lIns="0" tIns="0" rIns="0" bIns="0" rtlCol="0" anchor="ctr"/>
          <a:lstStyle/>
          <a:p>
            <a:pPr indent="0" marL="0">
              <a:buNone/>
            </a:pPr>
            <a:r>
              <a:rPr lang="en-US" sz="800" b="1" dirty="0">
                <a:solidFill>
                  <a:srgbClr val="111827"/>
                </a:solidFill>
              </a:rPr>
              <a:t>8%</a:t>
            </a:r>
            <a:endParaRPr lang="en-US" sz="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720840" y="1874520"/>
          <a:ext cx="4709160" cy="3063240"/>
        </p:xfrm>
        <a:graphic>
          <a:graphicData uri="http://schemas.openxmlformats.org/drawingml/2006/table">
            <a:tbl>
              <a:tblPr/>
              <a:tblGrid>
                <a:gridCol w="1645920"/>
                <a:gridCol w="914400"/>
                <a:gridCol w="3063240"/>
              </a:tblGrid>
              <a:tr h="510540">
                <a:tc>
                  <a:txBody>
                    <a:bodyPr/>
                    <a:lstStyle/>
                    <a:p>
                      <a:pPr indent="0" marL="0">
                        <a:buNone/>
                      </a:pPr>
                      <a:r>
                        <a:rPr lang="en-US" sz="850" b="1" dirty="0">
                          <a:solidFill>
                            <a:srgbClr val="FFFFFF"/>
                          </a:solidFill>
                        </a:rPr>
                        <a:t>Category</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Allocation</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Key outputs</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r>
              <a:tr h="510540">
                <a:tc>
                  <a:txBody>
                    <a:bodyPr/>
                    <a:lstStyle/>
                    <a:p>
                      <a:pPr indent="0" marL="0">
                        <a:buNone/>
                      </a:pPr>
                      <a:r>
                        <a:rPr lang="en-US" sz="800" dirty="0">
                          <a:solidFill>
                            <a:srgbClr val="111827"/>
                          </a:solidFill>
                        </a:rPr>
                        <a:t>Product &amp; engineering</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48%</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Builder workspace, team collaboration, evals, deployment workflows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r>
              <a:tr h="510540">
                <a:tc>
                  <a:txBody>
                    <a:bodyPr/>
                    <a:lstStyle/>
                    <a:p>
                      <a:pPr indent="0" marL="0">
                        <a:buNone/>
                      </a:pPr>
                      <a:r>
                        <a:rPr lang="en-US" sz="800" dirty="0">
                          <a:solidFill>
                            <a:srgbClr val="111827"/>
                          </a:solidFill>
                        </a:rPr>
                        <a:t>AI infrastructure</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18%</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Model credits, routing, caching, sandbox execution, observability</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r>
              <a:tr h="510540">
                <a:tc>
                  <a:txBody>
                    <a:bodyPr/>
                    <a:lstStyle/>
                    <a:p>
                      <a:pPr indent="0" marL="0">
                        <a:buNone/>
                      </a:pPr>
                      <a:r>
                        <a:rPr lang="en-US" sz="800" dirty="0">
                          <a:solidFill>
                            <a:srgbClr val="111827"/>
                          </a:solidFill>
                        </a:rPr>
                        <a:t>GTM &amp; community</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16%</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Templates, launches, content, founder programs, design partners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r>
              <a:tr h="510540">
                <a:tc>
                  <a:txBody>
                    <a:bodyPr/>
                    <a:lstStyle/>
                    <a:p>
                      <a:pPr indent="0" marL="0">
                        <a:buNone/>
                      </a:pPr>
                      <a:r>
                        <a:rPr lang="en-US" sz="800" dirty="0">
                          <a:solidFill>
                            <a:srgbClr val="111827"/>
                          </a:solidFill>
                        </a:rPr>
                        <a:t>Security/compliance</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10%</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SSO, audit logs, SOC2 readiness, policy controls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r>
              <a:tr h="510540">
                <a:tc>
                  <a:txBody>
                    <a:bodyPr/>
                    <a:lstStyle/>
                    <a:p>
                      <a:pPr indent="0" marL="0">
                        <a:buNone/>
                      </a:pPr>
                      <a:r>
                        <a:rPr lang="en-US" sz="800" dirty="0">
                          <a:solidFill>
                            <a:srgbClr val="111827"/>
                          </a:solidFill>
                        </a:rPr>
                        <a:t>Ops reserve</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8%</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Legal, finance, customer support, contingency</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75488" y="347472"/>
            <a:ext cx="201168" cy="201168"/>
          </a:xfrm>
          <a:prstGeom prst="rect">
            <a:avLst/>
          </a:prstGeom>
          <a:solidFill>
            <a:srgbClr val="1E5BFF"/>
          </a:solidFill>
          <a:ln w="12700">
            <a:solidFill>
              <a:srgbClr val="1E5BFF"/>
            </a:solidFill>
            <a:prstDash val="solid"/>
          </a:ln>
        </p:spPr>
      </p:sp>
      <p:sp>
        <p:nvSpPr>
          <p:cNvPr id="3" name="Shape 1"/>
          <p:cNvSpPr/>
          <p:nvPr/>
        </p:nvSpPr>
        <p:spPr>
          <a:xfrm>
            <a:off x="713232" y="347472"/>
            <a:ext cx="201168" cy="201168"/>
          </a:xfrm>
          <a:prstGeom prst="rect">
            <a:avLst/>
          </a:prstGeom>
          <a:solidFill>
            <a:srgbClr val="16B8C7"/>
          </a:solidFill>
          <a:ln w="12700">
            <a:solidFill>
              <a:srgbClr val="16B8C7"/>
            </a:solidFill>
            <a:prstDash val="solid"/>
          </a:ln>
        </p:spPr>
      </p:sp>
      <p:sp>
        <p:nvSpPr>
          <p:cNvPr id="4" name="Text 2"/>
          <p:cNvSpPr/>
          <p:nvPr/>
        </p:nvSpPr>
        <p:spPr>
          <a:xfrm>
            <a:off x="987552" y="310896"/>
            <a:ext cx="1097280" cy="228600"/>
          </a:xfrm>
          <a:prstGeom prst="rect">
            <a:avLst/>
          </a:prstGeom>
          <a:noFill/>
          <a:ln/>
        </p:spPr>
        <p:txBody>
          <a:bodyPr wrap="square" lIns="0" tIns="0" rIns="0" bIns="0" rtlCol="0" anchor="ctr"/>
          <a:lstStyle/>
          <a:p>
            <a:pPr indent="0" marL="0">
              <a:buNone/>
            </a:pPr>
            <a:r>
              <a:rPr lang="en-US" sz="1000" b="1" dirty="0">
                <a:solidFill>
                  <a:srgbClr val="111827"/>
                </a:solidFill>
              </a:rPr>
              <a:t>LokoAI</a:t>
            </a:r>
            <a:endParaRPr lang="en-US" sz="1000" dirty="0"/>
          </a:p>
        </p:txBody>
      </p:sp>
      <p:sp>
        <p:nvSpPr>
          <p:cNvPr id="5" name="Text 3"/>
          <p:cNvSpPr/>
          <p:nvPr/>
        </p:nvSpPr>
        <p:spPr>
          <a:xfrm>
            <a:off x="658368" y="713232"/>
            <a:ext cx="2651760" cy="164592"/>
          </a:xfrm>
          <a:prstGeom prst="rect">
            <a:avLst/>
          </a:prstGeom>
          <a:noFill/>
          <a:ln/>
        </p:spPr>
        <p:txBody>
          <a:bodyPr wrap="square" lIns="0" tIns="0" rIns="0" bIns="0" rtlCol="0" anchor="ctr"/>
          <a:lstStyle/>
          <a:p>
            <a:pPr indent="0" marL="0">
              <a:buNone/>
            </a:pPr>
            <a:r>
              <a:rPr lang="en-US" sz="750" b="1" dirty="0">
                <a:solidFill>
                  <a:srgbClr val="1E5BFF"/>
                </a:solidFill>
              </a:rPr>
              <a:t>FUTURE VISION</a:t>
            </a:r>
            <a:endParaRPr lang="en-US" sz="750" dirty="0"/>
          </a:p>
        </p:txBody>
      </p:sp>
      <p:sp>
        <p:nvSpPr>
          <p:cNvPr id="6" name="Text 4"/>
          <p:cNvSpPr/>
          <p:nvPr/>
        </p:nvSpPr>
        <p:spPr>
          <a:xfrm>
            <a:off x="658368" y="932688"/>
            <a:ext cx="10789920" cy="530352"/>
          </a:xfrm>
          <a:prstGeom prst="rect">
            <a:avLst/>
          </a:prstGeom>
          <a:noFill/>
          <a:ln/>
        </p:spPr>
        <p:txBody>
          <a:bodyPr wrap="square" lIns="0" tIns="0" rIns="0" bIns="0" rtlCol="0" anchor="ctr">
            <a:normAutofit/>
          </a:bodyPr>
          <a:lstStyle/>
          <a:p>
            <a:pPr indent="0" marL="0">
              <a:buNone/>
            </a:pPr>
            <a:r>
              <a:rPr lang="en-US" sz="2500" b="1" dirty="0">
                <a:solidFill>
                  <a:srgbClr val="111827"/>
                </a:solidFill>
                <a:latin typeface="Aptos Display" pitchFamily="34" charset="0"/>
                <a:ea typeface="Aptos Display" pitchFamily="34" charset="-122"/>
                <a:cs typeface="Aptos Display" pitchFamily="34" charset="-120"/>
              </a:rPr>
              <a:t>Future vision: LokoAI becomes the trusted AI delivery layer for software and digital work</a:t>
            </a:r>
            <a:endParaRPr lang="en-US" sz="2500" dirty="0"/>
          </a:p>
        </p:txBody>
      </p:sp>
      <p:sp>
        <p:nvSpPr>
          <p:cNvPr id="7" name="Shape 5"/>
          <p:cNvSpPr/>
          <p:nvPr/>
        </p:nvSpPr>
        <p:spPr>
          <a:xfrm>
            <a:off x="658368" y="1572768"/>
            <a:ext cx="1143000" cy="0"/>
          </a:xfrm>
          <a:prstGeom prst="line">
            <a:avLst/>
          </a:prstGeom>
          <a:noFill/>
          <a:ln w="25400">
            <a:solidFill>
              <a:srgbClr val="1E5BFF"/>
            </a:solidFill>
            <a:prstDash val="solid"/>
          </a:ln>
        </p:spPr>
      </p:sp>
      <p:sp>
        <p:nvSpPr>
          <p:cNvPr id="8" name="Text 6"/>
          <p:cNvSpPr/>
          <p:nvPr/>
        </p:nvSpPr>
        <p:spPr>
          <a:xfrm>
            <a:off x="475488" y="6473952"/>
            <a:ext cx="2011680" cy="164592"/>
          </a:xfrm>
          <a:prstGeom prst="rect">
            <a:avLst/>
          </a:prstGeom>
          <a:noFill/>
          <a:ln/>
        </p:spPr>
        <p:txBody>
          <a:bodyPr wrap="square" lIns="0" tIns="0" rIns="0" bIns="0" rtlCol="0" anchor="ctr"/>
          <a:lstStyle/>
          <a:p>
            <a:pPr indent="0" marL="0">
              <a:buNone/>
            </a:pPr>
            <a:r>
              <a:rPr lang="en-US" sz="700" dirty="0">
                <a:solidFill>
                  <a:srgbClr val="64748B"/>
                </a:solidFill>
              </a:rPr>
              <a:t>LokoAI confidential</a:t>
            </a:r>
            <a:endParaRPr lang="en-US" sz="700" dirty="0"/>
          </a:p>
        </p:txBody>
      </p:sp>
      <p:sp>
        <p:nvSpPr>
          <p:cNvPr id="9" name="Text 7"/>
          <p:cNvSpPr/>
          <p:nvPr/>
        </p:nvSpPr>
        <p:spPr>
          <a:xfrm>
            <a:off x="11201400" y="6446520"/>
            <a:ext cx="640080" cy="201168"/>
          </a:xfrm>
          <a:prstGeom prst="rect">
            <a:avLst/>
          </a:prstGeom>
          <a:noFill/>
          <a:ln/>
        </p:spPr>
        <p:txBody>
          <a:bodyPr wrap="square" lIns="0" tIns="0" rIns="0" bIns="0" rtlCol="0" anchor="ctr"/>
          <a:lstStyle/>
          <a:p>
            <a:pPr algn="r" indent="0" marL="0">
              <a:buNone/>
            </a:pPr>
            <a:r>
              <a:rPr lang="en-US" sz="800" b="1" dirty="0">
                <a:solidFill>
                  <a:srgbClr val="64748B"/>
                </a:solidFill>
              </a:rPr>
              <a:t>23</a:t>
            </a:r>
            <a:endParaRPr lang="en-US" sz="800" dirty="0"/>
          </a:p>
        </p:txBody>
      </p:sp>
      <p:sp>
        <p:nvSpPr>
          <p:cNvPr id="10" name="Text 8"/>
          <p:cNvSpPr/>
          <p:nvPr/>
        </p:nvSpPr>
        <p:spPr>
          <a:xfrm>
            <a:off x="2743200" y="6446520"/>
            <a:ext cx="6217920" cy="164592"/>
          </a:xfrm>
          <a:prstGeom prst="rect">
            <a:avLst/>
          </a:prstGeom>
          <a:noFill/>
          <a:ln/>
        </p:spPr>
        <p:txBody>
          <a:bodyPr wrap="square" lIns="0" tIns="0" rIns="0" bIns="0" rtlCol="0" anchor="ctr">
            <a:normAutofit/>
          </a:bodyPr>
          <a:lstStyle/>
          <a:p>
            <a:pPr algn="ctr" indent="0" marL="0">
              <a:buNone/>
            </a:pPr>
            <a:r>
              <a:rPr lang="en-US" sz="670" dirty="0">
                <a:solidFill>
                  <a:srgbClr val="7A8494"/>
                </a:solidFill>
              </a:rPr>
              <a:t>Source: Strategic vision</a:t>
            </a:r>
            <a:endParaRPr lang="en-US" sz="670" dirty="0"/>
          </a:p>
        </p:txBody>
      </p:sp>
      <p:sp>
        <p:nvSpPr>
          <p:cNvPr id="11" name="Shape 9"/>
          <p:cNvSpPr/>
          <p:nvPr/>
        </p:nvSpPr>
        <p:spPr>
          <a:xfrm>
            <a:off x="804672" y="1828800"/>
            <a:ext cx="3429000" cy="1280160"/>
          </a:xfrm>
          <a:prstGeom prst="rect">
            <a:avLst/>
          </a:prstGeom>
          <a:solidFill>
            <a:srgbClr val="FFFFFF"/>
          </a:solidFill>
          <a:ln w="12700">
            <a:solidFill>
              <a:srgbClr val="D7DEE8">
                <a:alpha val="80000"/>
              </a:srgbClr>
            </a:solidFill>
            <a:prstDash val="solid"/>
          </a:ln>
        </p:spPr>
      </p:sp>
      <p:sp>
        <p:nvSpPr>
          <p:cNvPr id="12" name="Shape 10"/>
          <p:cNvSpPr/>
          <p:nvPr/>
        </p:nvSpPr>
        <p:spPr>
          <a:xfrm>
            <a:off x="804672" y="1828800"/>
            <a:ext cx="73152" cy="1280160"/>
          </a:xfrm>
          <a:prstGeom prst="rect">
            <a:avLst/>
          </a:prstGeom>
          <a:solidFill>
            <a:srgbClr val="1E5BFF"/>
          </a:solidFill>
          <a:ln w="12700">
            <a:solidFill>
              <a:srgbClr val="1E5BFF"/>
            </a:solidFill>
            <a:prstDash val="solid"/>
          </a:ln>
        </p:spPr>
      </p:sp>
      <p:sp>
        <p:nvSpPr>
          <p:cNvPr id="13" name="Text 11"/>
          <p:cNvSpPr/>
          <p:nvPr/>
        </p:nvSpPr>
        <p:spPr>
          <a:xfrm>
            <a:off x="1033272" y="1993392"/>
            <a:ext cx="3063240" cy="256032"/>
          </a:xfrm>
          <a:prstGeom prst="rect">
            <a:avLst/>
          </a:prstGeom>
          <a:noFill/>
          <a:ln/>
        </p:spPr>
        <p:txBody>
          <a:bodyPr wrap="square" lIns="0" tIns="0" rIns="0" bIns="0" rtlCol="0" anchor="ctr"/>
          <a:lstStyle/>
          <a:p>
            <a:pPr indent="0" marL="0">
              <a:buNone/>
            </a:pPr>
            <a:r>
              <a:rPr lang="en-US" sz="1150" b="1" dirty="0">
                <a:solidFill>
                  <a:srgbClr val="111827"/>
                </a:solidFill>
              </a:rPr>
              <a:t>From prompts to products</a:t>
            </a:r>
            <a:endParaRPr lang="en-US" sz="1150" dirty="0"/>
          </a:p>
        </p:txBody>
      </p:sp>
      <p:sp>
        <p:nvSpPr>
          <p:cNvPr id="14" name="Text 12"/>
          <p:cNvSpPr/>
          <p:nvPr/>
        </p:nvSpPr>
        <p:spPr>
          <a:xfrm>
            <a:off x="1033272" y="2359152"/>
            <a:ext cx="3063240" cy="640080"/>
          </a:xfrm>
          <a:prstGeom prst="rect">
            <a:avLst/>
          </a:prstGeom>
          <a:noFill/>
          <a:ln/>
        </p:spPr>
        <p:txBody>
          <a:bodyPr wrap="square" lIns="0" tIns="0" rIns="0" bIns="0" rtlCol="0" anchor="ctr">
            <a:normAutofit/>
          </a:bodyPr>
          <a:lstStyle/>
          <a:p>
            <a:pPr indent="0" marL="0">
              <a:buNone/>
            </a:pPr>
            <a:r>
              <a:rPr lang="en-US" sz="870" dirty="0">
                <a:solidFill>
                  <a:srgbClr val="4B5563"/>
                </a:solidFill>
              </a:rPr>
              <a:t>Every user can describe a business need and receive a working, reviewable, deployable software artifact.</a:t>
            </a:r>
            <a:endParaRPr lang="en-US" sz="870" dirty="0"/>
          </a:p>
        </p:txBody>
      </p:sp>
      <p:sp>
        <p:nvSpPr>
          <p:cNvPr id="15" name="Shape 13"/>
          <p:cNvSpPr/>
          <p:nvPr/>
        </p:nvSpPr>
        <p:spPr>
          <a:xfrm>
            <a:off x="4462272" y="1828800"/>
            <a:ext cx="3429000" cy="1280160"/>
          </a:xfrm>
          <a:prstGeom prst="rect">
            <a:avLst/>
          </a:prstGeom>
          <a:solidFill>
            <a:srgbClr val="FFFFFF"/>
          </a:solidFill>
          <a:ln w="12700">
            <a:solidFill>
              <a:srgbClr val="D7DEE8">
                <a:alpha val="80000"/>
              </a:srgbClr>
            </a:solidFill>
            <a:prstDash val="solid"/>
          </a:ln>
        </p:spPr>
      </p:sp>
      <p:sp>
        <p:nvSpPr>
          <p:cNvPr id="16" name="Shape 14"/>
          <p:cNvSpPr/>
          <p:nvPr/>
        </p:nvSpPr>
        <p:spPr>
          <a:xfrm>
            <a:off x="4462272" y="1828800"/>
            <a:ext cx="73152" cy="1280160"/>
          </a:xfrm>
          <a:prstGeom prst="rect">
            <a:avLst/>
          </a:prstGeom>
          <a:solidFill>
            <a:srgbClr val="16B8C7"/>
          </a:solidFill>
          <a:ln w="12700">
            <a:solidFill>
              <a:srgbClr val="16B8C7"/>
            </a:solidFill>
            <a:prstDash val="solid"/>
          </a:ln>
        </p:spPr>
      </p:sp>
      <p:sp>
        <p:nvSpPr>
          <p:cNvPr id="17" name="Text 15"/>
          <p:cNvSpPr/>
          <p:nvPr/>
        </p:nvSpPr>
        <p:spPr>
          <a:xfrm>
            <a:off x="4690872" y="1993392"/>
            <a:ext cx="3063240" cy="256032"/>
          </a:xfrm>
          <a:prstGeom prst="rect">
            <a:avLst/>
          </a:prstGeom>
          <a:noFill/>
          <a:ln/>
        </p:spPr>
        <p:txBody>
          <a:bodyPr wrap="square" lIns="0" tIns="0" rIns="0" bIns="0" rtlCol="0" anchor="ctr"/>
          <a:lstStyle/>
          <a:p>
            <a:pPr indent="0" marL="0">
              <a:buNone/>
            </a:pPr>
            <a:r>
              <a:rPr lang="en-US" sz="1150" b="1" dirty="0">
                <a:solidFill>
                  <a:srgbClr val="111827"/>
                </a:solidFill>
              </a:rPr>
              <a:t>From projects to systems</a:t>
            </a:r>
            <a:endParaRPr lang="en-US" sz="1150" dirty="0"/>
          </a:p>
        </p:txBody>
      </p:sp>
      <p:sp>
        <p:nvSpPr>
          <p:cNvPr id="18" name="Text 16"/>
          <p:cNvSpPr/>
          <p:nvPr/>
        </p:nvSpPr>
        <p:spPr>
          <a:xfrm>
            <a:off x="4690872" y="2359152"/>
            <a:ext cx="3063240" cy="640080"/>
          </a:xfrm>
          <a:prstGeom prst="rect">
            <a:avLst/>
          </a:prstGeom>
          <a:noFill/>
          <a:ln/>
        </p:spPr>
        <p:txBody>
          <a:bodyPr wrap="square" lIns="0" tIns="0" rIns="0" bIns="0" rtlCol="0" anchor="ctr">
            <a:normAutofit/>
          </a:bodyPr>
          <a:lstStyle/>
          <a:p>
            <a:pPr indent="0" marL="0">
              <a:buNone/>
            </a:pPr>
            <a:r>
              <a:rPr lang="en-US" sz="870" dirty="0">
                <a:solidFill>
                  <a:srgbClr val="4B5563"/>
                </a:solidFill>
              </a:rPr>
              <a:t>LokoAI memories, templates, and agents compound into persistent organizational capability.</a:t>
            </a:r>
            <a:endParaRPr lang="en-US" sz="870" dirty="0"/>
          </a:p>
        </p:txBody>
      </p:sp>
      <p:sp>
        <p:nvSpPr>
          <p:cNvPr id="19" name="Shape 17"/>
          <p:cNvSpPr/>
          <p:nvPr/>
        </p:nvSpPr>
        <p:spPr>
          <a:xfrm>
            <a:off x="8119872" y="1828800"/>
            <a:ext cx="3429000" cy="1280160"/>
          </a:xfrm>
          <a:prstGeom prst="rect">
            <a:avLst/>
          </a:prstGeom>
          <a:solidFill>
            <a:srgbClr val="FFFFFF"/>
          </a:solidFill>
          <a:ln w="12700">
            <a:solidFill>
              <a:srgbClr val="D7DEE8">
                <a:alpha val="80000"/>
              </a:srgbClr>
            </a:solidFill>
            <a:prstDash val="solid"/>
          </a:ln>
        </p:spPr>
      </p:sp>
      <p:sp>
        <p:nvSpPr>
          <p:cNvPr id="20" name="Shape 18"/>
          <p:cNvSpPr/>
          <p:nvPr/>
        </p:nvSpPr>
        <p:spPr>
          <a:xfrm>
            <a:off x="8119872" y="1828800"/>
            <a:ext cx="73152" cy="1280160"/>
          </a:xfrm>
          <a:prstGeom prst="rect">
            <a:avLst/>
          </a:prstGeom>
          <a:solidFill>
            <a:srgbClr val="10A37F"/>
          </a:solidFill>
          <a:ln w="12700">
            <a:solidFill>
              <a:srgbClr val="10A37F"/>
            </a:solidFill>
            <a:prstDash val="solid"/>
          </a:ln>
        </p:spPr>
      </p:sp>
      <p:sp>
        <p:nvSpPr>
          <p:cNvPr id="21" name="Text 19"/>
          <p:cNvSpPr/>
          <p:nvPr/>
        </p:nvSpPr>
        <p:spPr>
          <a:xfrm>
            <a:off x="8348472" y="1993392"/>
            <a:ext cx="3063240" cy="256032"/>
          </a:xfrm>
          <a:prstGeom prst="rect">
            <a:avLst/>
          </a:prstGeom>
          <a:noFill/>
          <a:ln/>
        </p:spPr>
        <p:txBody>
          <a:bodyPr wrap="square" lIns="0" tIns="0" rIns="0" bIns="0" rtlCol="0" anchor="ctr"/>
          <a:lstStyle/>
          <a:p>
            <a:pPr indent="0" marL="0">
              <a:buNone/>
            </a:pPr>
            <a:r>
              <a:rPr lang="en-US" sz="1150" b="1" dirty="0">
                <a:solidFill>
                  <a:srgbClr val="111827"/>
                </a:solidFill>
              </a:rPr>
              <a:t>From workspace to ecosystem</a:t>
            </a:r>
            <a:endParaRPr lang="en-US" sz="1150" dirty="0"/>
          </a:p>
        </p:txBody>
      </p:sp>
      <p:sp>
        <p:nvSpPr>
          <p:cNvPr id="22" name="Text 20"/>
          <p:cNvSpPr/>
          <p:nvPr/>
        </p:nvSpPr>
        <p:spPr>
          <a:xfrm>
            <a:off x="8348472" y="2359152"/>
            <a:ext cx="3063240" cy="640080"/>
          </a:xfrm>
          <a:prstGeom prst="rect">
            <a:avLst/>
          </a:prstGeom>
          <a:noFill/>
          <a:ln/>
        </p:spPr>
        <p:txBody>
          <a:bodyPr wrap="square" lIns="0" tIns="0" rIns="0" bIns="0" rtlCol="0" anchor="ctr">
            <a:normAutofit/>
          </a:bodyPr>
          <a:lstStyle/>
          <a:p>
            <a:pPr indent="0" marL="0">
              <a:buNone/>
            </a:pPr>
            <a:r>
              <a:rPr lang="en-US" sz="870" dirty="0">
                <a:solidFill>
                  <a:srgbClr val="4B5563"/>
                </a:solidFill>
              </a:rPr>
              <a:t>A marketplace of agents, integrations, templates, and experts makes LokoAI the operating layer for AI work.</a:t>
            </a:r>
            <a:endParaRPr lang="en-US" sz="870" dirty="0"/>
          </a:p>
        </p:txBody>
      </p:sp>
      <p:sp>
        <p:nvSpPr>
          <p:cNvPr id="23" name="Text 21"/>
          <p:cNvSpPr/>
          <p:nvPr/>
        </p:nvSpPr>
        <p:spPr>
          <a:xfrm>
            <a:off x="914400" y="3977640"/>
            <a:ext cx="2926080" cy="219456"/>
          </a:xfrm>
          <a:prstGeom prst="rect">
            <a:avLst/>
          </a:prstGeom>
          <a:noFill/>
          <a:ln/>
        </p:spPr>
        <p:txBody>
          <a:bodyPr wrap="square" lIns="0" tIns="0" rIns="0" bIns="0" rtlCol="0" anchor="ctr"/>
          <a:lstStyle/>
          <a:p>
            <a:pPr indent="0" marL="0">
              <a:buNone/>
            </a:pPr>
            <a:r>
              <a:rPr lang="en-US" sz="1200" b="1" dirty="0">
                <a:solidFill>
                  <a:srgbClr val="111827"/>
                </a:solidFill>
              </a:rPr>
              <a:t>Long-term platform options</a:t>
            </a:r>
            <a:endParaRPr lang="en-US" sz="1200" dirty="0"/>
          </a:p>
        </p:txBody>
      </p:sp>
      <p:sp>
        <p:nvSpPr>
          <p:cNvPr id="24" name="Text 22"/>
          <p:cNvSpPr/>
          <p:nvPr/>
        </p:nvSpPr>
        <p:spPr>
          <a:xfrm>
            <a:off x="1005840" y="4389120"/>
            <a:ext cx="9875520" cy="1143000"/>
          </a:xfrm>
          <a:prstGeom prst="rect">
            <a:avLst/>
          </a:prstGeom>
          <a:noFill/>
          <a:ln/>
        </p:spPr>
        <p:txBody>
          <a:bodyPr wrap="square" lIns="254" tIns="254" rIns="254" bIns="254" rtlCol="0" anchor="t">
            <a:normAutofit/>
          </a:bodyPr>
          <a:lstStyle/>
          <a:p>
            <a:pPr marL="152400" indent="-152400">
              <a:spcAft>
                <a:spcPts val="800"/>
              </a:spcAft>
              <a:buSzPct val="100000"/>
              <a:buChar char="•"/>
            </a:pPr>
            <a:r>
              <a:rPr lang="en-US" sz="1200" dirty="0">
                <a:solidFill>
                  <a:srgbClr val="4B5563"/>
                </a:solidFill>
              </a:rPr>
              <a:t>Verticalized agents for SaaS, ecommerce, internal operations, customer support, and data workflows.</a:t>
            </a:r>
            <a:endParaRPr lang="en-US" sz="1200" dirty="0"/>
          </a:p>
          <a:p>
            <a:pPr marL="152400" indent="-152400">
              <a:spcAft>
                <a:spcPts val="800"/>
              </a:spcAft>
              <a:buSzPct val="100000"/>
              <a:buChar char="•"/>
            </a:pPr>
            <a:r>
              <a:rPr lang="en-US" sz="1200" dirty="0">
                <a:solidFill>
                  <a:srgbClr val="4B5563"/>
                </a:solidFill>
              </a:rPr>
              <a:t>Enterprise control plane for model policy, workflow approvals, data boundaries, and generated-code governance.</a:t>
            </a:r>
            <a:endParaRPr lang="en-US" sz="1200" dirty="0"/>
          </a:p>
          <a:p>
            <a:pPr marL="152400" indent="-152400">
              <a:spcAft>
                <a:spcPts val="800"/>
              </a:spcAft>
              <a:buSzPct val="100000"/>
              <a:buChar char="•"/>
            </a:pPr>
            <a:r>
              <a:rPr lang="en-US" sz="1200" dirty="0">
                <a:solidFill>
                  <a:srgbClr val="4B5563"/>
                </a:solidFill>
              </a:rPr>
              <a:t>Partner marketplace for templates, verified agents, implementation services, and domain integrations.</a:t>
            </a:r>
            <a:endParaRPr lang="en-US" sz="1200" dirty="0"/>
          </a:p>
          <a:p>
            <a:pPr marL="152400" indent="-152400">
              <a:spcAft>
                <a:spcPts val="800"/>
              </a:spcAft>
              <a:buSzPct val="100000"/>
              <a:buChar char="•"/>
            </a:pPr>
            <a:r>
              <a:rPr lang="en-US" sz="1200" dirty="0">
                <a:solidFill>
                  <a:srgbClr val="4B5563"/>
                </a:solidFill>
              </a:rPr>
              <a:t>AI-native delivery analytics: measure time-to-launch, rework, model cost, conversion, and ROI by project.</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75488" y="347472"/>
            <a:ext cx="201168" cy="201168"/>
          </a:xfrm>
          <a:prstGeom prst="rect">
            <a:avLst/>
          </a:prstGeom>
          <a:solidFill>
            <a:srgbClr val="1E5BFF"/>
          </a:solidFill>
          <a:ln w="12700">
            <a:solidFill>
              <a:srgbClr val="1E5BFF"/>
            </a:solidFill>
            <a:prstDash val="solid"/>
          </a:ln>
        </p:spPr>
      </p:sp>
      <p:sp>
        <p:nvSpPr>
          <p:cNvPr id="3" name="Shape 1"/>
          <p:cNvSpPr/>
          <p:nvPr/>
        </p:nvSpPr>
        <p:spPr>
          <a:xfrm>
            <a:off x="713232" y="347472"/>
            <a:ext cx="201168" cy="201168"/>
          </a:xfrm>
          <a:prstGeom prst="rect">
            <a:avLst/>
          </a:prstGeom>
          <a:solidFill>
            <a:srgbClr val="16B8C7"/>
          </a:solidFill>
          <a:ln w="12700">
            <a:solidFill>
              <a:srgbClr val="16B8C7"/>
            </a:solidFill>
            <a:prstDash val="solid"/>
          </a:ln>
        </p:spPr>
      </p:sp>
      <p:sp>
        <p:nvSpPr>
          <p:cNvPr id="4" name="Text 2"/>
          <p:cNvSpPr/>
          <p:nvPr/>
        </p:nvSpPr>
        <p:spPr>
          <a:xfrm>
            <a:off x="987552" y="310896"/>
            <a:ext cx="1097280" cy="228600"/>
          </a:xfrm>
          <a:prstGeom prst="rect">
            <a:avLst/>
          </a:prstGeom>
          <a:noFill/>
          <a:ln/>
        </p:spPr>
        <p:txBody>
          <a:bodyPr wrap="square" lIns="0" tIns="0" rIns="0" bIns="0" rtlCol="0" anchor="ctr"/>
          <a:lstStyle/>
          <a:p>
            <a:pPr indent="0" marL="0">
              <a:buNone/>
            </a:pPr>
            <a:r>
              <a:rPr lang="en-US" sz="1000" b="1" dirty="0">
                <a:solidFill>
                  <a:srgbClr val="111827"/>
                </a:solidFill>
              </a:rPr>
              <a:t>LokoAI</a:t>
            </a:r>
            <a:endParaRPr lang="en-US" sz="1000" dirty="0"/>
          </a:p>
        </p:txBody>
      </p:sp>
      <p:sp>
        <p:nvSpPr>
          <p:cNvPr id="5" name="Text 3"/>
          <p:cNvSpPr/>
          <p:nvPr/>
        </p:nvSpPr>
        <p:spPr>
          <a:xfrm>
            <a:off x="658368" y="713232"/>
            <a:ext cx="2651760" cy="164592"/>
          </a:xfrm>
          <a:prstGeom prst="rect">
            <a:avLst/>
          </a:prstGeom>
          <a:noFill/>
          <a:ln/>
        </p:spPr>
        <p:txBody>
          <a:bodyPr wrap="square" lIns="0" tIns="0" rIns="0" bIns="0" rtlCol="0" anchor="ctr"/>
          <a:lstStyle/>
          <a:p>
            <a:pPr indent="0" marL="0">
              <a:buNone/>
            </a:pPr>
            <a:r>
              <a:rPr lang="en-US" sz="750" b="1" dirty="0">
                <a:solidFill>
                  <a:srgbClr val="1E5BFF"/>
                </a:solidFill>
              </a:rPr>
              <a:t>CONCLUSION</a:t>
            </a:r>
            <a:endParaRPr lang="en-US" sz="750" dirty="0"/>
          </a:p>
        </p:txBody>
      </p:sp>
      <p:sp>
        <p:nvSpPr>
          <p:cNvPr id="6" name="Text 4"/>
          <p:cNvSpPr/>
          <p:nvPr/>
        </p:nvSpPr>
        <p:spPr>
          <a:xfrm>
            <a:off x="658368" y="932688"/>
            <a:ext cx="10789920" cy="530352"/>
          </a:xfrm>
          <a:prstGeom prst="rect">
            <a:avLst/>
          </a:prstGeom>
          <a:noFill/>
          <a:ln/>
        </p:spPr>
        <p:txBody>
          <a:bodyPr wrap="square" lIns="0" tIns="0" rIns="0" bIns="0" rtlCol="0" anchor="ctr">
            <a:normAutofit/>
          </a:bodyPr>
          <a:lstStyle/>
          <a:p>
            <a:pPr indent="0" marL="0">
              <a:buNone/>
            </a:pPr>
            <a:r>
              <a:rPr lang="en-US" sz="2500" b="1" dirty="0">
                <a:solidFill>
                  <a:srgbClr val="111827"/>
                </a:solidFill>
                <a:latin typeface="Aptos Display" pitchFamily="34" charset="0"/>
                <a:ea typeface="Aptos Display" pitchFamily="34" charset="-122"/>
                <a:cs typeface="Aptos Display" pitchFamily="34" charset="-120"/>
              </a:rPr>
              <a:t>Conclusion: LokoAI is positioned to turn AI creation into trusted software delivery</a:t>
            </a:r>
            <a:endParaRPr lang="en-US" sz="2500" dirty="0"/>
          </a:p>
        </p:txBody>
      </p:sp>
      <p:sp>
        <p:nvSpPr>
          <p:cNvPr id="7" name="Shape 5"/>
          <p:cNvSpPr/>
          <p:nvPr/>
        </p:nvSpPr>
        <p:spPr>
          <a:xfrm>
            <a:off x="658368" y="1572768"/>
            <a:ext cx="1143000" cy="0"/>
          </a:xfrm>
          <a:prstGeom prst="line">
            <a:avLst/>
          </a:prstGeom>
          <a:noFill/>
          <a:ln w="25400">
            <a:solidFill>
              <a:srgbClr val="1E5BFF"/>
            </a:solidFill>
            <a:prstDash val="solid"/>
          </a:ln>
        </p:spPr>
      </p:sp>
      <p:sp>
        <p:nvSpPr>
          <p:cNvPr id="8" name="Text 6"/>
          <p:cNvSpPr/>
          <p:nvPr/>
        </p:nvSpPr>
        <p:spPr>
          <a:xfrm>
            <a:off x="475488" y="6473952"/>
            <a:ext cx="2011680" cy="164592"/>
          </a:xfrm>
          <a:prstGeom prst="rect">
            <a:avLst/>
          </a:prstGeom>
          <a:noFill/>
          <a:ln/>
        </p:spPr>
        <p:txBody>
          <a:bodyPr wrap="square" lIns="0" tIns="0" rIns="0" bIns="0" rtlCol="0" anchor="ctr"/>
          <a:lstStyle/>
          <a:p>
            <a:pPr indent="0" marL="0">
              <a:buNone/>
            </a:pPr>
            <a:r>
              <a:rPr lang="en-US" sz="700" dirty="0">
                <a:solidFill>
                  <a:srgbClr val="64748B"/>
                </a:solidFill>
              </a:rPr>
              <a:t>LokoAI confidential</a:t>
            </a:r>
            <a:endParaRPr lang="en-US" sz="700" dirty="0"/>
          </a:p>
        </p:txBody>
      </p:sp>
      <p:sp>
        <p:nvSpPr>
          <p:cNvPr id="9" name="Text 7"/>
          <p:cNvSpPr/>
          <p:nvPr/>
        </p:nvSpPr>
        <p:spPr>
          <a:xfrm>
            <a:off x="11201400" y="6446520"/>
            <a:ext cx="640080" cy="201168"/>
          </a:xfrm>
          <a:prstGeom prst="rect">
            <a:avLst/>
          </a:prstGeom>
          <a:noFill/>
          <a:ln/>
        </p:spPr>
        <p:txBody>
          <a:bodyPr wrap="square" lIns="0" tIns="0" rIns="0" bIns="0" rtlCol="0" anchor="ctr"/>
          <a:lstStyle/>
          <a:p>
            <a:pPr algn="r" indent="0" marL="0">
              <a:buNone/>
            </a:pPr>
            <a:r>
              <a:rPr lang="en-US" sz="800" b="1" dirty="0">
                <a:solidFill>
                  <a:srgbClr val="64748B"/>
                </a:solidFill>
              </a:rPr>
              <a:t>24</a:t>
            </a:r>
            <a:endParaRPr lang="en-US" sz="800" dirty="0"/>
          </a:p>
        </p:txBody>
      </p:sp>
      <p:sp>
        <p:nvSpPr>
          <p:cNvPr id="10" name="Text 8"/>
          <p:cNvSpPr/>
          <p:nvPr/>
        </p:nvSpPr>
        <p:spPr>
          <a:xfrm>
            <a:off x="2743200" y="6446520"/>
            <a:ext cx="6217920" cy="164592"/>
          </a:xfrm>
          <a:prstGeom prst="rect">
            <a:avLst/>
          </a:prstGeom>
          <a:noFill/>
          <a:ln/>
        </p:spPr>
        <p:txBody>
          <a:bodyPr wrap="square" lIns="0" tIns="0" rIns="0" bIns="0" rtlCol="0" anchor="ctr">
            <a:normAutofit/>
          </a:bodyPr>
          <a:lstStyle/>
          <a:p>
            <a:pPr algn="ctr" indent="0" marL="0">
              <a:buNone/>
            </a:pPr>
            <a:r>
              <a:rPr lang="en-US" sz="670" dirty="0">
                <a:solidFill>
                  <a:srgbClr val="7A8494"/>
                </a:solidFill>
              </a:rPr>
              <a:t>Source: All sources listed in appendix</a:t>
            </a:r>
            <a:endParaRPr lang="en-US" sz="670" dirty="0"/>
          </a:p>
        </p:txBody>
      </p:sp>
      <p:sp>
        <p:nvSpPr>
          <p:cNvPr id="11" name="Text 9"/>
          <p:cNvSpPr/>
          <p:nvPr/>
        </p:nvSpPr>
        <p:spPr>
          <a:xfrm>
            <a:off x="868680" y="1874520"/>
            <a:ext cx="2834640" cy="256032"/>
          </a:xfrm>
          <a:prstGeom prst="rect">
            <a:avLst/>
          </a:prstGeom>
          <a:noFill/>
          <a:ln/>
        </p:spPr>
        <p:txBody>
          <a:bodyPr wrap="square" lIns="0" tIns="0" rIns="0" bIns="0" rtlCol="0" anchor="ctr"/>
          <a:lstStyle/>
          <a:p>
            <a:pPr indent="0" marL="0">
              <a:buNone/>
            </a:pPr>
            <a:r>
              <a:rPr lang="en-US" sz="1300" b="1" dirty="0">
                <a:solidFill>
                  <a:srgbClr val="111827"/>
                </a:solidFill>
              </a:rPr>
              <a:t>The investment case</a:t>
            </a:r>
            <a:endParaRPr lang="en-US" sz="1300" dirty="0"/>
          </a:p>
        </p:txBody>
      </p:sp>
      <p:sp>
        <p:nvSpPr>
          <p:cNvPr id="12" name="Text 10"/>
          <p:cNvSpPr/>
          <p:nvPr/>
        </p:nvSpPr>
        <p:spPr>
          <a:xfrm>
            <a:off x="914400" y="2331720"/>
            <a:ext cx="6446520" cy="2834640"/>
          </a:xfrm>
          <a:prstGeom prst="rect">
            <a:avLst/>
          </a:prstGeom>
          <a:noFill/>
          <a:ln/>
        </p:spPr>
        <p:txBody>
          <a:bodyPr wrap="square" lIns="254" tIns="254" rIns="254" bIns="254" rtlCol="0" anchor="t">
            <a:normAutofit/>
          </a:bodyPr>
          <a:lstStyle/>
          <a:p>
            <a:pPr marL="152400" indent="-152400">
              <a:spcAft>
                <a:spcPts val="800"/>
              </a:spcAft>
              <a:buSzPct val="100000"/>
              <a:buChar char="•"/>
            </a:pPr>
            <a:r>
              <a:rPr lang="en-US" sz="1320" dirty="0">
                <a:solidFill>
                  <a:srgbClr val="4B5563"/>
                </a:solidFill>
              </a:rPr>
              <a:t>Massive market: AI spending and AI software budgets are expanding into the trillions and hundreds of billions respectively.</a:t>
            </a:r>
            <a:endParaRPr lang="en-US" sz="1320" dirty="0"/>
          </a:p>
          <a:p>
            <a:pPr marL="152400" indent="-152400">
              <a:spcAft>
                <a:spcPts val="800"/>
              </a:spcAft>
              <a:buSzPct val="100000"/>
              <a:buChar char="•"/>
            </a:pPr>
            <a:r>
              <a:rPr lang="en-US" sz="1320" dirty="0">
                <a:solidFill>
                  <a:srgbClr val="4B5563"/>
                </a:solidFill>
              </a:rPr>
              <a:t>Validated demand: AI app builders and coding agents have shown exceptional customer and investor pull.</a:t>
            </a:r>
            <a:endParaRPr lang="en-US" sz="1320" dirty="0"/>
          </a:p>
          <a:p>
            <a:pPr marL="152400" indent="-152400">
              <a:spcAft>
                <a:spcPts val="800"/>
              </a:spcAft>
              <a:buSzPct val="100000"/>
              <a:buChar char="•"/>
            </a:pPr>
            <a:r>
              <a:rPr lang="en-US" sz="1320" dirty="0">
                <a:solidFill>
                  <a:srgbClr val="4B5563"/>
                </a:solidFill>
              </a:rPr>
              <a:t>Unresolved pain: trust, production readiness, governance, and workflow integration remain open problems.</a:t>
            </a:r>
            <a:endParaRPr lang="en-US" sz="1320" dirty="0"/>
          </a:p>
          <a:p>
            <a:pPr marL="152400" indent="-152400">
              <a:spcAft>
                <a:spcPts val="800"/>
              </a:spcAft>
              <a:buSzPct val="100000"/>
              <a:buChar char="•"/>
            </a:pPr>
            <a:r>
              <a:rPr lang="en-US" sz="1320" dirty="0">
                <a:solidFill>
                  <a:srgbClr val="4B5563"/>
                </a:solidFill>
              </a:rPr>
              <a:t>Clear wedge: launch with creators and agencies, expand into teams, then enterprise governed workspaces.</a:t>
            </a:r>
            <a:endParaRPr lang="en-US" sz="1320" dirty="0"/>
          </a:p>
          <a:p>
            <a:pPr marL="152400" indent="-152400">
              <a:spcAft>
                <a:spcPts val="800"/>
              </a:spcAft>
              <a:buSzPct val="100000"/>
              <a:buChar char="•"/>
            </a:pPr>
            <a:r>
              <a:rPr lang="en-US" sz="1320" dirty="0">
                <a:solidFill>
                  <a:srgbClr val="4B5563"/>
                </a:solidFill>
              </a:rPr>
              <a:t>Compelling ask: $3.5M seed to fund 24 months and reach measurable ARR, retention, and enterprise-readiness milestones.</a:t>
            </a:r>
            <a:endParaRPr lang="en-US" sz="1320" dirty="0"/>
          </a:p>
        </p:txBody>
      </p:sp>
      <p:sp>
        <p:nvSpPr>
          <p:cNvPr id="13" name="Shape 11"/>
          <p:cNvSpPr/>
          <p:nvPr/>
        </p:nvSpPr>
        <p:spPr>
          <a:xfrm>
            <a:off x="8001000" y="1965960"/>
            <a:ext cx="3063240" cy="3063240"/>
          </a:xfrm>
          <a:prstGeom prst="rect">
            <a:avLst/>
          </a:prstGeom>
          <a:solidFill>
            <a:srgbClr val="0B1220"/>
          </a:solidFill>
          <a:ln w="12700">
            <a:solidFill>
              <a:srgbClr val="0B1220"/>
            </a:solidFill>
            <a:prstDash val="solid"/>
          </a:ln>
        </p:spPr>
      </p:sp>
      <p:sp>
        <p:nvSpPr>
          <p:cNvPr id="14" name="Text 12"/>
          <p:cNvSpPr/>
          <p:nvPr/>
        </p:nvSpPr>
        <p:spPr>
          <a:xfrm>
            <a:off x="8275320" y="2651760"/>
            <a:ext cx="2514600" cy="1143000"/>
          </a:xfrm>
          <a:prstGeom prst="rect">
            <a:avLst/>
          </a:prstGeom>
          <a:noFill/>
          <a:ln/>
        </p:spPr>
        <p:txBody>
          <a:bodyPr wrap="square" lIns="0" tIns="0" rIns="0" bIns="0" rtlCol="0" anchor="ctr">
            <a:normAutofit/>
          </a:bodyPr>
          <a:lstStyle/>
          <a:p>
            <a:pPr algn="ctr" indent="0" marL="0">
              <a:buNone/>
            </a:pPr>
            <a:r>
              <a:rPr lang="en-US" sz="2500" b="1" dirty="0">
                <a:solidFill>
                  <a:srgbClr val="FFFFFF"/>
                </a:solidFill>
              </a:rPr>
              <a:t>Build faster.</a:t>
            </a:r>
            <a:endParaRPr lang="en-US" sz="2500" dirty="0"/>
          </a:p>
          <a:p>
            <a:pPr algn="ctr" indent="0" marL="0">
              <a:buNone/>
            </a:pPr>
            <a:r>
              <a:rPr lang="en-US" sz="2500" b="1" dirty="0">
                <a:solidFill>
                  <a:srgbClr val="FFFFFF"/>
                </a:solidFill>
              </a:rPr>
              <a:t>Trust deeper.</a:t>
            </a:r>
            <a:endParaRPr lang="en-US" sz="2500" dirty="0"/>
          </a:p>
          <a:p>
            <a:pPr algn="ctr" indent="0" marL="0">
              <a:buNone/>
            </a:pPr>
            <a:r>
              <a:rPr lang="en-US" sz="2500" b="1" dirty="0">
                <a:solidFill>
                  <a:srgbClr val="FFFFFF"/>
                </a:solidFill>
              </a:rPr>
              <a:t>Ship smarter.</a:t>
            </a:r>
            <a:endParaRPr lang="en-US" sz="2500" dirty="0"/>
          </a:p>
        </p:txBody>
      </p:sp>
      <p:sp>
        <p:nvSpPr>
          <p:cNvPr id="15" name="Text 13"/>
          <p:cNvSpPr/>
          <p:nvPr/>
        </p:nvSpPr>
        <p:spPr>
          <a:xfrm>
            <a:off x="8887968" y="4389120"/>
            <a:ext cx="1325880" cy="219456"/>
          </a:xfrm>
          <a:prstGeom prst="rect">
            <a:avLst/>
          </a:prstGeom>
          <a:noFill/>
          <a:ln/>
        </p:spPr>
        <p:txBody>
          <a:bodyPr wrap="square" lIns="0" tIns="0" rIns="0" bIns="0" rtlCol="0" anchor="ctr"/>
          <a:lstStyle/>
          <a:p>
            <a:pPr algn="ctr" indent="0" marL="0">
              <a:buNone/>
            </a:pPr>
            <a:r>
              <a:rPr lang="en-US" sz="1200" b="1" dirty="0">
                <a:solidFill>
                  <a:srgbClr val="9CC3FF"/>
                </a:solidFill>
              </a:rPr>
              <a:t>LokoAI</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75488" y="347472"/>
            <a:ext cx="201168" cy="201168"/>
          </a:xfrm>
          <a:prstGeom prst="rect">
            <a:avLst/>
          </a:prstGeom>
          <a:solidFill>
            <a:srgbClr val="1E5BFF"/>
          </a:solidFill>
          <a:ln w="12700">
            <a:solidFill>
              <a:srgbClr val="1E5BFF"/>
            </a:solidFill>
            <a:prstDash val="solid"/>
          </a:ln>
        </p:spPr>
      </p:sp>
      <p:sp>
        <p:nvSpPr>
          <p:cNvPr id="3" name="Shape 1"/>
          <p:cNvSpPr/>
          <p:nvPr/>
        </p:nvSpPr>
        <p:spPr>
          <a:xfrm>
            <a:off x="713232" y="347472"/>
            <a:ext cx="201168" cy="201168"/>
          </a:xfrm>
          <a:prstGeom prst="rect">
            <a:avLst/>
          </a:prstGeom>
          <a:solidFill>
            <a:srgbClr val="16B8C7"/>
          </a:solidFill>
          <a:ln w="12700">
            <a:solidFill>
              <a:srgbClr val="16B8C7"/>
            </a:solidFill>
            <a:prstDash val="solid"/>
          </a:ln>
        </p:spPr>
      </p:sp>
      <p:sp>
        <p:nvSpPr>
          <p:cNvPr id="4" name="Text 2"/>
          <p:cNvSpPr/>
          <p:nvPr/>
        </p:nvSpPr>
        <p:spPr>
          <a:xfrm>
            <a:off x="987552" y="310896"/>
            <a:ext cx="1097280" cy="228600"/>
          </a:xfrm>
          <a:prstGeom prst="rect">
            <a:avLst/>
          </a:prstGeom>
          <a:noFill/>
          <a:ln/>
        </p:spPr>
        <p:txBody>
          <a:bodyPr wrap="square" lIns="0" tIns="0" rIns="0" bIns="0" rtlCol="0" anchor="ctr"/>
          <a:lstStyle/>
          <a:p>
            <a:pPr indent="0" marL="0">
              <a:buNone/>
            </a:pPr>
            <a:r>
              <a:rPr lang="en-US" sz="1000" b="1" dirty="0">
                <a:solidFill>
                  <a:srgbClr val="111827"/>
                </a:solidFill>
              </a:rPr>
              <a:t>LokoAI</a:t>
            </a:r>
            <a:endParaRPr lang="en-US" sz="1000" dirty="0"/>
          </a:p>
        </p:txBody>
      </p:sp>
      <p:sp>
        <p:nvSpPr>
          <p:cNvPr id="5" name="Text 3"/>
          <p:cNvSpPr/>
          <p:nvPr/>
        </p:nvSpPr>
        <p:spPr>
          <a:xfrm>
            <a:off x="658368" y="713232"/>
            <a:ext cx="2651760" cy="164592"/>
          </a:xfrm>
          <a:prstGeom prst="rect">
            <a:avLst/>
          </a:prstGeom>
          <a:noFill/>
          <a:ln/>
        </p:spPr>
        <p:txBody>
          <a:bodyPr wrap="square" lIns="0" tIns="0" rIns="0" bIns="0" rtlCol="0" anchor="ctr"/>
          <a:lstStyle/>
          <a:p>
            <a:pPr indent="0" marL="0">
              <a:buNone/>
            </a:pPr>
            <a:r>
              <a:rPr lang="en-US" sz="750" b="1" dirty="0">
                <a:solidFill>
                  <a:srgbClr val="1E5BFF"/>
                </a:solidFill>
              </a:rPr>
              <a:t>APPENDIX</a:t>
            </a:r>
            <a:endParaRPr lang="en-US" sz="750" dirty="0"/>
          </a:p>
        </p:txBody>
      </p:sp>
      <p:sp>
        <p:nvSpPr>
          <p:cNvPr id="6" name="Text 4"/>
          <p:cNvSpPr/>
          <p:nvPr/>
        </p:nvSpPr>
        <p:spPr>
          <a:xfrm>
            <a:off x="658368" y="932688"/>
            <a:ext cx="10789920" cy="530352"/>
          </a:xfrm>
          <a:prstGeom prst="rect">
            <a:avLst/>
          </a:prstGeom>
          <a:noFill/>
          <a:ln/>
        </p:spPr>
        <p:txBody>
          <a:bodyPr wrap="square" lIns="0" tIns="0" rIns="0" bIns="0" rtlCol="0" anchor="ctr">
            <a:normAutofit/>
          </a:bodyPr>
          <a:lstStyle/>
          <a:p>
            <a:pPr indent="0" marL="0">
              <a:buNone/>
            </a:pPr>
            <a:r>
              <a:rPr lang="en-US" sz="2500" b="1" dirty="0">
                <a:solidFill>
                  <a:srgbClr val="111827"/>
                </a:solidFill>
                <a:latin typeface="Aptos Display" pitchFamily="34" charset="0"/>
                <a:ea typeface="Aptos Display" pitchFamily="34" charset="-122"/>
                <a:cs typeface="Aptos Display" pitchFamily="34" charset="-120"/>
              </a:rPr>
              <a:t>Selected sources and modeling assumptions</a:t>
            </a:r>
            <a:endParaRPr lang="en-US" sz="2500" dirty="0"/>
          </a:p>
        </p:txBody>
      </p:sp>
      <p:sp>
        <p:nvSpPr>
          <p:cNvPr id="7" name="Shape 5"/>
          <p:cNvSpPr/>
          <p:nvPr/>
        </p:nvSpPr>
        <p:spPr>
          <a:xfrm>
            <a:off x="658368" y="1572768"/>
            <a:ext cx="1143000" cy="0"/>
          </a:xfrm>
          <a:prstGeom prst="line">
            <a:avLst/>
          </a:prstGeom>
          <a:noFill/>
          <a:ln w="25400">
            <a:solidFill>
              <a:srgbClr val="1E5BFF"/>
            </a:solidFill>
            <a:prstDash val="solid"/>
          </a:ln>
        </p:spPr>
      </p:sp>
      <p:sp>
        <p:nvSpPr>
          <p:cNvPr id="8" name="Text 6"/>
          <p:cNvSpPr/>
          <p:nvPr/>
        </p:nvSpPr>
        <p:spPr>
          <a:xfrm>
            <a:off x="475488" y="6473952"/>
            <a:ext cx="2011680" cy="164592"/>
          </a:xfrm>
          <a:prstGeom prst="rect">
            <a:avLst/>
          </a:prstGeom>
          <a:noFill/>
          <a:ln/>
        </p:spPr>
        <p:txBody>
          <a:bodyPr wrap="square" lIns="0" tIns="0" rIns="0" bIns="0" rtlCol="0" anchor="ctr"/>
          <a:lstStyle/>
          <a:p>
            <a:pPr indent="0" marL="0">
              <a:buNone/>
            </a:pPr>
            <a:r>
              <a:rPr lang="en-US" sz="700" dirty="0">
                <a:solidFill>
                  <a:srgbClr val="64748B"/>
                </a:solidFill>
              </a:rPr>
              <a:t>LokoAI confidential</a:t>
            </a:r>
            <a:endParaRPr lang="en-US" sz="700" dirty="0"/>
          </a:p>
        </p:txBody>
      </p:sp>
      <p:sp>
        <p:nvSpPr>
          <p:cNvPr id="9" name="Text 7"/>
          <p:cNvSpPr/>
          <p:nvPr/>
        </p:nvSpPr>
        <p:spPr>
          <a:xfrm>
            <a:off x="11201400" y="6446520"/>
            <a:ext cx="640080" cy="201168"/>
          </a:xfrm>
          <a:prstGeom prst="rect">
            <a:avLst/>
          </a:prstGeom>
          <a:noFill/>
          <a:ln/>
        </p:spPr>
        <p:txBody>
          <a:bodyPr wrap="square" lIns="0" tIns="0" rIns="0" bIns="0" rtlCol="0" anchor="ctr"/>
          <a:lstStyle/>
          <a:p>
            <a:pPr algn="r" indent="0" marL="0">
              <a:buNone/>
            </a:pPr>
            <a:r>
              <a:rPr lang="en-US" sz="800" b="1" dirty="0">
                <a:solidFill>
                  <a:srgbClr val="64748B"/>
                </a:solidFill>
              </a:rPr>
              <a:t>25</a:t>
            </a:r>
            <a:endParaRPr lang="en-US" sz="800" dirty="0"/>
          </a:p>
        </p:txBody>
      </p:sp>
      <p:sp>
        <p:nvSpPr>
          <p:cNvPr id="10" name="Text 8"/>
          <p:cNvSpPr/>
          <p:nvPr/>
        </p:nvSpPr>
        <p:spPr>
          <a:xfrm>
            <a:off x="2743200" y="6446520"/>
            <a:ext cx="6217920" cy="164592"/>
          </a:xfrm>
          <a:prstGeom prst="rect">
            <a:avLst/>
          </a:prstGeom>
          <a:noFill/>
          <a:ln/>
        </p:spPr>
        <p:txBody>
          <a:bodyPr wrap="square" lIns="0" tIns="0" rIns="0" bIns="0" rtlCol="0" anchor="ctr">
            <a:normAutofit/>
          </a:bodyPr>
          <a:lstStyle/>
          <a:p>
            <a:pPr algn="ctr" indent="0" marL="0">
              <a:buNone/>
            </a:pPr>
            <a:r>
              <a:rPr lang="en-US" sz="670" dirty="0">
                <a:solidFill>
                  <a:srgbClr val="7A8494"/>
                </a:solidFill>
              </a:rPr>
              <a:t>Source: Public sources; internal assumptions</a:t>
            </a:r>
            <a:endParaRPr lang="en-US" sz="67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713232" y="1783080"/>
          <a:ext cx="10835640" cy="3063240"/>
        </p:xfrm>
        <a:graphic>
          <a:graphicData uri="http://schemas.openxmlformats.org/drawingml/2006/table">
            <a:tbl>
              <a:tblPr/>
              <a:tblGrid>
                <a:gridCol w="3017520"/>
                <a:gridCol w="7818120"/>
              </a:tblGrid>
              <a:tr h="437606">
                <a:tc>
                  <a:txBody>
                    <a:bodyPr/>
                    <a:lstStyle/>
                    <a:p>
                      <a:pPr indent="0" marL="0">
                        <a:buNone/>
                      </a:pPr>
                      <a:r>
                        <a:rPr lang="en-US" sz="850" b="1" dirty="0">
                          <a:solidFill>
                            <a:srgbClr val="FFFFFF"/>
                          </a:solidFill>
                        </a:rPr>
                        <a:t>Source</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c>
                  <a:txBody>
                    <a:bodyPr/>
                    <a:lstStyle/>
                    <a:p>
                      <a:pPr indent="0" marL="0">
                        <a:buNone/>
                      </a:pPr>
                      <a:r>
                        <a:rPr lang="en-US" sz="850" b="1" dirty="0">
                          <a:solidFill>
                            <a:srgbClr val="FFFFFF"/>
                          </a:solidFill>
                        </a:rPr>
                        <a:t>Data used in deck</a:t>
                      </a:r>
                      <a:endParaRPr lang="en-US" sz="85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0B1220"/>
                    </a:solidFill>
                  </a:tcPr>
                </a:tc>
              </a:tr>
              <a:tr h="437606">
                <a:tc>
                  <a:txBody>
                    <a:bodyPr/>
                    <a:lstStyle/>
                    <a:p>
                      <a:pPr indent="0" marL="0">
                        <a:buNone/>
                      </a:pPr>
                      <a:r>
                        <a:rPr lang="en-US" sz="800" dirty="0">
                          <a:solidFill>
                            <a:srgbClr val="111827"/>
                          </a:solidFill>
                        </a:rPr>
                        <a:t>Gartner AI Spending Forecast, May 2026</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$2.59T worldwide AI spending in 2026; AI software $453.2B in 2026 and $638.4B in 2027.</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r>
              <a:tr h="437606">
                <a:tc>
                  <a:txBody>
                    <a:bodyPr/>
                    <a:lstStyle/>
                    <a:p>
                      <a:pPr indent="0" marL="0">
                        <a:buNone/>
                      </a:pPr>
                      <a:r>
                        <a:rPr lang="en-US" sz="800" dirty="0">
                          <a:solidFill>
                            <a:srgbClr val="111827"/>
                          </a:solidFill>
                        </a:rPr>
                        <a:t>Gartner GenAI Spending Forecast, Mar 2025</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$643.9B GenAI spending forecast in 2025; hardware-heavy spending context.</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r>
              <a:tr h="437606">
                <a:tc>
                  <a:txBody>
                    <a:bodyPr/>
                    <a:lstStyle/>
                    <a:p>
                      <a:pPr indent="0" marL="0">
                        <a:buNone/>
                      </a:pPr>
                      <a:r>
                        <a:rPr lang="en-US" sz="800" dirty="0">
                          <a:solidFill>
                            <a:srgbClr val="111827"/>
                          </a:solidFill>
                        </a:rPr>
                        <a:t>McKinsey State of AI 2025</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88% AI use in at least one business function; 23% scaling agentic AI; 39% experimenting with agents.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r>
              <a:tr h="437606">
                <a:tc>
                  <a:txBody>
                    <a:bodyPr/>
                    <a:lstStyle/>
                    <a:p>
                      <a:pPr indent="0" marL="0">
                        <a:buNone/>
                      </a:pPr>
                      <a:r>
                        <a:rPr lang="en-US" sz="800" dirty="0">
                          <a:solidFill>
                            <a:srgbClr val="111827"/>
                          </a:solidFill>
                        </a:rPr>
                        <a:t>Stack Overflow Developer Survey 2025</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84% use or plan to use AI tools; 46% distrust output accuracy; 52% productivity effect.</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r>
              <a:tr h="437606">
                <a:tc>
                  <a:txBody>
                    <a:bodyPr/>
                    <a:lstStyle/>
                    <a:p>
                      <a:pPr indent="0" marL="0">
                        <a:buNone/>
                      </a:pPr>
                      <a:r>
                        <a:rPr lang="en-US" sz="800" dirty="0">
                          <a:solidFill>
                            <a:srgbClr val="111827"/>
                          </a:solidFill>
                        </a:rPr>
                        <a:t>TechCrunch Lovable funding report, Dec 2025</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00" dirty="0">
                          <a:solidFill>
                            <a:srgbClr val="111827"/>
                          </a:solidFill>
                        </a:rPr>
                        <a:t>$330M raise at $6.6B valuation; $200M+ ARR; 25M projects in first year.</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FFFFF"/>
                    </a:solidFill>
                  </a:tcPr>
                </a:tc>
              </a:tr>
              <a:tr h="437606">
                <a:tc>
                  <a:txBody>
                    <a:bodyPr/>
                    <a:lstStyle/>
                    <a:p>
                      <a:pPr indent="0" marL="0">
                        <a:buNone/>
                      </a:pPr>
                      <a:r>
                        <a:rPr lang="en-US" sz="800" dirty="0">
                          <a:solidFill>
                            <a:srgbClr val="111827"/>
                          </a:solidFill>
                        </a:rPr>
                        <a:t>Management assumptions</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c>
                  <a:txBody>
                    <a:bodyPr/>
                    <a:lstStyle/>
                    <a:p>
                      <a:pPr indent="0" marL="0">
                        <a:buNone/>
                      </a:pPr>
                      <a:r>
                        <a:rPr lang="en-US" sz="800" dirty="0">
                          <a:solidFill>
                            <a:srgbClr val="111827"/>
                          </a:solidFill>
                        </a:rPr>
                        <a:t>Pricing, ARR, unit economics, roadmap, customer segmentation, funding allocation, and hiring plan.</a:t>
                      </a:r>
                      <a:endParaRPr lang="en-US" sz="800" dirty="0"/>
                    </a:p>
                  </a:txBody>
                  <a:tcPr marL="64008" marR="64008" marT="64008" marB="64008" anchor="mid">
                    <a:lnL w="6985" cap="flat" cmpd="sng" algn="ctr">
                      <a:solidFill>
                        <a:srgbClr val="D7DEE8"/>
                      </a:solidFill>
                      <a:prstDash val="solid"/>
                      <a:round/>
                      <a:headEnd type="none" w="med" len="med"/>
                      <a:tailEnd type="none" w="med" len="med"/>
                    </a:lnL>
                    <a:lnR w="6985" cap="flat" cmpd="sng" algn="ctr">
                      <a:solidFill>
                        <a:srgbClr val="D7DEE8"/>
                      </a:solidFill>
                      <a:prstDash val="solid"/>
                      <a:round/>
                      <a:headEnd type="none" w="med" len="med"/>
                      <a:tailEnd type="none" w="med" len="med"/>
                    </a:lnR>
                    <a:lnT w="6985" cap="flat" cmpd="sng" algn="ctr">
                      <a:solidFill>
                        <a:srgbClr val="D7DEE8"/>
                      </a:solidFill>
                      <a:prstDash val="solid"/>
                      <a:round/>
                      <a:headEnd type="none" w="med" len="med"/>
                      <a:tailEnd type="none" w="med" len="med"/>
                    </a:lnT>
                    <a:lnB w="6985" cap="flat" cmpd="sng" algn="ctr">
                      <a:solidFill>
                        <a:srgbClr val="D7DEE8"/>
                      </a:solidFill>
                      <a:prstDash val="solid"/>
                      <a:round/>
                      <a:headEnd type="none" w="med" len="med"/>
                      <a:tailEnd type="none" w="med" len="med"/>
                    </a:lnB>
                    <a:solidFill>
                      <a:srgbClr val="F3F6FA"/>
                    </a:solidFill>
                  </a:tcPr>
                </a:tc>
              </a:tr>
            </a:tbl>
          </a:graphicData>
        </a:graphic>
      </p:graphicFrame>
      <p:sp>
        <p:nvSpPr>
          <p:cNvPr id="12" name="Text 9">
            <a:hlinkClick r:id="rId1" tooltip=""/>
          </p:cNvPr>
          <p:cNvSpPr/>
          <p:nvPr/>
        </p:nvSpPr>
        <p:spPr>
          <a:xfrm>
            <a:off x="822960" y="5074920"/>
            <a:ext cx="10241280" cy="146304"/>
          </a:xfrm>
          <a:prstGeom prst="rect">
            <a:avLst/>
          </a:prstGeom>
          <a:noFill/>
          <a:ln/>
        </p:spPr>
        <p:txBody>
          <a:bodyPr wrap="square" lIns="0" tIns="0" rIns="0" bIns="0" rtlCol="0" anchor="ctr">
            <a:normAutofit/>
          </a:bodyPr>
          <a:lstStyle/>
          <a:p>
            <a:pPr indent="0" marL="0">
              <a:buNone/>
            </a:pPr>
            <a:r>
              <a:rPr lang="en-US" sz="650" u="sng" dirty="0">
                <a:solidFill>
                  <a:srgbClr val="1E5BFF"/>
                </a:solidFill>
                <a:hlinkClick r:id="rId1" invalidUrl="" action="" tgtFrame="" tooltip="" history="1" highlightClick="0" endSnd="0">
                  <a:extLst>
                    <a:ext uri="{A12FA001-AC4F-418D-AE19-62706E023703}">
                      <ahyp:hlinkClr xmlns:ahyp="http://schemas.microsoft.com/office/drawing/2018/hyperlinkcolor" val="tx"/>
                    </a:ext>
                  </a:extLst>
                </a:hlinkClick>
              </a:rPr>
              <a:t>https://www.gartner.com/en/newsroom/press-releases/2026-05-19-gartner-forecasts-worldwide-ai-spending-to-grow-47-percent-in-2026</a:t>
            </a:r>
            <a:endParaRPr lang="en-US" sz="650" dirty="0"/>
          </a:p>
        </p:txBody>
      </p:sp>
      <p:sp>
        <p:nvSpPr>
          <p:cNvPr id="13" name="Text 10">
            <a:hlinkClick r:id="rId2" tooltip=""/>
          </p:cNvPr>
          <p:cNvSpPr/>
          <p:nvPr/>
        </p:nvSpPr>
        <p:spPr>
          <a:xfrm>
            <a:off x="822960" y="5294376"/>
            <a:ext cx="10241280" cy="146304"/>
          </a:xfrm>
          <a:prstGeom prst="rect">
            <a:avLst/>
          </a:prstGeom>
          <a:noFill/>
          <a:ln/>
        </p:spPr>
        <p:txBody>
          <a:bodyPr wrap="square" lIns="0" tIns="0" rIns="0" bIns="0" rtlCol="0" anchor="ctr">
            <a:normAutofit/>
          </a:bodyPr>
          <a:lstStyle/>
          <a:p>
            <a:pPr indent="0" marL="0">
              <a:buNone/>
            </a:pPr>
            <a:r>
              <a:rPr lang="en-US" sz="650" u="sng" dirty="0">
                <a:solidFill>
                  <a:srgbClr val="1E5BFF"/>
                </a:solidFill>
                <a:hlinkClick r:id="rId2" invalidUrl="" action="" tgtFrame="" tooltip="" history="1" highlightClick="0" endSnd="0">
                  <a:extLst>
                    <a:ext uri="{A12FA001-AC4F-418D-AE19-62706E023703}">
                      <ahyp:hlinkClr xmlns:ahyp="http://schemas.microsoft.com/office/drawing/2018/hyperlinkcolor" val="tx"/>
                    </a:ext>
                  </a:extLst>
                </a:hlinkClick>
              </a:rPr>
              <a:t>https://www.gartner.com/en/newsroom/press-releases/2025-03-31-gartner-forecasts-worldwide-genai-spending-to-reach-644-billion-in-2025</a:t>
            </a:r>
            <a:endParaRPr lang="en-US" sz="650" dirty="0"/>
          </a:p>
        </p:txBody>
      </p:sp>
      <p:sp>
        <p:nvSpPr>
          <p:cNvPr id="14" name="Text 11">
            <a:hlinkClick r:id="rId3" tooltip=""/>
          </p:cNvPr>
          <p:cNvSpPr/>
          <p:nvPr/>
        </p:nvSpPr>
        <p:spPr>
          <a:xfrm>
            <a:off x="822960" y="5513832"/>
            <a:ext cx="10241280" cy="146304"/>
          </a:xfrm>
          <a:prstGeom prst="rect">
            <a:avLst/>
          </a:prstGeom>
          <a:noFill/>
          <a:ln/>
        </p:spPr>
        <p:txBody>
          <a:bodyPr wrap="square" lIns="0" tIns="0" rIns="0" bIns="0" rtlCol="0" anchor="ctr">
            <a:normAutofit/>
          </a:bodyPr>
          <a:lstStyle/>
          <a:p>
            <a:pPr indent="0" marL="0">
              <a:buNone/>
            </a:pPr>
            <a:r>
              <a:rPr lang="en-US" sz="650" u="sng" dirty="0">
                <a:solidFill>
                  <a:srgbClr val="1E5BFF"/>
                </a:solidFill>
                <a:hlinkClick r:id="rId3" invalidUrl="" action="" tgtFrame="" tooltip="" history="1" highlightClick="0" endSnd="0">
                  <a:extLst>
                    <a:ext uri="{A12FA001-AC4F-418D-AE19-62706E023703}">
                      <ahyp:hlinkClr xmlns:ahyp="http://schemas.microsoft.com/office/drawing/2018/hyperlinkcolor" val="tx"/>
                    </a:ext>
                  </a:extLst>
                </a:hlinkClick>
              </a:rPr>
              <a:t>https://www.mckinsey.com/capabilities/quantumblack/our-insights/the-state-of-ai</a:t>
            </a:r>
            <a:endParaRPr lang="en-US" sz="650" dirty="0"/>
          </a:p>
        </p:txBody>
      </p:sp>
      <p:sp>
        <p:nvSpPr>
          <p:cNvPr id="15" name="Text 12">
            <a:hlinkClick r:id="rId4" tooltip=""/>
          </p:cNvPr>
          <p:cNvSpPr/>
          <p:nvPr/>
        </p:nvSpPr>
        <p:spPr>
          <a:xfrm>
            <a:off x="822960" y="5733288"/>
            <a:ext cx="10241280" cy="146304"/>
          </a:xfrm>
          <a:prstGeom prst="rect">
            <a:avLst/>
          </a:prstGeom>
          <a:noFill/>
          <a:ln/>
        </p:spPr>
        <p:txBody>
          <a:bodyPr wrap="square" lIns="0" tIns="0" rIns="0" bIns="0" rtlCol="0" anchor="ctr">
            <a:normAutofit/>
          </a:bodyPr>
          <a:lstStyle/>
          <a:p>
            <a:pPr indent="0" marL="0">
              <a:buNone/>
            </a:pPr>
            <a:r>
              <a:rPr lang="en-US" sz="650" u="sng" dirty="0">
                <a:solidFill>
                  <a:srgbClr val="1E5BFF"/>
                </a:solidFill>
                <a:hlinkClick r:id="rId4" invalidUrl="" action="" tgtFrame="" tooltip="" history="1" highlightClick="0" endSnd="0">
                  <a:extLst>
                    <a:ext uri="{A12FA001-AC4F-418D-AE19-62706E023703}">
                      <ahyp:hlinkClr xmlns:ahyp="http://schemas.microsoft.com/office/drawing/2018/hyperlinkcolor" val="tx"/>
                    </a:ext>
                  </a:extLst>
                </a:hlinkClick>
              </a:rPr>
              <a:t>https://survey.stackoverflow.co/2025/ai</a:t>
            </a:r>
            <a:endParaRPr lang="en-US" sz="650" dirty="0"/>
          </a:p>
        </p:txBody>
      </p:sp>
      <p:sp>
        <p:nvSpPr>
          <p:cNvPr id="16" name="Text 13">
            <a:hlinkClick r:id="rId5" tooltip=""/>
          </p:cNvPr>
          <p:cNvSpPr/>
          <p:nvPr/>
        </p:nvSpPr>
        <p:spPr>
          <a:xfrm>
            <a:off x="822960" y="5952744"/>
            <a:ext cx="10241280" cy="146304"/>
          </a:xfrm>
          <a:prstGeom prst="rect">
            <a:avLst/>
          </a:prstGeom>
          <a:noFill/>
          <a:ln/>
        </p:spPr>
        <p:txBody>
          <a:bodyPr wrap="square" lIns="0" tIns="0" rIns="0" bIns="0" rtlCol="0" anchor="ctr">
            <a:normAutofit/>
          </a:bodyPr>
          <a:lstStyle/>
          <a:p>
            <a:pPr indent="0" marL="0">
              <a:buNone/>
            </a:pPr>
            <a:r>
              <a:rPr lang="en-US" sz="650" u="sng" dirty="0">
                <a:solidFill>
                  <a:srgbClr val="1E5BFF"/>
                </a:solidFill>
                <a:hlinkClick r:id="rId5" invalidUrl="" action="" tgtFrame="" tooltip="" history="1" highlightClick="0" endSnd="0">
                  <a:extLst>
                    <a:ext uri="{A12FA001-AC4F-418D-AE19-62706E023703}">
                      <ahyp:hlinkClr xmlns:ahyp="http://schemas.microsoft.com/office/drawing/2018/hyperlinkcolor" val="tx"/>
                    </a:ext>
                  </a:extLst>
                </a:hlinkClick>
              </a:rPr>
              <a:t>https://techcrunch.com/2025/12/18/vibe-coding-startup-lovable-raises-330m-at-a-6-6b-valuation/</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LokoAI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LokoAI Investor Pitch Deck</dc:title>
  <dc:subject>Investor pitch deck</dc:subject>
  <dc:creator>LokoAI</dc:creator>
  <cp:lastModifiedBy>LokoAI</cp:lastModifiedBy>
  <cp:revision>1</cp:revision>
  <dcterms:created xsi:type="dcterms:W3CDTF">2026-06-05T06:51:21Z</dcterms:created>
  <dcterms:modified xsi:type="dcterms:W3CDTF">2026-06-05T06:51:21Z</dcterms:modified>
</cp:coreProperties>
</file>